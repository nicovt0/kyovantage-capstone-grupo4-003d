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Open Sans" charset="1" panose="020B0606030504020204"/>
      <p:regular r:id="rId29"/>
    </p:embeddedFont>
    <p:embeddedFont>
      <p:font typeface="Poppins Bold" charset="1" panose="00000800000000000000"/>
      <p:regular r:id="rId30"/>
    </p:embeddedFont>
    <p:embeddedFont>
      <p:font typeface="Muli Bold" charset="1" panose="00000800000000000000"/>
      <p:regular r:id="rId31"/>
    </p:embeddedFont>
    <p:embeddedFont>
      <p:font typeface="Open Sans Bold" charset="1" panose="020B08060305040202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svg" Type="http://schemas.openxmlformats.org/officeDocument/2006/relationships/image"/><Relationship Id="rId12" Target="../media/image32.png" Type="http://schemas.openxmlformats.org/officeDocument/2006/relationships/image"/><Relationship Id="rId13" Target="../media/image33.svg" Type="http://schemas.openxmlformats.org/officeDocument/2006/relationships/image"/><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jpeg" Type="http://schemas.openxmlformats.org/officeDocument/2006/relationships/image"/><Relationship Id="rId4" Target="../media/image3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2F2F7"/>
        </a:solidFill>
      </p:bgPr>
    </p:bg>
    <p:spTree>
      <p:nvGrpSpPr>
        <p:cNvPr id="1" name=""/>
        <p:cNvGrpSpPr/>
        <p:nvPr/>
      </p:nvGrpSpPr>
      <p:grpSpPr>
        <a:xfrm>
          <a:off x="0" y="0"/>
          <a:ext cx="0" cy="0"/>
          <a:chOff x="0" y="0"/>
          <a:chExt cx="0" cy="0"/>
        </a:xfrm>
      </p:grpSpPr>
      <p:sp>
        <p:nvSpPr>
          <p:cNvPr name="AutoShape 2" id="2"/>
          <p:cNvSpPr/>
          <p:nvPr/>
        </p:nvSpPr>
        <p:spPr>
          <a:xfrm>
            <a:off x="-1953545" y="1038225"/>
            <a:ext cx="18098098" cy="0"/>
          </a:xfrm>
          <a:prstGeom prst="line">
            <a:avLst/>
          </a:prstGeom>
          <a:ln cap="flat" w="19050">
            <a:solidFill>
              <a:srgbClr val="000000"/>
            </a:solidFill>
            <a:prstDash val="solid"/>
            <a:headEnd type="none" len="sm" w="sm"/>
            <a:tailEnd type="none" len="sm" w="sm"/>
          </a:ln>
        </p:spPr>
      </p:sp>
      <p:grpSp>
        <p:nvGrpSpPr>
          <p:cNvPr name="Group 3" id="3"/>
          <p:cNvGrpSpPr/>
          <p:nvPr/>
        </p:nvGrpSpPr>
        <p:grpSpPr>
          <a:xfrm rot="0">
            <a:off x="1316634" y="8956676"/>
            <a:ext cx="18600231" cy="587058"/>
            <a:chOff x="0" y="0"/>
            <a:chExt cx="24800308" cy="782744"/>
          </a:xfrm>
        </p:grpSpPr>
        <p:sp>
          <p:nvSpPr>
            <p:cNvPr name="AutoShape 4" id="4"/>
            <p:cNvSpPr/>
            <p:nvPr/>
          </p:nvSpPr>
          <p:spPr>
            <a:xfrm>
              <a:off x="19" y="732538"/>
              <a:ext cx="24800270" cy="37506"/>
            </a:xfrm>
            <a:prstGeom prst="line">
              <a:avLst/>
            </a:prstGeom>
            <a:ln cap="flat" w="25400">
              <a:solidFill>
                <a:srgbClr val="000000"/>
              </a:solidFill>
              <a:prstDash val="solid"/>
              <a:headEnd type="none" len="sm" w="sm"/>
              <a:tailEnd type="none" len="sm" w="sm"/>
            </a:ln>
          </p:spPr>
        </p:sp>
        <p:sp>
          <p:nvSpPr>
            <p:cNvPr name="TextBox 5" id="5"/>
            <p:cNvSpPr txBox="true"/>
            <p:nvPr/>
          </p:nvSpPr>
          <p:spPr>
            <a:xfrm rot="0">
              <a:off x="3653861" y="-47625"/>
              <a:ext cx="8811617" cy="449791"/>
            </a:xfrm>
            <a:prstGeom prst="rect">
              <a:avLst/>
            </a:prstGeom>
          </p:spPr>
          <p:txBody>
            <a:bodyPr anchor="t" rtlCol="false" tIns="0" lIns="0" bIns="0" rIns="0">
              <a:spAutoFit/>
            </a:bodyPr>
            <a:lstStyle/>
            <a:p>
              <a:pPr algn="r">
                <a:lnSpc>
                  <a:spcPts val="2800"/>
                </a:lnSpc>
              </a:pPr>
              <a:r>
                <a:rPr lang="en-US" sz="2000">
                  <a:solidFill>
                    <a:srgbClr val="000000"/>
                  </a:solidFill>
                  <a:latin typeface="Open Sans"/>
                  <a:ea typeface="Open Sans"/>
                  <a:cs typeface="Open Sans"/>
                  <a:sym typeface="Open Sans"/>
                </a:rPr>
                <a:t>Integrantes: Ángel Gómez, Bruno Seguel, Nicolas Vargas</a:t>
              </a:r>
            </a:p>
          </p:txBody>
        </p:sp>
        <p:sp>
          <p:nvSpPr>
            <p:cNvPr name="TextBox 6" id="6"/>
            <p:cNvSpPr txBox="true"/>
            <p:nvPr/>
          </p:nvSpPr>
          <p:spPr>
            <a:xfrm rot="0">
              <a:off x="13492062" y="-47625"/>
              <a:ext cx="5120878" cy="449791"/>
            </a:xfrm>
            <a:prstGeom prst="rect">
              <a:avLst/>
            </a:prstGeom>
          </p:spPr>
          <p:txBody>
            <a:bodyPr anchor="t" rtlCol="false" tIns="0" lIns="0" bIns="0" rIns="0">
              <a:spAutoFit/>
            </a:bodyPr>
            <a:lstStyle/>
            <a:p>
              <a:pPr algn="r" marL="0" indent="0" lvl="0">
                <a:lnSpc>
                  <a:spcPts val="2800"/>
                </a:lnSpc>
                <a:spcBef>
                  <a:spcPct val="0"/>
                </a:spcBef>
              </a:pPr>
              <a:r>
                <a:rPr lang="en-US" sz="2000" strike="noStrike" u="none">
                  <a:solidFill>
                    <a:srgbClr val="000000"/>
                  </a:solidFill>
                  <a:latin typeface="Open Sans"/>
                  <a:ea typeface="Open Sans"/>
                  <a:cs typeface="Open Sans"/>
                  <a:sym typeface="Open Sans"/>
                </a:rPr>
                <a:t>Docente: Mauricio C. Figueroa C.</a:t>
              </a:r>
            </a:p>
          </p:txBody>
        </p:sp>
        <p:sp>
          <p:nvSpPr>
            <p:cNvPr name="TextBox 7" id="7"/>
            <p:cNvSpPr txBox="true"/>
            <p:nvPr/>
          </p:nvSpPr>
          <p:spPr>
            <a:xfrm rot="0">
              <a:off x="19641640" y="-47625"/>
              <a:ext cx="2408436" cy="449791"/>
            </a:xfrm>
            <a:prstGeom prst="rect">
              <a:avLst/>
            </a:prstGeom>
          </p:spPr>
          <p:txBody>
            <a:bodyPr anchor="t" rtlCol="false" tIns="0" lIns="0" bIns="0" rIns="0">
              <a:spAutoFit/>
            </a:bodyPr>
            <a:lstStyle/>
            <a:p>
              <a:pPr algn="r" marL="0" indent="0" lvl="0">
                <a:lnSpc>
                  <a:spcPts val="2800"/>
                </a:lnSpc>
                <a:spcBef>
                  <a:spcPct val="0"/>
                </a:spcBef>
              </a:pPr>
              <a:r>
                <a:rPr lang="en-US" sz="2000" strike="noStrike" u="none">
                  <a:solidFill>
                    <a:srgbClr val="000000"/>
                  </a:solidFill>
                  <a:latin typeface="Open Sans"/>
                  <a:ea typeface="Open Sans"/>
                  <a:cs typeface="Open Sans"/>
                  <a:sym typeface="Open Sans"/>
                </a:rPr>
                <a:t>Capstone 003D</a:t>
              </a:r>
            </a:p>
          </p:txBody>
        </p:sp>
      </p:grpSp>
      <p:grpSp>
        <p:nvGrpSpPr>
          <p:cNvPr name="Group 8" id="8"/>
          <p:cNvGrpSpPr/>
          <p:nvPr/>
        </p:nvGrpSpPr>
        <p:grpSpPr>
          <a:xfrm rot="0">
            <a:off x="4825121" y="3105747"/>
            <a:ext cx="8637758" cy="4075506"/>
            <a:chOff x="0" y="0"/>
            <a:chExt cx="11517011" cy="5434007"/>
          </a:xfrm>
        </p:grpSpPr>
        <p:sp>
          <p:nvSpPr>
            <p:cNvPr name="TextBox 9" id="9"/>
            <p:cNvSpPr txBox="true"/>
            <p:nvPr/>
          </p:nvSpPr>
          <p:spPr>
            <a:xfrm rot="0">
              <a:off x="1826910" y="-485775"/>
              <a:ext cx="7863191" cy="3887499"/>
            </a:xfrm>
            <a:prstGeom prst="rect">
              <a:avLst/>
            </a:prstGeom>
          </p:spPr>
          <p:txBody>
            <a:bodyPr anchor="t" rtlCol="false" tIns="0" lIns="0" bIns="0" rIns="0">
              <a:spAutoFit/>
            </a:bodyPr>
            <a:lstStyle/>
            <a:p>
              <a:pPr algn="ctr">
                <a:lnSpc>
                  <a:spcPts val="23437"/>
                </a:lnSpc>
              </a:pPr>
              <a:r>
                <a:rPr lang="en-US" b="true" sz="16741">
                  <a:solidFill>
                    <a:srgbClr val="000000"/>
                  </a:solidFill>
                  <a:latin typeface="Poppins Bold"/>
                  <a:ea typeface="Poppins Bold"/>
                  <a:cs typeface="Poppins Bold"/>
                  <a:sym typeface="Poppins Bold"/>
                </a:rPr>
                <a:t>KYO</a:t>
              </a:r>
            </a:p>
          </p:txBody>
        </p:sp>
        <p:sp>
          <p:nvSpPr>
            <p:cNvPr name="TextBox 10" id="10"/>
            <p:cNvSpPr txBox="true"/>
            <p:nvPr/>
          </p:nvSpPr>
          <p:spPr>
            <a:xfrm rot="0">
              <a:off x="0" y="3211224"/>
              <a:ext cx="11517011" cy="2222783"/>
            </a:xfrm>
            <a:prstGeom prst="rect">
              <a:avLst/>
            </a:prstGeom>
          </p:spPr>
          <p:txBody>
            <a:bodyPr anchor="t" rtlCol="false" tIns="0" lIns="0" bIns="0" rIns="0">
              <a:spAutoFit/>
            </a:bodyPr>
            <a:lstStyle/>
            <a:p>
              <a:pPr algn="ctr">
                <a:lnSpc>
                  <a:spcPts val="14004"/>
                </a:lnSpc>
              </a:pPr>
              <a:r>
                <a:rPr lang="en-US" b="true" sz="10003" spc="1750">
                  <a:solidFill>
                    <a:srgbClr val="8B5CF6"/>
                  </a:solidFill>
                  <a:latin typeface="Muli Bold"/>
                  <a:ea typeface="Muli Bold"/>
                  <a:cs typeface="Muli Bold"/>
                  <a:sym typeface="Muli Bold"/>
                </a:rPr>
                <a:t>VANTAGE</a:t>
              </a:r>
            </a:p>
          </p:txBody>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F2F2F7"/>
        </a:solidFill>
      </p:bgPr>
    </p:bg>
    <p:spTree>
      <p:nvGrpSpPr>
        <p:cNvPr id="1" name=""/>
        <p:cNvGrpSpPr/>
        <p:nvPr/>
      </p:nvGrpSpPr>
      <p:grpSpPr>
        <a:xfrm>
          <a:off x="0" y="0"/>
          <a:ext cx="0" cy="0"/>
          <a:chOff x="0" y="0"/>
          <a:chExt cx="0" cy="0"/>
        </a:xfrm>
      </p:grpSpPr>
      <p:sp>
        <p:nvSpPr>
          <p:cNvPr name="AutoShape 2" id="2"/>
          <p:cNvSpPr/>
          <p:nvPr/>
        </p:nvSpPr>
        <p:spPr>
          <a:xfrm>
            <a:off x="7921650" y="1038225"/>
            <a:ext cx="18098098" cy="0"/>
          </a:xfrm>
          <a:prstGeom prst="line">
            <a:avLst/>
          </a:prstGeom>
          <a:ln cap="flat" w="19050">
            <a:solidFill>
              <a:srgbClr val="000000"/>
            </a:solidFill>
            <a:prstDash val="solid"/>
            <a:headEnd type="none" len="sm" w="sm"/>
            <a:tailEnd type="none" len="sm" w="sm"/>
          </a:ln>
        </p:spPr>
      </p:sp>
      <p:grpSp>
        <p:nvGrpSpPr>
          <p:cNvPr name="Group 3" id="3"/>
          <p:cNvGrpSpPr/>
          <p:nvPr/>
        </p:nvGrpSpPr>
        <p:grpSpPr>
          <a:xfrm rot="0">
            <a:off x="2095500" y="3118101"/>
            <a:ext cx="447675" cy="447675"/>
            <a:chOff x="0" y="0"/>
            <a:chExt cx="117906" cy="117906"/>
          </a:xfrm>
        </p:grpSpPr>
        <p:sp>
          <p:nvSpPr>
            <p:cNvPr name="Freeform 4" id="4"/>
            <p:cNvSpPr/>
            <p:nvPr/>
          </p:nvSpPr>
          <p:spPr>
            <a:xfrm flipH="false" flipV="false" rot="0">
              <a:off x="0" y="0"/>
              <a:ext cx="117906" cy="117906"/>
            </a:xfrm>
            <a:custGeom>
              <a:avLst/>
              <a:gdLst/>
              <a:ahLst/>
              <a:cxnLst/>
              <a:rect r="r" b="b" t="t" l="l"/>
              <a:pathLst>
                <a:path h="117906" w="117906">
                  <a:moveTo>
                    <a:pt x="58953" y="0"/>
                  </a:moveTo>
                  <a:cubicBezTo>
                    <a:pt x="26394" y="0"/>
                    <a:pt x="0" y="26394"/>
                    <a:pt x="0" y="58953"/>
                  </a:cubicBezTo>
                  <a:cubicBezTo>
                    <a:pt x="0" y="91512"/>
                    <a:pt x="26394" y="117906"/>
                    <a:pt x="58953" y="117906"/>
                  </a:cubicBezTo>
                  <a:cubicBezTo>
                    <a:pt x="91512" y="117906"/>
                    <a:pt x="117906" y="91512"/>
                    <a:pt x="117906" y="58953"/>
                  </a:cubicBezTo>
                  <a:cubicBezTo>
                    <a:pt x="117906" y="26394"/>
                    <a:pt x="91512" y="0"/>
                    <a:pt x="58953" y="0"/>
                  </a:cubicBezTo>
                  <a:close/>
                </a:path>
              </a:pathLst>
            </a:custGeom>
            <a:solidFill>
              <a:srgbClr val="813DF9"/>
            </a:solidFill>
          </p:spPr>
        </p:sp>
        <p:sp>
          <p:nvSpPr>
            <p:cNvPr name="TextBox 5" id="5"/>
            <p:cNvSpPr txBox="true"/>
            <p:nvPr/>
          </p:nvSpPr>
          <p:spPr>
            <a:xfrm>
              <a:off x="11054" y="-27046"/>
              <a:ext cx="95799" cy="133899"/>
            </a:xfrm>
            <a:prstGeom prst="rect">
              <a:avLst/>
            </a:prstGeom>
          </p:spPr>
          <p:txBody>
            <a:bodyPr anchor="ctr" rtlCol="false" tIns="50800" lIns="50800" bIns="50800" rIns="50800"/>
            <a:lstStyle/>
            <a:p>
              <a:pPr algn="ctr">
                <a:lnSpc>
                  <a:spcPts val="2940"/>
                </a:lnSpc>
              </a:pPr>
            </a:p>
          </p:txBody>
        </p:sp>
      </p:grpSp>
      <p:sp>
        <p:nvSpPr>
          <p:cNvPr name="TextBox 6" id="6"/>
          <p:cNvSpPr txBox="true"/>
          <p:nvPr/>
        </p:nvSpPr>
        <p:spPr>
          <a:xfrm rot="0">
            <a:off x="697448" y="554038"/>
            <a:ext cx="6988015" cy="863600"/>
          </a:xfrm>
          <a:prstGeom prst="rect">
            <a:avLst/>
          </a:prstGeom>
        </p:spPr>
        <p:txBody>
          <a:bodyPr anchor="t" rtlCol="false" tIns="0" lIns="0" bIns="0" rIns="0">
            <a:spAutoFit/>
          </a:bodyPr>
          <a:lstStyle/>
          <a:p>
            <a:pPr algn="ctr">
              <a:lnSpc>
                <a:spcPts val="7000"/>
              </a:lnSpc>
            </a:pPr>
            <a:r>
              <a:rPr lang="en-US" sz="5000" b="true">
                <a:solidFill>
                  <a:srgbClr val="000000"/>
                </a:solidFill>
                <a:latin typeface="Open Sans Bold"/>
                <a:ea typeface="Open Sans Bold"/>
                <a:cs typeface="Open Sans Bold"/>
                <a:sym typeface="Open Sans Bold"/>
              </a:rPr>
              <a:t>Tabla d</a:t>
            </a:r>
            <a:r>
              <a:rPr lang="en-US" b="true" sz="5000">
                <a:solidFill>
                  <a:srgbClr val="000000"/>
                </a:solidFill>
                <a:latin typeface="Open Sans Bold"/>
                <a:ea typeface="Open Sans Bold"/>
                <a:cs typeface="Open Sans Bold"/>
                <a:sym typeface="Open Sans Bold"/>
              </a:rPr>
              <a:t>e</a:t>
            </a:r>
            <a:r>
              <a:rPr lang="en-US" b="true" sz="5000">
                <a:solidFill>
                  <a:srgbClr val="FFFFFF"/>
                </a:solidFill>
                <a:latin typeface="Open Sans Bold"/>
                <a:ea typeface="Open Sans Bold"/>
                <a:cs typeface="Open Sans Bold"/>
                <a:sym typeface="Open Sans Bold"/>
              </a:rPr>
              <a:t> </a:t>
            </a:r>
            <a:r>
              <a:rPr lang="en-US" b="true" sz="5000">
                <a:solidFill>
                  <a:srgbClr val="813DF9"/>
                </a:solidFill>
                <a:latin typeface="Open Sans Bold"/>
                <a:ea typeface="Open Sans Bold"/>
                <a:cs typeface="Open Sans Bold"/>
                <a:sym typeface="Open Sans Bold"/>
              </a:rPr>
              <a:t>Contenidos</a:t>
            </a:r>
          </a:p>
        </p:txBody>
      </p:sp>
      <p:sp>
        <p:nvSpPr>
          <p:cNvPr name="TextBox 7" id="7"/>
          <p:cNvSpPr txBox="true"/>
          <p:nvPr/>
        </p:nvSpPr>
        <p:spPr>
          <a:xfrm rot="0">
            <a:off x="2733231" y="3070476"/>
            <a:ext cx="5715000" cy="495301"/>
          </a:xfrm>
          <a:prstGeom prst="rect">
            <a:avLst/>
          </a:prstGeom>
        </p:spPr>
        <p:txBody>
          <a:bodyPr anchor="t" rtlCol="false" tIns="0" lIns="0" bIns="0" rIns="0">
            <a:spAutoFit/>
          </a:bodyPr>
          <a:lstStyle/>
          <a:p>
            <a:pPr algn="l">
              <a:lnSpc>
                <a:spcPts val="4199"/>
              </a:lnSpc>
            </a:pPr>
            <a:r>
              <a:rPr lang="en-US" sz="2999">
                <a:solidFill>
                  <a:srgbClr val="000000"/>
                </a:solidFill>
                <a:latin typeface="Open Sans"/>
                <a:ea typeface="Open Sans"/>
                <a:cs typeface="Open Sans"/>
                <a:sym typeface="Open Sans"/>
              </a:rPr>
              <a:t>Contexto</a:t>
            </a:r>
          </a:p>
        </p:txBody>
      </p:sp>
      <p:sp>
        <p:nvSpPr>
          <p:cNvPr name="TextBox 8" id="8"/>
          <p:cNvSpPr txBox="true"/>
          <p:nvPr/>
        </p:nvSpPr>
        <p:spPr>
          <a:xfrm rot="0">
            <a:off x="2733231" y="3803901"/>
            <a:ext cx="5715000" cy="495301"/>
          </a:xfrm>
          <a:prstGeom prst="rect">
            <a:avLst/>
          </a:prstGeom>
        </p:spPr>
        <p:txBody>
          <a:bodyPr anchor="t" rtlCol="false" tIns="0" lIns="0" bIns="0" rIns="0">
            <a:spAutoFit/>
          </a:bodyPr>
          <a:lstStyle/>
          <a:p>
            <a:pPr algn="l">
              <a:lnSpc>
                <a:spcPts val="4199"/>
              </a:lnSpc>
            </a:pPr>
            <a:r>
              <a:rPr lang="en-US" sz="2999">
                <a:solidFill>
                  <a:srgbClr val="000000"/>
                </a:solidFill>
                <a:latin typeface="Open Sans"/>
                <a:ea typeface="Open Sans"/>
                <a:cs typeface="Open Sans"/>
                <a:sym typeface="Open Sans"/>
              </a:rPr>
              <a:t>Problema</a:t>
            </a:r>
          </a:p>
        </p:txBody>
      </p:sp>
      <p:sp>
        <p:nvSpPr>
          <p:cNvPr name="TextBox 9" id="9"/>
          <p:cNvSpPr txBox="true"/>
          <p:nvPr/>
        </p:nvSpPr>
        <p:spPr>
          <a:xfrm rot="0">
            <a:off x="2733231" y="4537327"/>
            <a:ext cx="5715000" cy="495301"/>
          </a:xfrm>
          <a:prstGeom prst="rect">
            <a:avLst/>
          </a:prstGeom>
        </p:spPr>
        <p:txBody>
          <a:bodyPr anchor="t" rtlCol="false" tIns="0" lIns="0" bIns="0" rIns="0">
            <a:spAutoFit/>
          </a:bodyPr>
          <a:lstStyle/>
          <a:p>
            <a:pPr algn="l">
              <a:lnSpc>
                <a:spcPts val="4199"/>
              </a:lnSpc>
            </a:pPr>
            <a:r>
              <a:rPr lang="en-US" sz="2999">
                <a:solidFill>
                  <a:srgbClr val="000000"/>
                </a:solidFill>
                <a:latin typeface="Open Sans"/>
                <a:ea typeface="Open Sans"/>
                <a:cs typeface="Open Sans"/>
                <a:sym typeface="Open Sans"/>
              </a:rPr>
              <a:t>Necesidad</a:t>
            </a:r>
          </a:p>
        </p:txBody>
      </p:sp>
      <p:sp>
        <p:nvSpPr>
          <p:cNvPr name="TextBox 10" id="10"/>
          <p:cNvSpPr txBox="true"/>
          <p:nvPr/>
        </p:nvSpPr>
        <p:spPr>
          <a:xfrm rot="0">
            <a:off x="2733231" y="5270753"/>
            <a:ext cx="5715000" cy="495301"/>
          </a:xfrm>
          <a:prstGeom prst="rect">
            <a:avLst/>
          </a:prstGeom>
        </p:spPr>
        <p:txBody>
          <a:bodyPr anchor="t" rtlCol="false" tIns="0" lIns="0" bIns="0" rIns="0">
            <a:spAutoFit/>
          </a:bodyPr>
          <a:lstStyle/>
          <a:p>
            <a:pPr algn="l">
              <a:lnSpc>
                <a:spcPts val="4199"/>
              </a:lnSpc>
            </a:pPr>
            <a:r>
              <a:rPr lang="en-US" sz="2999">
                <a:solidFill>
                  <a:srgbClr val="000000"/>
                </a:solidFill>
                <a:latin typeface="Open Sans"/>
                <a:ea typeface="Open Sans"/>
                <a:cs typeface="Open Sans"/>
                <a:sym typeface="Open Sans"/>
              </a:rPr>
              <a:t>Solucion</a:t>
            </a:r>
          </a:p>
        </p:txBody>
      </p:sp>
      <p:sp>
        <p:nvSpPr>
          <p:cNvPr name="TextBox 11" id="11"/>
          <p:cNvSpPr txBox="true"/>
          <p:nvPr/>
        </p:nvSpPr>
        <p:spPr>
          <a:xfrm rot="0">
            <a:off x="2733231" y="6004179"/>
            <a:ext cx="5715000" cy="495301"/>
          </a:xfrm>
          <a:prstGeom prst="rect">
            <a:avLst/>
          </a:prstGeom>
        </p:spPr>
        <p:txBody>
          <a:bodyPr anchor="t" rtlCol="false" tIns="0" lIns="0" bIns="0" rIns="0">
            <a:spAutoFit/>
          </a:bodyPr>
          <a:lstStyle/>
          <a:p>
            <a:pPr algn="l">
              <a:lnSpc>
                <a:spcPts val="4199"/>
              </a:lnSpc>
            </a:pPr>
            <a:r>
              <a:rPr lang="en-US" sz="2999">
                <a:solidFill>
                  <a:srgbClr val="000000"/>
                </a:solidFill>
                <a:latin typeface="Open Sans"/>
                <a:ea typeface="Open Sans"/>
                <a:cs typeface="Open Sans"/>
                <a:sym typeface="Open Sans"/>
              </a:rPr>
              <a:t>Requerimientos</a:t>
            </a:r>
          </a:p>
        </p:txBody>
      </p:sp>
      <p:sp>
        <p:nvSpPr>
          <p:cNvPr name="TextBox 12" id="12"/>
          <p:cNvSpPr txBox="true"/>
          <p:nvPr/>
        </p:nvSpPr>
        <p:spPr>
          <a:xfrm rot="0">
            <a:off x="2733231" y="6737604"/>
            <a:ext cx="5715000" cy="495301"/>
          </a:xfrm>
          <a:prstGeom prst="rect">
            <a:avLst/>
          </a:prstGeom>
        </p:spPr>
        <p:txBody>
          <a:bodyPr anchor="t" rtlCol="false" tIns="0" lIns="0" bIns="0" rIns="0">
            <a:spAutoFit/>
          </a:bodyPr>
          <a:lstStyle/>
          <a:p>
            <a:pPr algn="l">
              <a:lnSpc>
                <a:spcPts val="4199"/>
              </a:lnSpc>
            </a:pPr>
            <a:r>
              <a:rPr lang="en-US" sz="2999">
                <a:solidFill>
                  <a:srgbClr val="000000"/>
                </a:solidFill>
                <a:latin typeface="Open Sans"/>
                <a:ea typeface="Open Sans"/>
                <a:cs typeface="Open Sans"/>
                <a:sym typeface="Open Sans"/>
              </a:rPr>
              <a:t>Épicas</a:t>
            </a:r>
          </a:p>
        </p:txBody>
      </p:sp>
      <p:sp>
        <p:nvSpPr>
          <p:cNvPr name="TextBox 13" id="13"/>
          <p:cNvSpPr txBox="true"/>
          <p:nvPr/>
        </p:nvSpPr>
        <p:spPr>
          <a:xfrm rot="0">
            <a:off x="2733231" y="7471030"/>
            <a:ext cx="5715000" cy="495301"/>
          </a:xfrm>
          <a:prstGeom prst="rect">
            <a:avLst/>
          </a:prstGeom>
        </p:spPr>
        <p:txBody>
          <a:bodyPr anchor="t" rtlCol="false" tIns="0" lIns="0" bIns="0" rIns="0">
            <a:spAutoFit/>
          </a:bodyPr>
          <a:lstStyle/>
          <a:p>
            <a:pPr algn="l">
              <a:lnSpc>
                <a:spcPts val="4199"/>
              </a:lnSpc>
            </a:pPr>
            <a:r>
              <a:rPr lang="en-US" sz="2999">
                <a:solidFill>
                  <a:srgbClr val="000000"/>
                </a:solidFill>
                <a:latin typeface="Open Sans"/>
                <a:ea typeface="Open Sans"/>
                <a:cs typeface="Open Sans"/>
                <a:sym typeface="Open Sans"/>
              </a:rPr>
              <a:t>Historias de Usuarios</a:t>
            </a:r>
          </a:p>
        </p:txBody>
      </p:sp>
      <p:sp>
        <p:nvSpPr>
          <p:cNvPr name="TextBox 14" id="14"/>
          <p:cNvSpPr txBox="true"/>
          <p:nvPr/>
        </p:nvSpPr>
        <p:spPr>
          <a:xfrm rot="0">
            <a:off x="2733231" y="8204456"/>
            <a:ext cx="5715000" cy="495301"/>
          </a:xfrm>
          <a:prstGeom prst="rect">
            <a:avLst/>
          </a:prstGeom>
        </p:spPr>
        <p:txBody>
          <a:bodyPr anchor="t" rtlCol="false" tIns="0" lIns="0" bIns="0" rIns="0">
            <a:spAutoFit/>
          </a:bodyPr>
          <a:lstStyle/>
          <a:p>
            <a:pPr algn="l">
              <a:lnSpc>
                <a:spcPts val="4199"/>
              </a:lnSpc>
            </a:pPr>
            <a:r>
              <a:rPr lang="en-US" sz="2999">
                <a:solidFill>
                  <a:srgbClr val="000000"/>
                </a:solidFill>
                <a:latin typeface="Open Sans"/>
                <a:ea typeface="Open Sans"/>
                <a:cs typeface="Open Sans"/>
                <a:sym typeface="Open Sans"/>
              </a:rPr>
              <a:t>Arquitectura</a:t>
            </a:r>
          </a:p>
        </p:txBody>
      </p:sp>
      <p:sp>
        <p:nvSpPr>
          <p:cNvPr name="TextBox 15" id="15"/>
          <p:cNvSpPr txBox="true"/>
          <p:nvPr/>
        </p:nvSpPr>
        <p:spPr>
          <a:xfrm rot="0">
            <a:off x="10790224" y="3070476"/>
            <a:ext cx="5715000" cy="495301"/>
          </a:xfrm>
          <a:prstGeom prst="rect">
            <a:avLst/>
          </a:prstGeom>
        </p:spPr>
        <p:txBody>
          <a:bodyPr anchor="t" rtlCol="false" tIns="0" lIns="0" bIns="0" rIns="0">
            <a:spAutoFit/>
          </a:bodyPr>
          <a:lstStyle/>
          <a:p>
            <a:pPr algn="l">
              <a:lnSpc>
                <a:spcPts val="4199"/>
              </a:lnSpc>
            </a:pPr>
            <a:r>
              <a:rPr lang="en-US" sz="2999">
                <a:solidFill>
                  <a:srgbClr val="000000"/>
                </a:solidFill>
                <a:latin typeface="Open Sans"/>
                <a:ea typeface="Open Sans"/>
                <a:cs typeface="Open Sans"/>
                <a:sym typeface="Open Sans"/>
              </a:rPr>
              <a:t>Metodologias</a:t>
            </a:r>
          </a:p>
        </p:txBody>
      </p:sp>
      <p:sp>
        <p:nvSpPr>
          <p:cNvPr name="TextBox 16" id="16"/>
          <p:cNvSpPr txBox="true"/>
          <p:nvPr/>
        </p:nvSpPr>
        <p:spPr>
          <a:xfrm rot="0">
            <a:off x="10790224" y="3803901"/>
            <a:ext cx="5715000" cy="495301"/>
          </a:xfrm>
          <a:prstGeom prst="rect">
            <a:avLst/>
          </a:prstGeom>
        </p:spPr>
        <p:txBody>
          <a:bodyPr anchor="t" rtlCol="false" tIns="0" lIns="0" bIns="0" rIns="0">
            <a:spAutoFit/>
          </a:bodyPr>
          <a:lstStyle/>
          <a:p>
            <a:pPr algn="l">
              <a:lnSpc>
                <a:spcPts val="4199"/>
              </a:lnSpc>
            </a:pPr>
            <a:r>
              <a:rPr lang="en-US" sz="2999">
                <a:solidFill>
                  <a:srgbClr val="000000"/>
                </a:solidFill>
                <a:latin typeface="Open Sans"/>
                <a:ea typeface="Open Sans"/>
                <a:cs typeface="Open Sans"/>
                <a:sym typeface="Open Sans"/>
              </a:rPr>
              <a:t>Roles</a:t>
            </a:r>
          </a:p>
        </p:txBody>
      </p:sp>
      <p:sp>
        <p:nvSpPr>
          <p:cNvPr name="TextBox 17" id="17"/>
          <p:cNvSpPr txBox="true"/>
          <p:nvPr/>
        </p:nvSpPr>
        <p:spPr>
          <a:xfrm rot="0">
            <a:off x="10790224" y="4537327"/>
            <a:ext cx="5715000" cy="495301"/>
          </a:xfrm>
          <a:prstGeom prst="rect">
            <a:avLst/>
          </a:prstGeom>
        </p:spPr>
        <p:txBody>
          <a:bodyPr anchor="t" rtlCol="false" tIns="0" lIns="0" bIns="0" rIns="0">
            <a:spAutoFit/>
          </a:bodyPr>
          <a:lstStyle/>
          <a:p>
            <a:pPr algn="l">
              <a:lnSpc>
                <a:spcPts val="4199"/>
              </a:lnSpc>
            </a:pPr>
            <a:r>
              <a:rPr lang="en-US" sz="2999">
                <a:solidFill>
                  <a:srgbClr val="000000"/>
                </a:solidFill>
                <a:latin typeface="Open Sans"/>
                <a:ea typeface="Open Sans"/>
                <a:cs typeface="Open Sans"/>
                <a:sym typeface="Open Sans"/>
              </a:rPr>
              <a:t>Evidencias</a:t>
            </a:r>
          </a:p>
        </p:txBody>
      </p:sp>
      <p:sp>
        <p:nvSpPr>
          <p:cNvPr name="TextBox 18" id="18"/>
          <p:cNvSpPr txBox="true"/>
          <p:nvPr/>
        </p:nvSpPr>
        <p:spPr>
          <a:xfrm rot="0">
            <a:off x="10790224" y="5270753"/>
            <a:ext cx="5715000" cy="495301"/>
          </a:xfrm>
          <a:prstGeom prst="rect">
            <a:avLst/>
          </a:prstGeom>
        </p:spPr>
        <p:txBody>
          <a:bodyPr anchor="t" rtlCol="false" tIns="0" lIns="0" bIns="0" rIns="0">
            <a:spAutoFit/>
          </a:bodyPr>
          <a:lstStyle/>
          <a:p>
            <a:pPr algn="l">
              <a:lnSpc>
                <a:spcPts val="4199"/>
              </a:lnSpc>
            </a:pPr>
            <a:r>
              <a:rPr lang="en-US" sz="2999">
                <a:solidFill>
                  <a:srgbClr val="000000"/>
                </a:solidFill>
                <a:latin typeface="Open Sans"/>
                <a:ea typeface="Open Sans"/>
                <a:cs typeface="Open Sans"/>
                <a:sym typeface="Open Sans"/>
              </a:rPr>
              <a:t>Evidencias por Sprint</a:t>
            </a:r>
          </a:p>
        </p:txBody>
      </p:sp>
      <p:sp>
        <p:nvSpPr>
          <p:cNvPr name="TextBox 19" id="19"/>
          <p:cNvSpPr txBox="true"/>
          <p:nvPr/>
        </p:nvSpPr>
        <p:spPr>
          <a:xfrm rot="0">
            <a:off x="10790224" y="6004179"/>
            <a:ext cx="5715000" cy="495301"/>
          </a:xfrm>
          <a:prstGeom prst="rect">
            <a:avLst/>
          </a:prstGeom>
        </p:spPr>
        <p:txBody>
          <a:bodyPr anchor="t" rtlCol="false" tIns="0" lIns="0" bIns="0" rIns="0">
            <a:spAutoFit/>
          </a:bodyPr>
          <a:lstStyle/>
          <a:p>
            <a:pPr algn="l">
              <a:lnSpc>
                <a:spcPts val="4199"/>
              </a:lnSpc>
            </a:pPr>
            <a:r>
              <a:rPr lang="en-US" sz="2999">
                <a:solidFill>
                  <a:srgbClr val="000000"/>
                </a:solidFill>
                <a:latin typeface="Open Sans"/>
                <a:ea typeface="Open Sans"/>
                <a:cs typeface="Open Sans"/>
                <a:sym typeface="Open Sans"/>
              </a:rPr>
              <a:t>Definicion de Sprints</a:t>
            </a:r>
          </a:p>
        </p:txBody>
      </p:sp>
      <p:sp>
        <p:nvSpPr>
          <p:cNvPr name="TextBox 20" id="20"/>
          <p:cNvSpPr txBox="true"/>
          <p:nvPr/>
        </p:nvSpPr>
        <p:spPr>
          <a:xfrm rot="0">
            <a:off x="10790224" y="6737604"/>
            <a:ext cx="5715000" cy="495301"/>
          </a:xfrm>
          <a:prstGeom prst="rect">
            <a:avLst/>
          </a:prstGeom>
        </p:spPr>
        <p:txBody>
          <a:bodyPr anchor="t" rtlCol="false" tIns="0" lIns="0" bIns="0" rIns="0">
            <a:spAutoFit/>
          </a:bodyPr>
          <a:lstStyle/>
          <a:p>
            <a:pPr algn="l">
              <a:lnSpc>
                <a:spcPts val="4199"/>
              </a:lnSpc>
            </a:pPr>
            <a:r>
              <a:rPr lang="en-US" sz="2999">
                <a:solidFill>
                  <a:srgbClr val="000000"/>
                </a:solidFill>
                <a:latin typeface="Open Sans"/>
                <a:ea typeface="Open Sans"/>
                <a:cs typeface="Open Sans"/>
                <a:sym typeface="Open Sans"/>
              </a:rPr>
              <a:t>Cronograma</a:t>
            </a:r>
          </a:p>
        </p:txBody>
      </p:sp>
      <p:sp>
        <p:nvSpPr>
          <p:cNvPr name="TextBox 21" id="21"/>
          <p:cNvSpPr txBox="true"/>
          <p:nvPr/>
        </p:nvSpPr>
        <p:spPr>
          <a:xfrm rot="0">
            <a:off x="10790224" y="7471030"/>
            <a:ext cx="5715000" cy="495301"/>
          </a:xfrm>
          <a:prstGeom prst="rect">
            <a:avLst/>
          </a:prstGeom>
        </p:spPr>
        <p:txBody>
          <a:bodyPr anchor="t" rtlCol="false" tIns="0" lIns="0" bIns="0" rIns="0">
            <a:spAutoFit/>
          </a:bodyPr>
          <a:lstStyle/>
          <a:p>
            <a:pPr algn="l">
              <a:lnSpc>
                <a:spcPts val="4199"/>
              </a:lnSpc>
            </a:pPr>
            <a:r>
              <a:rPr lang="en-US" sz="2999">
                <a:solidFill>
                  <a:srgbClr val="000000"/>
                </a:solidFill>
                <a:latin typeface="Open Sans"/>
                <a:ea typeface="Open Sans"/>
                <a:cs typeface="Open Sans"/>
                <a:sym typeface="Open Sans"/>
              </a:rPr>
              <a:t>Conclusiones y próximos pasos</a:t>
            </a:r>
          </a:p>
        </p:txBody>
      </p:sp>
      <p:sp>
        <p:nvSpPr>
          <p:cNvPr name="TextBox 22" id="22"/>
          <p:cNvSpPr txBox="true"/>
          <p:nvPr/>
        </p:nvSpPr>
        <p:spPr>
          <a:xfrm rot="0">
            <a:off x="10790224" y="8204456"/>
            <a:ext cx="5715000" cy="495301"/>
          </a:xfrm>
          <a:prstGeom prst="rect">
            <a:avLst/>
          </a:prstGeom>
        </p:spPr>
        <p:txBody>
          <a:bodyPr anchor="t" rtlCol="false" tIns="0" lIns="0" bIns="0" rIns="0">
            <a:spAutoFit/>
          </a:bodyPr>
          <a:lstStyle/>
          <a:p>
            <a:pPr algn="l">
              <a:lnSpc>
                <a:spcPts val="4199"/>
              </a:lnSpc>
            </a:pPr>
            <a:r>
              <a:rPr lang="en-US" sz="2999">
                <a:solidFill>
                  <a:srgbClr val="000000"/>
                </a:solidFill>
                <a:latin typeface="Open Sans"/>
                <a:ea typeface="Open Sans"/>
                <a:cs typeface="Open Sans"/>
                <a:sym typeface="Open Sans"/>
              </a:rPr>
              <a:t>Reflexión</a:t>
            </a:r>
          </a:p>
        </p:txBody>
      </p:sp>
      <p:grpSp>
        <p:nvGrpSpPr>
          <p:cNvPr name="Group 23" id="23"/>
          <p:cNvGrpSpPr/>
          <p:nvPr/>
        </p:nvGrpSpPr>
        <p:grpSpPr>
          <a:xfrm rot="0">
            <a:off x="2095500" y="3851527"/>
            <a:ext cx="447675" cy="447675"/>
            <a:chOff x="0" y="0"/>
            <a:chExt cx="117906" cy="117906"/>
          </a:xfrm>
        </p:grpSpPr>
        <p:sp>
          <p:nvSpPr>
            <p:cNvPr name="Freeform 24" id="24"/>
            <p:cNvSpPr/>
            <p:nvPr/>
          </p:nvSpPr>
          <p:spPr>
            <a:xfrm flipH="false" flipV="false" rot="0">
              <a:off x="0" y="0"/>
              <a:ext cx="117906" cy="117906"/>
            </a:xfrm>
            <a:custGeom>
              <a:avLst/>
              <a:gdLst/>
              <a:ahLst/>
              <a:cxnLst/>
              <a:rect r="r" b="b" t="t" l="l"/>
              <a:pathLst>
                <a:path h="117906" w="117906">
                  <a:moveTo>
                    <a:pt x="58953" y="0"/>
                  </a:moveTo>
                  <a:cubicBezTo>
                    <a:pt x="26394" y="0"/>
                    <a:pt x="0" y="26394"/>
                    <a:pt x="0" y="58953"/>
                  </a:cubicBezTo>
                  <a:cubicBezTo>
                    <a:pt x="0" y="91512"/>
                    <a:pt x="26394" y="117906"/>
                    <a:pt x="58953" y="117906"/>
                  </a:cubicBezTo>
                  <a:cubicBezTo>
                    <a:pt x="91512" y="117906"/>
                    <a:pt x="117906" y="91512"/>
                    <a:pt x="117906" y="58953"/>
                  </a:cubicBezTo>
                  <a:cubicBezTo>
                    <a:pt x="117906" y="26394"/>
                    <a:pt x="91512" y="0"/>
                    <a:pt x="58953" y="0"/>
                  </a:cubicBezTo>
                  <a:close/>
                </a:path>
              </a:pathLst>
            </a:custGeom>
            <a:solidFill>
              <a:srgbClr val="813DF9"/>
            </a:solidFill>
          </p:spPr>
        </p:sp>
        <p:sp>
          <p:nvSpPr>
            <p:cNvPr name="TextBox 25" id="25"/>
            <p:cNvSpPr txBox="true"/>
            <p:nvPr/>
          </p:nvSpPr>
          <p:spPr>
            <a:xfrm>
              <a:off x="11054" y="-27046"/>
              <a:ext cx="95799" cy="133899"/>
            </a:xfrm>
            <a:prstGeom prst="rect">
              <a:avLst/>
            </a:prstGeom>
          </p:spPr>
          <p:txBody>
            <a:bodyPr anchor="ctr" rtlCol="false" tIns="50800" lIns="50800" bIns="50800" rIns="50800"/>
            <a:lstStyle/>
            <a:p>
              <a:pPr algn="ctr">
                <a:lnSpc>
                  <a:spcPts val="2940"/>
                </a:lnSpc>
              </a:pPr>
            </a:p>
          </p:txBody>
        </p:sp>
      </p:grpSp>
      <p:grpSp>
        <p:nvGrpSpPr>
          <p:cNvPr name="Group 26" id="26"/>
          <p:cNvGrpSpPr/>
          <p:nvPr/>
        </p:nvGrpSpPr>
        <p:grpSpPr>
          <a:xfrm rot="0">
            <a:off x="2095500" y="4584952"/>
            <a:ext cx="447675" cy="447675"/>
            <a:chOff x="0" y="0"/>
            <a:chExt cx="117906" cy="117906"/>
          </a:xfrm>
        </p:grpSpPr>
        <p:sp>
          <p:nvSpPr>
            <p:cNvPr name="Freeform 27" id="27"/>
            <p:cNvSpPr/>
            <p:nvPr/>
          </p:nvSpPr>
          <p:spPr>
            <a:xfrm flipH="false" flipV="false" rot="0">
              <a:off x="0" y="0"/>
              <a:ext cx="117906" cy="117906"/>
            </a:xfrm>
            <a:custGeom>
              <a:avLst/>
              <a:gdLst/>
              <a:ahLst/>
              <a:cxnLst/>
              <a:rect r="r" b="b" t="t" l="l"/>
              <a:pathLst>
                <a:path h="117906" w="117906">
                  <a:moveTo>
                    <a:pt x="58953" y="0"/>
                  </a:moveTo>
                  <a:cubicBezTo>
                    <a:pt x="26394" y="0"/>
                    <a:pt x="0" y="26394"/>
                    <a:pt x="0" y="58953"/>
                  </a:cubicBezTo>
                  <a:cubicBezTo>
                    <a:pt x="0" y="91512"/>
                    <a:pt x="26394" y="117906"/>
                    <a:pt x="58953" y="117906"/>
                  </a:cubicBezTo>
                  <a:cubicBezTo>
                    <a:pt x="91512" y="117906"/>
                    <a:pt x="117906" y="91512"/>
                    <a:pt x="117906" y="58953"/>
                  </a:cubicBezTo>
                  <a:cubicBezTo>
                    <a:pt x="117906" y="26394"/>
                    <a:pt x="91512" y="0"/>
                    <a:pt x="58953" y="0"/>
                  </a:cubicBezTo>
                  <a:close/>
                </a:path>
              </a:pathLst>
            </a:custGeom>
            <a:solidFill>
              <a:srgbClr val="813DF9"/>
            </a:solidFill>
          </p:spPr>
        </p:sp>
        <p:sp>
          <p:nvSpPr>
            <p:cNvPr name="TextBox 28" id="28"/>
            <p:cNvSpPr txBox="true"/>
            <p:nvPr/>
          </p:nvSpPr>
          <p:spPr>
            <a:xfrm>
              <a:off x="11054" y="-27046"/>
              <a:ext cx="95799" cy="133899"/>
            </a:xfrm>
            <a:prstGeom prst="rect">
              <a:avLst/>
            </a:prstGeom>
          </p:spPr>
          <p:txBody>
            <a:bodyPr anchor="ctr" rtlCol="false" tIns="50800" lIns="50800" bIns="50800" rIns="50800"/>
            <a:lstStyle/>
            <a:p>
              <a:pPr algn="ctr">
                <a:lnSpc>
                  <a:spcPts val="2940"/>
                </a:lnSpc>
              </a:pPr>
            </a:p>
          </p:txBody>
        </p:sp>
      </p:grpSp>
      <p:grpSp>
        <p:nvGrpSpPr>
          <p:cNvPr name="Group 29" id="29"/>
          <p:cNvGrpSpPr/>
          <p:nvPr/>
        </p:nvGrpSpPr>
        <p:grpSpPr>
          <a:xfrm rot="0">
            <a:off x="2095500" y="5318377"/>
            <a:ext cx="447675" cy="447675"/>
            <a:chOff x="0" y="0"/>
            <a:chExt cx="117906" cy="117906"/>
          </a:xfrm>
        </p:grpSpPr>
        <p:sp>
          <p:nvSpPr>
            <p:cNvPr name="Freeform 30" id="30"/>
            <p:cNvSpPr/>
            <p:nvPr/>
          </p:nvSpPr>
          <p:spPr>
            <a:xfrm flipH="false" flipV="false" rot="0">
              <a:off x="0" y="0"/>
              <a:ext cx="117906" cy="117906"/>
            </a:xfrm>
            <a:custGeom>
              <a:avLst/>
              <a:gdLst/>
              <a:ahLst/>
              <a:cxnLst/>
              <a:rect r="r" b="b" t="t" l="l"/>
              <a:pathLst>
                <a:path h="117906" w="117906">
                  <a:moveTo>
                    <a:pt x="58953" y="0"/>
                  </a:moveTo>
                  <a:cubicBezTo>
                    <a:pt x="26394" y="0"/>
                    <a:pt x="0" y="26394"/>
                    <a:pt x="0" y="58953"/>
                  </a:cubicBezTo>
                  <a:cubicBezTo>
                    <a:pt x="0" y="91512"/>
                    <a:pt x="26394" y="117906"/>
                    <a:pt x="58953" y="117906"/>
                  </a:cubicBezTo>
                  <a:cubicBezTo>
                    <a:pt x="91512" y="117906"/>
                    <a:pt x="117906" y="91512"/>
                    <a:pt x="117906" y="58953"/>
                  </a:cubicBezTo>
                  <a:cubicBezTo>
                    <a:pt x="117906" y="26394"/>
                    <a:pt x="91512" y="0"/>
                    <a:pt x="58953" y="0"/>
                  </a:cubicBezTo>
                  <a:close/>
                </a:path>
              </a:pathLst>
            </a:custGeom>
            <a:solidFill>
              <a:srgbClr val="813DF9"/>
            </a:solidFill>
          </p:spPr>
        </p:sp>
        <p:sp>
          <p:nvSpPr>
            <p:cNvPr name="TextBox 31" id="31"/>
            <p:cNvSpPr txBox="true"/>
            <p:nvPr/>
          </p:nvSpPr>
          <p:spPr>
            <a:xfrm>
              <a:off x="11054" y="-27046"/>
              <a:ext cx="95799" cy="133899"/>
            </a:xfrm>
            <a:prstGeom prst="rect">
              <a:avLst/>
            </a:prstGeom>
          </p:spPr>
          <p:txBody>
            <a:bodyPr anchor="ctr" rtlCol="false" tIns="50800" lIns="50800" bIns="50800" rIns="50800"/>
            <a:lstStyle/>
            <a:p>
              <a:pPr algn="ctr">
                <a:lnSpc>
                  <a:spcPts val="2940"/>
                </a:lnSpc>
              </a:pPr>
            </a:p>
          </p:txBody>
        </p:sp>
      </p:grpSp>
      <p:grpSp>
        <p:nvGrpSpPr>
          <p:cNvPr name="Group 32" id="32"/>
          <p:cNvGrpSpPr/>
          <p:nvPr/>
        </p:nvGrpSpPr>
        <p:grpSpPr>
          <a:xfrm rot="0">
            <a:off x="2095500" y="6051802"/>
            <a:ext cx="447675" cy="447675"/>
            <a:chOff x="0" y="0"/>
            <a:chExt cx="117906" cy="117906"/>
          </a:xfrm>
        </p:grpSpPr>
        <p:sp>
          <p:nvSpPr>
            <p:cNvPr name="Freeform 33" id="33"/>
            <p:cNvSpPr/>
            <p:nvPr/>
          </p:nvSpPr>
          <p:spPr>
            <a:xfrm flipH="false" flipV="false" rot="0">
              <a:off x="0" y="0"/>
              <a:ext cx="117906" cy="117906"/>
            </a:xfrm>
            <a:custGeom>
              <a:avLst/>
              <a:gdLst/>
              <a:ahLst/>
              <a:cxnLst/>
              <a:rect r="r" b="b" t="t" l="l"/>
              <a:pathLst>
                <a:path h="117906" w="117906">
                  <a:moveTo>
                    <a:pt x="58953" y="0"/>
                  </a:moveTo>
                  <a:cubicBezTo>
                    <a:pt x="26394" y="0"/>
                    <a:pt x="0" y="26394"/>
                    <a:pt x="0" y="58953"/>
                  </a:cubicBezTo>
                  <a:cubicBezTo>
                    <a:pt x="0" y="91512"/>
                    <a:pt x="26394" y="117906"/>
                    <a:pt x="58953" y="117906"/>
                  </a:cubicBezTo>
                  <a:cubicBezTo>
                    <a:pt x="91512" y="117906"/>
                    <a:pt x="117906" y="91512"/>
                    <a:pt x="117906" y="58953"/>
                  </a:cubicBezTo>
                  <a:cubicBezTo>
                    <a:pt x="117906" y="26394"/>
                    <a:pt x="91512" y="0"/>
                    <a:pt x="58953" y="0"/>
                  </a:cubicBezTo>
                  <a:close/>
                </a:path>
              </a:pathLst>
            </a:custGeom>
            <a:solidFill>
              <a:srgbClr val="813DF9"/>
            </a:solidFill>
          </p:spPr>
        </p:sp>
        <p:sp>
          <p:nvSpPr>
            <p:cNvPr name="TextBox 34" id="34"/>
            <p:cNvSpPr txBox="true"/>
            <p:nvPr/>
          </p:nvSpPr>
          <p:spPr>
            <a:xfrm>
              <a:off x="11054" y="-27046"/>
              <a:ext cx="95799" cy="133899"/>
            </a:xfrm>
            <a:prstGeom prst="rect">
              <a:avLst/>
            </a:prstGeom>
          </p:spPr>
          <p:txBody>
            <a:bodyPr anchor="ctr" rtlCol="false" tIns="50800" lIns="50800" bIns="50800" rIns="50800"/>
            <a:lstStyle/>
            <a:p>
              <a:pPr algn="ctr">
                <a:lnSpc>
                  <a:spcPts val="2940"/>
                </a:lnSpc>
              </a:pPr>
            </a:p>
          </p:txBody>
        </p:sp>
      </p:grpSp>
      <p:grpSp>
        <p:nvGrpSpPr>
          <p:cNvPr name="Group 35" id="35"/>
          <p:cNvGrpSpPr/>
          <p:nvPr/>
        </p:nvGrpSpPr>
        <p:grpSpPr>
          <a:xfrm rot="0">
            <a:off x="2095500" y="6785227"/>
            <a:ext cx="447675" cy="447675"/>
            <a:chOff x="0" y="0"/>
            <a:chExt cx="117906" cy="117906"/>
          </a:xfrm>
        </p:grpSpPr>
        <p:sp>
          <p:nvSpPr>
            <p:cNvPr name="Freeform 36" id="36"/>
            <p:cNvSpPr/>
            <p:nvPr/>
          </p:nvSpPr>
          <p:spPr>
            <a:xfrm flipH="false" flipV="false" rot="0">
              <a:off x="0" y="0"/>
              <a:ext cx="117906" cy="117906"/>
            </a:xfrm>
            <a:custGeom>
              <a:avLst/>
              <a:gdLst/>
              <a:ahLst/>
              <a:cxnLst/>
              <a:rect r="r" b="b" t="t" l="l"/>
              <a:pathLst>
                <a:path h="117906" w="117906">
                  <a:moveTo>
                    <a:pt x="58953" y="0"/>
                  </a:moveTo>
                  <a:cubicBezTo>
                    <a:pt x="26394" y="0"/>
                    <a:pt x="0" y="26394"/>
                    <a:pt x="0" y="58953"/>
                  </a:cubicBezTo>
                  <a:cubicBezTo>
                    <a:pt x="0" y="91512"/>
                    <a:pt x="26394" y="117906"/>
                    <a:pt x="58953" y="117906"/>
                  </a:cubicBezTo>
                  <a:cubicBezTo>
                    <a:pt x="91512" y="117906"/>
                    <a:pt x="117906" y="91512"/>
                    <a:pt x="117906" y="58953"/>
                  </a:cubicBezTo>
                  <a:cubicBezTo>
                    <a:pt x="117906" y="26394"/>
                    <a:pt x="91512" y="0"/>
                    <a:pt x="58953" y="0"/>
                  </a:cubicBezTo>
                  <a:close/>
                </a:path>
              </a:pathLst>
            </a:custGeom>
            <a:solidFill>
              <a:srgbClr val="813DF9"/>
            </a:solidFill>
          </p:spPr>
        </p:sp>
        <p:sp>
          <p:nvSpPr>
            <p:cNvPr name="TextBox 37" id="37"/>
            <p:cNvSpPr txBox="true"/>
            <p:nvPr/>
          </p:nvSpPr>
          <p:spPr>
            <a:xfrm>
              <a:off x="11054" y="-27046"/>
              <a:ext cx="95799" cy="133899"/>
            </a:xfrm>
            <a:prstGeom prst="rect">
              <a:avLst/>
            </a:prstGeom>
          </p:spPr>
          <p:txBody>
            <a:bodyPr anchor="ctr" rtlCol="false" tIns="50800" lIns="50800" bIns="50800" rIns="50800"/>
            <a:lstStyle/>
            <a:p>
              <a:pPr algn="ctr">
                <a:lnSpc>
                  <a:spcPts val="2940"/>
                </a:lnSpc>
              </a:pPr>
            </a:p>
          </p:txBody>
        </p:sp>
      </p:grpSp>
      <p:grpSp>
        <p:nvGrpSpPr>
          <p:cNvPr name="Group 38" id="38"/>
          <p:cNvGrpSpPr/>
          <p:nvPr/>
        </p:nvGrpSpPr>
        <p:grpSpPr>
          <a:xfrm rot="0">
            <a:off x="2095500" y="7518652"/>
            <a:ext cx="447675" cy="447675"/>
            <a:chOff x="0" y="0"/>
            <a:chExt cx="117906" cy="117906"/>
          </a:xfrm>
        </p:grpSpPr>
        <p:sp>
          <p:nvSpPr>
            <p:cNvPr name="Freeform 39" id="39"/>
            <p:cNvSpPr/>
            <p:nvPr/>
          </p:nvSpPr>
          <p:spPr>
            <a:xfrm flipH="false" flipV="false" rot="0">
              <a:off x="0" y="0"/>
              <a:ext cx="117906" cy="117906"/>
            </a:xfrm>
            <a:custGeom>
              <a:avLst/>
              <a:gdLst/>
              <a:ahLst/>
              <a:cxnLst/>
              <a:rect r="r" b="b" t="t" l="l"/>
              <a:pathLst>
                <a:path h="117906" w="117906">
                  <a:moveTo>
                    <a:pt x="58953" y="0"/>
                  </a:moveTo>
                  <a:cubicBezTo>
                    <a:pt x="26394" y="0"/>
                    <a:pt x="0" y="26394"/>
                    <a:pt x="0" y="58953"/>
                  </a:cubicBezTo>
                  <a:cubicBezTo>
                    <a:pt x="0" y="91512"/>
                    <a:pt x="26394" y="117906"/>
                    <a:pt x="58953" y="117906"/>
                  </a:cubicBezTo>
                  <a:cubicBezTo>
                    <a:pt x="91512" y="117906"/>
                    <a:pt x="117906" y="91512"/>
                    <a:pt x="117906" y="58953"/>
                  </a:cubicBezTo>
                  <a:cubicBezTo>
                    <a:pt x="117906" y="26394"/>
                    <a:pt x="91512" y="0"/>
                    <a:pt x="58953" y="0"/>
                  </a:cubicBezTo>
                  <a:close/>
                </a:path>
              </a:pathLst>
            </a:custGeom>
            <a:solidFill>
              <a:srgbClr val="813DF9"/>
            </a:solidFill>
          </p:spPr>
        </p:sp>
        <p:sp>
          <p:nvSpPr>
            <p:cNvPr name="TextBox 40" id="40"/>
            <p:cNvSpPr txBox="true"/>
            <p:nvPr/>
          </p:nvSpPr>
          <p:spPr>
            <a:xfrm>
              <a:off x="11054" y="-27046"/>
              <a:ext cx="95799" cy="133899"/>
            </a:xfrm>
            <a:prstGeom prst="rect">
              <a:avLst/>
            </a:prstGeom>
          </p:spPr>
          <p:txBody>
            <a:bodyPr anchor="ctr" rtlCol="false" tIns="50800" lIns="50800" bIns="50800" rIns="50800"/>
            <a:lstStyle/>
            <a:p>
              <a:pPr algn="ctr">
                <a:lnSpc>
                  <a:spcPts val="2940"/>
                </a:lnSpc>
              </a:pPr>
            </a:p>
          </p:txBody>
        </p:sp>
      </p:grpSp>
      <p:grpSp>
        <p:nvGrpSpPr>
          <p:cNvPr name="Group 41" id="41"/>
          <p:cNvGrpSpPr/>
          <p:nvPr/>
        </p:nvGrpSpPr>
        <p:grpSpPr>
          <a:xfrm rot="0">
            <a:off x="2095500" y="8252077"/>
            <a:ext cx="447675" cy="447675"/>
            <a:chOff x="0" y="0"/>
            <a:chExt cx="117906" cy="117906"/>
          </a:xfrm>
        </p:grpSpPr>
        <p:sp>
          <p:nvSpPr>
            <p:cNvPr name="Freeform 42" id="42"/>
            <p:cNvSpPr/>
            <p:nvPr/>
          </p:nvSpPr>
          <p:spPr>
            <a:xfrm flipH="false" flipV="false" rot="0">
              <a:off x="0" y="0"/>
              <a:ext cx="117906" cy="117906"/>
            </a:xfrm>
            <a:custGeom>
              <a:avLst/>
              <a:gdLst/>
              <a:ahLst/>
              <a:cxnLst/>
              <a:rect r="r" b="b" t="t" l="l"/>
              <a:pathLst>
                <a:path h="117906" w="117906">
                  <a:moveTo>
                    <a:pt x="58953" y="0"/>
                  </a:moveTo>
                  <a:cubicBezTo>
                    <a:pt x="26394" y="0"/>
                    <a:pt x="0" y="26394"/>
                    <a:pt x="0" y="58953"/>
                  </a:cubicBezTo>
                  <a:cubicBezTo>
                    <a:pt x="0" y="91512"/>
                    <a:pt x="26394" y="117906"/>
                    <a:pt x="58953" y="117906"/>
                  </a:cubicBezTo>
                  <a:cubicBezTo>
                    <a:pt x="91512" y="117906"/>
                    <a:pt x="117906" y="91512"/>
                    <a:pt x="117906" y="58953"/>
                  </a:cubicBezTo>
                  <a:cubicBezTo>
                    <a:pt x="117906" y="26394"/>
                    <a:pt x="91512" y="0"/>
                    <a:pt x="58953" y="0"/>
                  </a:cubicBezTo>
                  <a:close/>
                </a:path>
              </a:pathLst>
            </a:custGeom>
            <a:solidFill>
              <a:srgbClr val="813DF9"/>
            </a:solidFill>
          </p:spPr>
        </p:sp>
        <p:sp>
          <p:nvSpPr>
            <p:cNvPr name="TextBox 43" id="43"/>
            <p:cNvSpPr txBox="true"/>
            <p:nvPr/>
          </p:nvSpPr>
          <p:spPr>
            <a:xfrm>
              <a:off x="11054" y="-27046"/>
              <a:ext cx="95799" cy="133899"/>
            </a:xfrm>
            <a:prstGeom prst="rect">
              <a:avLst/>
            </a:prstGeom>
          </p:spPr>
          <p:txBody>
            <a:bodyPr anchor="ctr" rtlCol="false" tIns="50800" lIns="50800" bIns="50800" rIns="50800"/>
            <a:lstStyle/>
            <a:p>
              <a:pPr algn="ctr">
                <a:lnSpc>
                  <a:spcPts val="2940"/>
                </a:lnSpc>
              </a:pPr>
            </a:p>
          </p:txBody>
        </p:sp>
      </p:grpSp>
      <p:grpSp>
        <p:nvGrpSpPr>
          <p:cNvPr name="Group 44" id="44"/>
          <p:cNvGrpSpPr/>
          <p:nvPr/>
        </p:nvGrpSpPr>
        <p:grpSpPr>
          <a:xfrm rot="0">
            <a:off x="10151745" y="3118101"/>
            <a:ext cx="447675" cy="447675"/>
            <a:chOff x="0" y="0"/>
            <a:chExt cx="117906" cy="117906"/>
          </a:xfrm>
        </p:grpSpPr>
        <p:sp>
          <p:nvSpPr>
            <p:cNvPr name="Freeform 45" id="45"/>
            <p:cNvSpPr/>
            <p:nvPr/>
          </p:nvSpPr>
          <p:spPr>
            <a:xfrm flipH="false" flipV="false" rot="0">
              <a:off x="0" y="0"/>
              <a:ext cx="117906" cy="117906"/>
            </a:xfrm>
            <a:custGeom>
              <a:avLst/>
              <a:gdLst/>
              <a:ahLst/>
              <a:cxnLst/>
              <a:rect r="r" b="b" t="t" l="l"/>
              <a:pathLst>
                <a:path h="117906" w="117906">
                  <a:moveTo>
                    <a:pt x="58953" y="0"/>
                  </a:moveTo>
                  <a:cubicBezTo>
                    <a:pt x="26394" y="0"/>
                    <a:pt x="0" y="26394"/>
                    <a:pt x="0" y="58953"/>
                  </a:cubicBezTo>
                  <a:cubicBezTo>
                    <a:pt x="0" y="91512"/>
                    <a:pt x="26394" y="117906"/>
                    <a:pt x="58953" y="117906"/>
                  </a:cubicBezTo>
                  <a:cubicBezTo>
                    <a:pt x="91512" y="117906"/>
                    <a:pt x="117906" y="91512"/>
                    <a:pt x="117906" y="58953"/>
                  </a:cubicBezTo>
                  <a:cubicBezTo>
                    <a:pt x="117906" y="26394"/>
                    <a:pt x="91512" y="0"/>
                    <a:pt x="58953" y="0"/>
                  </a:cubicBezTo>
                  <a:close/>
                </a:path>
              </a:pathLst>
            </a:custGeom>
            <a:solidFill>
              <a:srgbClr val="813DF9"/>
            </a:solidFill>
          </p:spPr>
        </p:sp>
        <p:sp>
          <p:nvSpPr>
            <p:cNvPr name="TextBox 46" id="46"/>
            <p:cNvSpPr txBox="true"/>
            <p:nvPr/>
          </p:nvSpPr>
          <p:spPr>
            <a:xfrm>
              <a:off x="11054" y="-27046"/>
              <a:ext cx="95799" cy="133899"/>
            </a:xfrm>
            <a:prstGeom prst="rect">
              <a:avLst/>
            </a:prstGeom>
          </p:spPr>
          <p:txBody>
            <a:bodyPr anchor="ctr" rtlCol="false" tIns="50800" lIns="50800" bIns="50800" rIns="50800"/>
            <a:lstStyle/>
            <a:p>
              <a:pPr algn="ctr">
                <a:lnSpc>
                  <a:spcPts val="2940"/>
                </a:lnSpc>
              </a:pPr>
            </a:p>
          </p:txBody>
        </p:sp>
      </p:grpSp>
      <p:grpSp>
        <p:nvGrpSpPr>
          <p:cNvPr name="Group 47" id="47"/>
          <p:cNvGrpSpPr/>
          <p:nvPr/>
        </p:nvGrpSpPr>
        <p:grpSpPr>
          <a:xfrm rot="0">
            <a:off x="10151745" y="3851527"/>
            <a:ext cx="447675" cy="447675"/>
            <a:chOff x="0" y="0"/>
            <a:chExt cx="117906" cy="117906"/>
          </a:xfrm>
        </p:grpSpPr>
        <p:sp>
          <p:nvSpPr>
            <p:cNvPr name="Freeform 48" id="48"/>
            <p:cNvSpPr/>
            <p:nvPr/>
          </p:nvSpPr>
          <p:spPr>
            <a:xfrm flipH="false" flipV="false" rot="0">
              <a:off x="0" y="0"/>
              <a:ext cx="117906" cy="117906"/>
            </a:xfrm>
            <a:custGeom>
              <a:avLst/>
              <a:gdLst/>
              <a:ahLst/>
              <a:cxnLst/>
              <a:rect r="r" b="b" t="t" l="l"/>
              <a:pathLst>
                <a:path h="117906" w="117906">
                  <a:moveTo>
                    <a:pt x="58953" y="0"/>
                  </a:moveTo>
                  <a:cubicBezTo>
                    <a:pt x="26394" y="0"/>
                    <a:pt x="0" y="26394"/>
                    <a:pt x="0" y="58953"/>
                  </a:cubicBezTo>
                  <a:cubicBezTo>
                    <a:pt x="0" y="91512"/>
                    <a:pt x="26394" y="117906"/>
                    <a:pt x="58953" y="117906"/>
                  </a:cubicBezTo>
                  <a:cubicBezTo>
                    <a:pt x="91512" y="117906"/>
                    <a:pt x="117906" y="91512"/>
                    <a:pt x="117906" y="58953"/>
                  </a:cubicBezTo>
                  <a:cubicBezTo>
                    <a:pt x="117906" y="26394"/>
                    <a:pt x="91512" y="0"/>
                    <a:pt x="58953" y="0"/>
                  </a:cubicBezTo>
                  <a:close/>
                </a:path>
              </a:pathLst>
            </a:custGeom>
            <a:solidFill>
              <a:srgbClr val="813DF9"/>
            </a:solidFill>
          </p:spPr>
        </p:sp>
        <p:sp>
          <p:nvSpPr>
            <p:cNvPr name="TextBox 49" id="49"/>
            <p:cNvSpPr txBox="true"/>
            <p:nvPr/>
          </p:nvSpPr>
          <p:spPr>
            <a:xfrm>
              <a:off x="11054" y="-27046"/>
              <a:ext cx="95799" cy="133899"/>
            </a:xfrm>
            <a:prstGeom prst="rect">
              <a:avLst/>
            </a:prstGeom>
          </p:spPr>
          <p:txBody>
            <a:bodyPr anchor="ctr" rtlCol="false" tIns="50800" lIns="50800" bIns="50800" rIns="50800"/>
            <a:lstStyle/>
            <a:p>
              <a:pPr algn="ctr">
                <a:lnSpc>
                  <a:spcPts val="2940"/>
                </a:lnSpc>
              </a:pPr>
            </a:p>
          </p:txBody>
        </p:sp>
      </p:grpSp>
      <p:grpSp>
        <p:nvGrpSpPr>
          <p:cNvPr name="Group 50" id="50"/>
          <p:cNvGrpSpPr/>
          <p:nvPr/>
        </p:nvGrpSpPr>
        <p:grpSpPr>
          <a:xfrm rot="0">
            <a:off x="10151745" y="4584952"/>
            <a:ext cx="447675" cy="447675"/>
            <a:chOff x="0" y="0"/>
            <a:chExt cx="117906" cy="117906"/>
          </a:xfrm>
        </p:grpSpPr>
        <p:sp>
          <p:nvSpPr>
            <p:cNvPr name="Freeform 51" id="51"/>
            <p:cNvSpPr/>
            <p:nvPr/>
          </p:nvSpPr>
          <p:spPr>
            <a:xfrm flipH="false" flipV="false" rot="0">
              <a:off x="0" y="0"/>
              <a:ext cx="117906" cy="117906"/>
            </a:xfrm>
            <a:custGeom>
              <a:avLst/>
              <a:gdLst/>
              <a:ahLst/>
              <a:cxnLst/>
              <a:rect r="r" b="b" t="t" l="l"/>
              <a:pathLst>
                <a:path h="117906" w="117906">
                  <a:moveTo>
                    <a:pt x="58953" y="0"/>
                  </a:moveTo>
                  <a:cubicBezTo>
                    <a:pt x="26394" y="0"/>
                    <a:pt x="0" y="26394"/>
                    <a:pt x="0" y="58953"/>
                  </a:cubicBezTo>
                  <a:cubicBezTo>
                    <a:pt x="0" y="91512"/>
                    <a:pt x="26394" y="117906"/>
                    <a:pt x="58953" y="117906"/>
                  </a:cubicBezTo>
                  <a:cubicBezTo>
                    <a:pt x="91512" y="117906"/>
                    <a:pt x="117906" y="91512"/>
                    <a:pt x="117906" y="58953"/>
                  </a:cubicBezTo>
                  <a:cubicBezTo>
                    <a:pt x="117906" y="26394"/>
                    <a:pt x="91512" y="0"/>
                    <a:pt x="58953" y="0"/>
                  </a:cubicBezTo>
                  <a:close/>
                </a:path>
              </a:pathLst>
            </a:custGeom>
            <a:solidFill>
              <a:srgbClr val="813DF9"/>
            </a:solidFill>
          </p:spPr>
        </p:sp>
        <p:sp>
          <p:nvSpPr>
            <p:cNvPr name="TextBox 52" id="52"/>
            <p:cNvSpPr txBox="true"/>
            <p:nvPr/>
          </p:nvSpPr>
          <p:spPr>
            <a:xfrm>
              <a:off x="11054" y="-27046"/>
              <a:ext cx="95799" cy="133899"/>
            </a:xfrm>
            <a:prstGeom prst="rect">
              <a:avLst/>
            </a:prstGeom>
          </p:spPr>
          <p:txBody>
            <a:bodyPr anchor="ctr" rtlCol="false" tIns="50800" lIns="50800" bIns="50800" rIns="50800"/>
            <a:lstStyle/>
            <a:p>
              <a:pPr algn="ctr">
                <a:lnSpc>
                  <a:spcPts val="2940"/>
                </a:lnSpc>
              </a:pPr>
            </a:p>
          </p:txBody>
        </p:sp>
      </p:grpSp>
      <p:grpSp>
        <p:nvGrpSpPr>
          <p:cNvPr name="Group 53" id="53"/>
          <p:cNvGrpSpPr/>
          <p:nvPr/>
        </p:nvGrpSpPr>
        <p:grpSpPr>
          <a:xfrm rot="0">
            <a:off x="10151745" y="5318377"/>
            <a:ext cx="447675" cy="447675"/>
            <a:chOff x="0" y="0"/>
            <a:chExt cx="117906" cy="117906"/>
          </a:xfrm>
        </p:grpSpPr>
        <p:sp>
          <p:nvSpPr>
            <p:cNvPr name="Freeform 54" id="54"/>
            <p:cNvSpPr/>
            <p:nvPr/>
          </p:nvSpPr>
          <p:spPr>
            <a:xfrm flipH="false" flipV="false" rot="0">
              <a:off x="0" y="0"/>
              <a:ext cx="117906" cy="117906"/>
            </a:xfrm>
            <a:custGeom>
              <a:avLst/>
              <a:gdLst/>
              <a:ahLst/>
              <a:cxnLst/>
              <a:rect r="r" b="b" t="t" l="l"/>
              <a:pathLst>
                <a:path h="117906" w="117906">
                  <a:moveTo>
                    <a:pt x="58953" y="0"/>
                  </a:moveTo>
                  <a:cubicBezTo>
                    <a:pt x="26394" y="0"/>
                    <a:pt x="0" y="26394"/>
                    <a:pt x="0" y="58953"/>
                  </a:cubicBezTo>
                  <a:cubicBezTo>
                    <a:pt x="0" y="91512"/>
                    <a:pt x="26394" y="117906"/>
                    <a:pt x="58953" y="117906"/>
                  </a:cubicBezTo>
                  <a:cubicBezTo>
                    <a:pt x="91512" y="117906"/>
                    <a:pt x="117906" y="91512"/>
                    <a:pt x="117906" y="58953"/>
                  </a:cubicBezTo>
                  <a:cubicBezTo>
                    <a:pt x="117906" y="26394"/>
                    <a:pt x="91512" y="0"/>
                    <a:pt x="58953" y="0"/>
                  </a:cubicBezTo>
                  <a:close/>
                </a:path>
              </a:pathLst>
            </a:custGeom>
            <a:solidFill>
              <a:srgbClr val="813DF9"/>
            </a:solidFill>
          </p:spPr>
        </p:sp>
        <p:sp>
          <p:nvSpPr>
            <p:cNvPr name="TextBox 55" id="55"/>
            <p:cNvSpPr txBox="true"/>
            <p:nvPr/>
          </p:nvSpPr>
          <p:spPr>
            <a:xfrm>
              <a:off x="11054" y="-27046"/>
              <a:ext cx="95799" cy="133899"/>
            </a:xfrm>
            <a:prstGeom prst="rect">
              <a:avLst/>
            </a:prstGeom>
          </p:spPr>
          <p:txBody>
            <a:bodyPr anchor="ctr" rtlCol="false" tIns="50800" lIns="50800" bIns="50800" rIns="50800"/>
            <a:lstStyle/>
            <a:p>
              <a:pPr algn="ctr">
                <a:lnSpc>
                  <a:spcPts val="2940"/>
                </a:lnSpc>
              </a:pPr>
            </a:p>
          </p:txBody>
        </p:sp>
      </p:grpSp>
      <p:grpSp>
        <p:nvGrpSpPr>
          <p:cNvPr name="Group 56" id="56"/>
          <p:cNvGrpSpPr/>
          <p:nvPr/>
        </p:nvGrpSpPr>
        <p:grpSpPr>
          <a:xfrm rot="0">
            <a:off x="10151745" y="6051802"/>
            <a:ext cx="447675" cy="447675"/>
            <a:chOff x="0" y="0"/>
            <a:chExt cx="117906" cy="117906"/>
          </a:xfrm>
        </p:grpSpPr>
        <p:sp>
          <p:nvSpPr>
            <p:cNvPr name="Freeform 57" id="57"/>
            <p:cNvSpPr/>
            <p:nvPr/>
          </p:nvSpPr>
          <p:spPr>
            <a:xfrm flipH="false" flipV="false" rot="0">
              <a:off x="0" y="0"/>
              <a:ext cx="117906" cy="117906"/>
            </a:xfrm>
            <a:custGeom>
              <a:avLst/>
              <a:gdLst/>
              <a:ahLst/>
              <a:cxnLst/>
              <a:rect r="r" b="b" t="t" l="l"/>
              <a:pathLst>
                <a:path h="117906" w="117906">
                  <a:moveTo>
                    <a:pt x="58953" y="0"/>
                  </a:moveTo>
                  <a:cubicBezTo>
                    <a:pt x="26394" y="0"/>
                    <a:pt x="0" y="26394"/>
                    <a:pt x="0" y="58953"/>
                  </a:cubicBezTo>
                  <a:cubicBezTo>
                    <a:pt x="0" y="91512"/>
                    <a:pt x="26394" y="117906"/>
                    <a:pt x="58953" y="117906"/>
                  </a:cubicBezTo>
                  <a:cubicBezTo>
                    <a:pt x="91512" y="117906"/>
                    <a:pt x="117906" y="91512"/>
                    <a:pt x="117906" y="58953"/>
                  </a:cubicBezTo>
                  <a:cubicBezTo>
                    <a:pt x="117906" y="26394"/>
                    <a:pt x="91512" y="0"/>
                    <a:pt x="58953" y="0"/>
                  </a:cubicBezTo>
                  <a:close/>
                </a:path>
              </a:pathLst>
            </a:custGeom>
            <a:solidFill>
              <a:srgbClr val="813DF9"/>
            </a:solidFill>
          </p:spPr>
        </p:sp>
        <p:sp>
          <p:nvSpPr>
            <p:cNvPr name="TextBox 58" id="58"/>
            <p:cNvSpPr txBox="true"/>
            <p:nvPr/>
          </p:nvSpPr>
          <p:spPr>
            <a:xfrm>
              <a:off x="11054" y="-27046"/>
              <a:ext cx="95799" cy="133899"/>
            </a:xfrm>
            <a:prstGeom prst="rect">
              <a:avLst/>
            </a:prstGeom>
          </p:spPr>
          <p:txBody>
            <a:bodyPr anchor="ctr" rtlCol="false" tIns="50800" lIns="50800" bIns="50800" rIns="50800"/>
            <a:lstStyle/>
            <a:p>
              <a:pPr algn="ctr">
                <a:lnSpc>
                  <a:spcPts val="2940"/>
                </a:lnSpc>
              </a:pPr>
            </a:p>
          </p:txBody>
        </p:sp>
      </p:grpSp>
      <p:grpSp>
        <p:nvGrpSpPr>
          <p:cNvPr name="Group 59" id="59"/>
          <p:cNvGrpSpPr/>
          <p:nvPr/>
        </p:nvGrpSpPr>
        <p:grpSpPr>
          <a:xfrm rot="0">
            <a:off x="10151745" y="6785227"/>
            <a:ext cx="447675" cy="447675"/>
            <a:chOff x="0" y="0"/>
            <a:chExt cx="117906" cy="117906"/>
          </a:xfrm>
        </p:grpSpPr>
        <p:sp>
          <p:nvSpPr>
            <p:cNvPr name="Freeform 60" id="60"/>
            <p:cNvSpPr/>
            <p:nvPr/>
          </p:nvSpPr>
          <p:spPr>
            <a:xfrm flipH="false" flipV="false" rot="0">
              <a:off x="0" y="0"/>
              <a:ext cx="117906" cy="117906"/>
            </a:xfrm>
            <a:custGeom>
              <a:avLst/>
              <a:gdLst/>
              <a:ahLst/>
              <a:cxnLst/>
              <a:rect r="r" b="b" t="t" l="l"/>
              <a:pathLst>
                <a:path h="117906" w="117906">
                  <a:moveTo>
                    <a:pt x="58953" y="0"/>
                  </a:moveTo>
                  <a:cubicBezTo>
                    <a:pt x="26394" y="0"/>
                    <a:pt x="0" y="26394"/>
                    <a:pt x="0" y="58953"/>
                  </a:cubicBezTo>
                  <a:cubicBezTo>
                    <a:pt x="0" y="91512"/>
                    <a:pt x="26394" y="117906"/>
                    <a:pt x="58953" y="117906"/>
                  </a:cubicBezTo>
                  <a:cubicBezTo>
                    <a:pt x="91512" y="117906"/>
                    <a:pt x="117906" y="91512"/>
                    <a:pt x="117906" y="58953"/>
                  </a:cubicBezTo>
                  <a:cubicBezTo>
                    <a:pt x="117906" y="26394"/>
                    <a:pt x="91512" y="0"/>
                    <a:pt x="58953" y="0"/>
                  </a:cubicBezTo>
                  <a:close/>
                </a:path>
              </a:pathLst>
            </a:custGeom>
            <a:solidFill>
              <a:srgbClr val="813DF9"/>
            </a:solidFill>
          </p:spPr>
        </p:sp>
        <p:sp>
          <p:nvSpPr>
            <p:cNvPr name="TextBox 61" id="61"/>
            <p:cNvSpPr txBox="true"/>
            <p:nvPr/>
          </p:nvSpPr>
          <p:spPr>
            <a:xfrm>
              <a:off x="11054" y="-27046"/>
              <a:ext cx="95799" cy="133899"/>
            </a:xfrm>
            <a:prstGeom prst="rect">
              <a:avLst/>
            </a:prstGeom>
          </p:spPr>
          <p:txBody>
            <a:bodyPr anchor="ctr" rtlCol="false" tIns="50800" lIns="50800" bIns="50800" rIns="50800"/>
            <a:lstStyle/>
            <a:p>
              <a:pPr algn="ctr">
                <a:lnSpc>
                  <a:spcPts val="2940"/>
                </a:lnSpc>
              </a:pPr>
            </a:p>
          </p:txBody>
        </p:sp>
      </p:grpSp>
      <p:grpSp>
        <p:nvGrpSpPr>
          <p:cNvPr name="Group 62" id="62"/>
          <p:cNvGrpSpPr/>
          <p:nvPr/>
        </p:nvGrpSpPr>
        <p:grpSpPr>
          <a:xfrm rot="0">
            <a:off x="10151745" y="7518652"/>
            <a:ext cx="447675" cy="447675"/>
            <a:chOff x="0" y="0"/>
            <a:chExt cx="117906" cy="117906"/>
          </a:xfrm>
        </p:grpSpPr>
        <p:sp>
          <p:nvSpPr>
            <p:cNvPr name="Freeform 63" id="63"/>
            <p:cNvSpPr/>
            <p:nvPr/>
          </p:nvSpPr>
          <p:spPr>
            <a:xfrm flipH="false" flipV="false" rot="0">
              <a:off x="0" y="0"/>
              <a:ext cx="117906" cy="117906"/>
            </a:xfrm>
            <a:custGeom>
              <a:avLst/>
              <a:gdLst/>
              <a:ahLst/>
              <a:cxnLst/>
              <a:rect r="r" b="b" t="t" l="l"/>
              <a:pathLst>
                <a:path h="117906" w="117906">
                  <a:moveTo>
                    <a:pt x="58953" y="0"/>
                  </a:moveTo>
                  <a:cubicBezTo>
                    <a:pt x="26394" y="0"/>
                    <a:pt x="0" y="26394"/>
                    <a:pt x="0" y="58953"/>
                  </a:cubicBezTo>
                  <a:cubicBezTo>
                    <a:pt x="0" y="91512"/>
                    <a:pt x="26394" y="117906"/>
                    <a:pt x="58953" y="117906"/>
                  </a:cubicBezTo>
                  <a:cubicBezTo>
                    <a:pt x="91512" y="117906"/>
                    <a:pt x="117906" y="91512"/>
                    <a:pt x="117906" y="58953"/>
                  </a:cubicBezTo>
                  <a:cubicBezTo>
                    <a:pt x="117906" y="26394"/>
                    <a:pt x="91512" y="0"/>
                    <a:pt x="58953" y="0"/>
                  </a:cubicBezTo>
                  <a:close/>
                </a:path>
              </a:pathLst>
            </a:custGeom>
            <a:solidFill>
              <a:srgbClr val="813DF9"/>
            </a:solidFill>
          </p:spPr>
        </p:sp>
        <p:sp>
          <p:nvSpPr>
            <p:cNvPr name="TextBox 64" id="64"/>
            <p:cNvSpPr txBox="true"/>
            <p:nvPr/>
          </p:nvSpPr>
          <p:spPr>
            <a:xfrm>
              <a:off x="11054" y="-27046"/>
              <a:ext cx="95799" cy="133899"/>
            </a:xfrm>
            <a:prstGeom prst="rect">
              <a:avLst/>
            </a:prstGeom>
          </p:spPr>
          <p:txBody>
            <a:bodyPr anchor="ctr" rtlCol="false" tIns="50800" lIns="50800" bIns="50800" rIns="50800"/>
            <a:lstStyle/>
            <a:p>
              <a:pPr algn="ctr">
                <a:lnSpc>
                  <a:spcPts val="2940"/>
                </a:lnSpc>
              </a:pPr>
            </a:p>
          </p:txBody>
        </p:sp>
      </p:grpSp>
      <p:grpSp>
        <p:nvGrpSpPr>
          <p:cNvPr name="Group 65" id="65"/>
          <p:cNvGrpSpPr/>
          <p:nvPr/>
        </p:nvGrpSpPr>
        <p:grpSpPr>
          <a:xfrm rot="0">
            <a:off x="10151745" y="8252077"/>
            <a:ext cx="447675" cy="447675"/>
            <a:chOff x="0" y="0"/>
            <a:chExt cx="117906" cy="117906"/>
          </a:xfrm>
        </p:grpSpPr>
        <p:sp>
          <p:nvSpPr>
            <p:cNvPr name="Freeform 66" id="66"/>
            <p:cNvSpPr/>
            <p:nvPr/>
          </p:nvSpPr>
          <p:spPr>
            <a:xfrm flipH="false" flipV="false" rot="0">
              <a:off x="0" y="0"/>
              <a:ext cx="117906" cy="117906"/>
            </a:xfrm>
            <a:custGeom>
              <a:avLst/>
              <a:gdLst/>
              <a:ahLst/>
              <a:cxnLst/>
              <a:rect r="r" b="b" t="t" l="l"/>
              <a:pathLst>
                <a:path h="117906" w="117906">
                  <a:moveTo>
                    <a:pt x="58953" y="0"/>
                  </a:moveTo>
                  <a:cubicBezTo>
                    <a:pt x="26394" y="0"/>
                    <a:pt x="0" y="26394"/>
                    <a:pt x="0" y="58953"/>
                  </a:cubicBezTo>
                  <a:cubicBezTo>
                    <a:pt x="0" y="91512"/>
                    <a:pt x="26394" y="117906"/>
                    <a:pt x="58953" y="117906"/>
                  </a:cubicBezTo>
                  <a:cubicBezTo>
                    <a:pt x="91512" y="117906"/>
                    <a:pt x="117906" y="91512"/>
                    <a:pt x="117906" y="58953"/>
                  </a:cubicBezTo>
                  <a:cubicBezTo>
                    <a:pt x="117906" y="26394"/>
                    <a:pt x="91512" y="0"/>
                    <a:pt x="58953" y="0"/>
                  </a:cubicBezTo>
                  <a:close/>
                </a:path>
              </a:pathLst>
            </a:custGeom>
            <a:solidFill>
              <a:srgbClr val="813DF9"/>
            </a:solidFill>
          </p:spPr>
        </p:sp>
        <p:sp>
          <p:nvSpPr>
            <p:cNvPr name="TextBox 67" id="67"/>
            <p:cNvSpPr txBox="true"/>
            <p:nvPr/>
          </p:nvSpPr>
          <p:spPr>
            <a:xfrm>
              <a:off x="11054" y="-27046"/>
              <a:ext cx="95799" cy="133899"/>
            </a:xfrm>
            <a:prstGeom prst="rect">
              <a:avLst/>
            </a:prstGeom>
          </p:spPr>
          <p:txBody>
            <a:bodyPr anchor="ctr" rtlCol="false" tIns="50800" lIns="50800" bIns="50800" rIns="50800"/>
            <a:lstStyle/>
            <a:p>
              <a:pPr algn="ctr">
                <a:lnSpc>
                  <a:spcPts val="2940"/>
                </a:lnSpc>
              </a:pPr>
            </a:p>
          </p:txBody>
        </p:sp>
      </p:grpSp>
      <p:sp>
        <p:nvSpPr>
          <p:cNvPr name="TextBox 68" id="68"/>
          <p:cNvSpPr txBox="true"/>
          <p:nvPr/>
        </p:nvSpPr>
        <p:spPr>
          <a:xfrm rot="0">
            <a:off x="2095500" y="3142868"/>
            <a:ext cx="456247" cy="356234"/>
          </a:xfrm>
          <a:prstGeom prst="rect">
            <a:avLst/>
          </a:prstGeom>
        </p:spPr>
        <p:txBody>
          <a:bodyPr anchor="t" rtlCol="false" tIns="0" lIns="0" bIns="0" rIns="0">
            <a:spAutoFit/>
          </a:bodyPr>
          <a:lstStyle/>
          <a:p>
            <a:pPr algn="ctr">
              <a:lnSpc>
                <a:spcPts val="2940"/>
              </a:lnSpc>
            </a:pPr>
            <a:r>
              <a:rPr lang="en-US" sz="2100" b="true">
                <a:solidFill>
                  <a:srgbClr val="FFFFFF"/>
                </a:solidFill>
                <a:latin typeface="Open Sans Bold"/>
                <a:ea typeface="Open Sans Bold"/>
                <a:cs typeface="Open Sans Bold"/>
                <a:sym typeface="Open Sans Bold"/>
              </a:rPr>
              <a:t>1</a:t>
            </a:r>
          </a:p>
        </p:txBody>
      </p:sp>
      <p:sp>
        <p:nvSpPr>
          <p:cNvPr name="TextBox 69" id="69"/>
          <p:cNvSpPr txBox="true"/>
          <p:nvPr/>
        </p:nvSpPr>
        <p:spPr>
          <a:xfrm rot="0">
            <a:off x="2095500" y="3878198"/>
            <a:ext cx="456247" cy="356234"/>
          </a:xfrm>
          <a:prstGeom prst="rect">
            <a:avLst/>
          </a:prstGeom>
        </p:spPr>
        <p:txBody>
          <a:bodyPr anchor="t" rtlCol="false" tIns="0" lIns="0" bIns="0" rIns="0">
            <a:spAutoFit/>
          </a:bodyPr>
          <a:lstStyle/>
          <a:p>
            <a:pPr algn="ctr">
              <a:lnSpc>
                <a:spcPts val="2940"/>
              </a:lnSpc>
            </a:pPr>
            <a:r>
              <a:rPr lang="en-US" sz="2100" b="true">
                <a:solidFill>
                  <a:srgbClr val="FFFFFF"/>
                </a:solidFill>
                <a:latin typeface="Open Sans Bold"/>
                <a:ea typeface="Open Sans Bold"/>
                <a:cs typeface="Open Sans Bold"/>
                <a:sym typeface="Open Sans Bold"/>
              </a:rPr>
              <a:t>2</a:t>
            </a:r>
          </a:p>
        </p:txBody>
      </p:sp>
      <p:sp>
        <p:nvSpPr>
          <p:cNvPr name="TextBox 70" id="70"/>
          <p:cNvSpPr txBox="true"/>
          <p:nvPr/>
        </p:nvSpPr>
        <p:spPr>
          <a:xfrm rot="0">
            <a:off x="2095500" y="4611623"/>
            <a:ext cx="456247" cy="356234"/>
          </a:xfrm>
          <a:prstGeom prst="rect">
            <a:avLst/>
          </a:prstGeom>
        </p:spPr>
        <p:txBody>
          <a:bodyPr anchor="t" rtlCol="false" tIns="0" lIns="0" bIns="0" rIns="0">
            <a:spAutoFit/>
          </a:bodyPr>
          <a:lstStyle/>
          <a:p>
            <a:pPr algn="ctr">
              <a:lnSpc>
                <a:spcPts val="2940"/>
              </a:lnSpc>
            </a:pPr>
            <a:r>
              <a:rPr lang="en-US" sz="2100" b="true">
                <a:solidFill>
                  <a:srgbClr val="FFFFFF"/>
                </a:solidFill>
                <a:latin typeface="Open Sans Bold"/>
                <a:ea typeface="Open Sans Bold"/>
                <a:cs typeface="Open Sans Bold"/>
                <a:sym typeface="Open Sans Bold"/>
              </a:rPr>
              <a:t>3</a:t>
            </a:r>
          </a:p>
        </p:txBody>
      </p:sp>
      <p:sp>
        <p:nvSpPr>
          <p:cNvPr name="TextBox 71" id="71"/>
          <p:cNvSpPr txBox="true"/>
          <p:nvPr/>
        </p:nvSpPr>
        <p:spPr>
          <a:xfrm rot="0">
            <a:off x="2095500" y="5345048"/>
            <a:ext cx="456247" cy="356234"/>
          </a:xfrm>
          <a:prstGeom prst="rect">
            <a:avLst/>
          </a:prstGeom>
        </p:spPr>
        <p:txBody>
          <a:bodyPr anchor="t" rtlCol="false" tIns="0" lIns="0" bIns="0" rIns="0">
            <a:spAutoFit/>
          </a:bodyPr>
          <a:lstStyle/>
          <a:p>
            <a:pPr algn="ctr">
              <a:lnSpc>
                <a:spcPts val="2940"/>
              </a:lnSpc>
            </a:pPr>
            <a:r>
              <a:rPr lang="en-US" sz="2100" b="true">
                <a:solidFill>
                  <a:srgbClr val="FFFFFF"/>
                </a:solidFill>
                <a:latin typeface="Open Sans Bold"/>
                <a:ea typeface="Open Sans Bold"/>
                <a:cs typeface="Open Sans Bold"/>
                <a:sym typeface="Open Sans Bold"/>
              </a:rPr>
              <a:t>4</a:t>
            </a:r>
          </a:p>
        </p:txBody>
      </p:sp>
      <p:sp>
        <p:nvSpPr>
          <p:cNvPr name="TextBox 72" id="72"/>
          <p:cNvSpPr txBox="true"/>
          <p:nvPr/>
        </p:nvSpPr>
        <p:spPr>
          <a:xfrm rot="0">
            <a:off x="2095500" y="6078473"/>
            <a:ext cx="456247" cy="356234"/>
          </a:xfrm>
          <a:prstGeom prst="rect">
            <a:avLst/>
          </a:prstGeom>
        </p:spPr>
        <p:txBody>
          <a:bodyPr anchor="t" rtlCol="false" tIns="0" lIns="0" bIns="0" rIns="0">
            <a:spAutoFit/>
          </a:bodyPr>
          <a:lstStyle/>
          <a:p>
            <a:pPr algn="ctr">
              <a:lnSpc>
                <a:spcPts val="2940"/>
              </a:lnSpc>
            </a:pPr>
            <a:r>
              <a:rPr lang="en-US" sz="2100" b="true">
                <a:solidFill>
                  <a:srgbClr val="FFFFFF"/>
                </a:solidFill>
                <a:latin typeface="Open Sans Bold"/>
                <a:ea typeface="Open Sans Bold"/>
                <a:cs typeface="Open Sans Bold"/>
                <a:sym typeface="Open Sans Bold"/>
              </a:rPr>
              <a:t>5</a:t>
            </a:r>
          </a:p>
        </p:txBody>
      </p:sp>
      <p:sp>
        <p:nvSpPr>
          <p:cNvPr name="TextBox 73" id="73"/>
          <p:cNvSpPr txBox="true"/>
          <p:nvPr/>
        </p:nvSpPr>
        <p:spPr>
          <a:xfrm rot="0">
            <a:off x="2095500" y="6813802"/>
            <a:ext cx="456247" cy="356234"/>
          </a:xfrm>
          <a:prstGeom prst="rect">
            <a:avLst/>
          </a:prstGeom>
        </p:spPr>
        <p:txBody>
          <a:bodyPr anchor="t" rtlCol="false" tIns="0" lIns="0" bIns="0" rIns="0">
            <a:spAutoFit/>
          </a:bodyPr>
          <a:lstStyle/>
          <a:p>
            <a:pPr algn="ctr">
              <a:lnSpc>
                <a:spcPts val="2940"/>
              </a:lnSpc>
            </a:pPr>
            <a:r>
              <a:rPr lang="en-US" sz="2100" b="true">
                <a:solidFill>
                  <a:srgbClr val="FFFFFF"/>
                </a:solidFill>
                <a:latin typeface="Open Sans Bold"/>
                <a:ea typeface="Open Sans Bold"/>
                <a:cs typeface="Open Sans Bold"/>
                <a:sym typeface="Open Sans Bold"/>
              </a:rPr>
              <a:t>6</a:t>
            </a:r>
          </a:p>
        </p:txBody>
      </p:sp>
      <p:sp>
        <p:nvSpPr>
          <p:cNvPr name="TextBox 74" id="74"/>
          <p:cNvSpPr txBox="true"/>
          <p:nvPr/>
        </p:nvSpPr>
        <p:spPr>
          <a:xfrm rot="0">
            <a:off x="2095500" y="7545323"/>
            <a:ext cx="456247" cy="356234"/>
          </a:xfrm>
          <a:prstGeom prst="rect">
            <a:avLst/>
          </a:prstGeom>
        </p:spPr>
        <p:txBody>
          <a:bodyPr anchor="t" rtlCol="false" tIns="0" lIns="0" bIns="0" rIns="0">
            <a:spAutoFit/>
          </a:bodyPr>
          <a:lstStyle/>
          <a:p>
            <a:pPr algn="ctr">
              <a:lnSpc>
                <a:spcPts val="2940"/>
              </a:lnSpc>
            </a:pPr>
            <a:r>
              <a:rPr lang="en-US" sz="2100" b="true">
                <a:solidFill>
                  <a:srgbClr val="FFFFFF"/>
                </a:solidFill>
                <a:latin typeface="Open Sans Bold"/>
                <a:ea typeface="Open Sans Bold"/>
                <a:cs typeface="Open Sans Bold"/>
                <a:sym typeface="Open Sans Bold"/>
              </a:rPr>
              <a:t>7</a:t>
            </a:r>
          </a:p>
        </p:txBody>
      </p:sp>
      <p:sp>
        <p:nvSpPr>
          <p:cNvPr name="TextBox 75" id="75"/>
          <p:cNvSpPr txBox="true"/>
          <p:nvPr/>
        </p:nvSpPr>
        <p:spPr>
          <a:xfrm rot="0">
            <a:off x="2095500" y="8278748"/>
            <a:ext cx="456247" cy="356234"/>
          </a:xfrm>
          <a:prstGeom prst="rect">
            <a:avLst/>
          </a:prstGeom>
        </p:spPr>
        <p:txBody>
          <a:bodyPr anchor="t" rtlCol="false" tIns="0" lIns="0" bIns="0" rIns="0">
            <a:spAutoFit/>
          </a:bodyPr>
          <a:lstStyle/>
          <a:p>
            <a:pPr algn="ctr">
              <a:lnSpc>
                <a:spcPts val="2940"/>
              </a:lnSpc>
            </a:pPr>
            <a:r>
              <a:rPr lang="en-US" sz="2100" b="true">
                <a:solidFill>
                  <a:srgbClr val="FFFFFF"/>
                </a:solidFill>
                <a:latin typeface="Open Sans Bold"/>
                <a:ea typeface="Open Sans Bold"/>
                <a:cs typeface="Open Sans Bold"/>
                <a:sym typeface="Open Sans Bold"/>
              </a:rPr>
              <a:t>8</a:t>
            </a:r>
          </a:p>
        </p:txBody>
      </p:sp>
      <p:sp>
        <p:nvSpPr>
          <p:cNvPr name="TextBox 76" id="76"/>
          <p:cNvSpPr txBox="true"/>
          <p:nvPr/>
        </p:nvSpPr>
        <p:spPr>
          <a:xfrm rot="0">
            <a:off x="10151745" y="3142868"/>
            <a:ext cx="456247" cy="356234"/>
          </a:xfrm>
          <a:prstGeom prst="rect">
            <a:avLst/>
          </a:prstGeom>
        </p:spPr>
        <p:txBody>
          <a:bodyPr anchor="t" rtlCol="false" tIns="0" lIns="0" bIns="0" rIns="0">
            <a:spAutoFit/>
          </a:bodyPr>
          <a:lstStyle/>
          <a:p>
            <a:pPr algn="ctr">
              <a:lnSpc>
                <a:spcPts val="2940"/>
              </a:lnSpc>
            </a:pPr>
            <a:r>
              <a:rPr lang="en-US" sz="2100" b="true">
                <a:solidFill>
                  <a:srgbClr val="FFFFFF"/>
                </a:solidFill>
                <a:latin typeface="Open Sans Bold"/>
                <a:ea typeface="Open Sans Bold"/>
                <a:cs typeface="Open Sans Bold"/>
                <a:sym typeface="Open Sans Bold"/>
              </a:rPr>
              <a:t>9</a:t>
            </a:r>
          </a:p>
        </p:txBody>
      </p:sp>
      <p:sp>
        <p:nvSpPr>
          <p:cNvPr name="TextBox 77" id="77"/>
          <p:cNvSpPr txBox="true"/>
          <p:nvPr/>
        </p:nvSpPr>
        <p:spPr>
          <a:xfrm rot="0">
            <a:off x="10151745" y="3878198"/>
            <a:ext cx="456247" cy="356234"/>
          </a:xfrm>
          <a:prstGeom prst="rect">
            <a:avLst/>
          </a:prstGeom>
        </p:spPr>
        <p:txBody>
          <a:bodyPr anchor="t" rtlCol="false" tIns="0" lIns="0" bIns="0" rIns="0">
            <a:spAutoFit/>
          </a:bodyPr>
          <a:lstStyle/>
          <a:p>
            <a:pPr algn="ctr">
              <a:lnSpc>
                <a:spcPts val="2940"/>
              </a:lnSpc>
            </a:pPr>
            <a:r>
              <a:rPr lang="en-US" sz="2100" b="true">
                <a:solidFill>
                  <a:srgbClr val="FFFFFF"/>
                </a:solidFill>
                <a:latin typeface="Open Sans Bold"/>
                <a:ea typeface="Open Sans Bold"/>
                <a:cs typeface="Open Sans Bold"/>
                <a:sym typeface="Open Sans Bold"/>
              </a:rPr>
              <a:t>10</a:t>
            </a:r>
          </a:p>
        </p:txBody>
      </p:sp>
      <p:sp>
        <p:nvSpPr>
          <p:cNvPr name="TextBox 78" id="78"/>
          <p:cNvSpPr txBox="true"/>
          <p:nvPr/>
        </p:nvSpPr>
        <p:spPr>
          <a:xfrm rot="0">
            <a:off x="10151745" y="4611623"/>
            <a:ext cx="456247" cy="356234"/>
          </a:xfrm>
          <a:prstGeom prst="rect">
            <a:avLst/>
          </a:prstGeom>
        </p:spPr>
        <p:txBody>
          <a:bodyPr anchor="t" rtlCol="false" tIns="0" lIns="0" bIns="0" rIns="0">
            <a:spAutoFit/>
          </a:bodyPr>
          <a:lstStyle/>
          <a:p>
            <a:pPr algn="ctr">
              <a:lnSpc>
                <a:spcPts val="2940"/>
              </a:lnSpc>
            </a:pPr>
            <a:r>
              <a:rPr lang="en-US" sz="2100" b="true">
                <a:solidFill>
                  <a:srgbClr val="FFFFFF"/>
                </a:solidFill>
                <a:latin typeface="Open Sans Bold"/>
                <a:ea typeface="Open Sans Bold"/>
                <a:cs typeface="Open Sans Bold"/>
                <a:sym typeface="Open Sans Bold"/>
              </a:rPr>
              <a:t>11</a:t>
            </a:r>
          </a:p>
        </p:txBody>
      </p:sp>
      <p:sp>
        <p:nvSpPr>
          <p:cNvPr name="TextBox 79" id="79"/>
          <p:cNvSpPr txBox="true"/>
          <p:nvPr/>
        </p:nvSpPr>
        <p:spPr>
          <a:xfrm rot="0">
            <a:off x="10151745" y="5345048"/>
            <a:ext cx="456247" cy="356234"/>
          </a:xfrm>
          <a:prstGeom prst="rect">
            <a:avLst/>
          </a:prstGeom>
        </p:spPr>
        <p:txBody>
          <a:bodyPr anchor="t" rtlCol="false" tIns="0" lIns="0" bIns="0" rIns="0">
            <a:spAutoFit/>
          </a:bodyPr>
          <a:lstStyle/>
          <a:p>
            <a:pPr algn="ctr">
              <a:lnSpc>
                <a:spcPts val="2940"/>
              </a:lnSpc>
            </a:pPr>
            <a:r>
              <a:rPr lang="en-US" sz="2100" b="true">
                <a:solidFill>
                  <a:srgbClr val="FFFFFF"/>
                </a:solidFill>
                <a:latin typeface="Open Sans Bold"/>
                <a:ea typeface="Open Sans Bold"/>
                <a:cs typeface="Open Sans Bold"/>
                <a:sym typeface="Open Sans Bold"/>
              </a:rPr>
              <a:t>12</a:t>
            </a:r>
          </a:p>
        </p:txBody>
      </p:sp>
      <p:sp>
        <p:nvSpPr>
          <p:cNvPr name="TextBox 80" id="80"/>
          <p:cNvSpPr txBox="true"/>
          <p:nvPr/>
        </p:nvSpPr>
        <p:spPr>
          <a:xfrm rot="0">
            <a:off x="10151745" y="6078473"/>
            <a:ext cx="456247" cy="356234"/>
          </a:xfrm>
          <a:prstGeom prst="rect">
            <a:avLst/>
          </a:prstGeom>
        </p:spPr>
        <p:txBody>
          <a:bodyPr anchor="t" rtlCol="false" tIns="0" lIns="0" bIns="0" rIns="0">
            <a:spAutoFit/>
          </a:bodyPr>
          <a:lstStyle/>
          <a:p>
            <a:pPr algn="ctr">
              <a:lnSpc>
                <a:spcPts val="2940"/>
              </a:lnSpc>
            </a:pPr>
            <a:r>
              <a:rPr lang="en-US" sz="2100" b="true">
                <a:solidFill>
                  <a:srgbClr val="FFFFFF"/>
                </a:solidFill>
                <a:latin typeface="Open Sans Bold"/>
                <a:ea typeface="Open Sans Bold"/>
                <a:cs typeface="Open Sans Bold"/>
                <a:sym typeface="Open Sans Bold"/>
              </a:rPr>
              <a:t>13</a:t>
            </a:r>
          </a:p>
        </p:txBody>
      </p:sp>
      <p:sp>
        <p:nvSpPr>
          <p:cNvPr name="TextBox 81" id="81"/>
          <p:cNvSpPr txBox="true"/>
          <p:nvPr/>
        </p:nvSpPr>
        <p:spPr>
          <a:xfrm rot="0">
            <a:off x="10151745" y="6813802"/>
            <a:ext cx="456247" cy="356234"/>
          </a:xfrm>
          <a:prstGeom prst="rect">
            <a:avLst/>
          </a:prstGeom>
        </p:spPr>
        <p:txBody>
          <a:bodyPr anchor="t" rtlCol="false" tIns="0" lIns="0" bIns="0" rIns="0">
            <a:spAutoFit/>
          </a:bodyPr>
          <a:lstStyle/>
          <a:p>
            <a:pPr algn="ctr">
              <a:lnSpc>
                <a:spcPts val="2940"/>
              </a:lnSpc>
            </a:pPr>
            <a:r>
              <a:rPr lang="en-US" sz="2100" b="true">
                <a:solidFill>
                  <a:srgbClr val="FFFFFF"/>
                </a:solidFill>
                <a:latin typeface="Open Sans Bold"/>
                <a:ea typeface="Open Sans Bold"/>
                <a:cs typeface="Open Sans Bold"/>
                <a:sym typeface="Open Sans Bold"/>
              </a:rPr>
              <a:t>14</a:t>
            </a:r>
          </a:p>
        </p:txBody>
      </p:sp>
      <p:sp>
        <p:nvSpPr>
          <p:cNvPr name="TextBox 82" id="82"/>
          <p:cNvSpPr txBox="true"/>
          <p:nvPr/>
        </p:nvSpPr>
        <p:spPr>
          <a:xfrm rot="0">
            <a:off x="10151745" y="7545323"/>
            <a:ext cx="456247" cy="356234"/>
          </a:xfrm>
          <a:prstGeom prst="rect">
            <a:avLst/>
          </a:prstGeom>
        </p:spPr>
        <p:txBody>
          <a:bodyPr anchor="t" rtlCol="false" tIns="0" lIns="0" bIns="0" rIns="0">
            <a:spAutoFit/>
          </a:bodyPr>
          <a:lstStyle/>
          <a:p>
            <a:pPr algn="ctr">
              <a:lnSpc>
                <a:spcPts val="2940"/>
              </a:lnSpc>
            </a:pPr>
            <a:r>
              <a:rPr lang="en-US" sz="2100" b="true">
                <a:solidFill>
                  <a:srgbClr val="FFFFFF"/>
                </a:solidFill>
                <a:latin typeface="Open Sans Bold"/>
                <a:ea typeface="Open Sans Bold"/>
                <a:cs typeface="Open Sans Bold"/>
                <a:sym typeface="Open Sans Bold"/>
              </a:rPr>
              <a:t>15</a:t>
            </a:r>
          </a:p>
        </p:txBody>
      </p:sp>
      <p:sp>
        <p:nvSpPr>
          <p:cNvPr name="TextBox 83" id="83"/>
          <p:cNvSpPr txBox="true"/>
          <p:nvPr/>
        </p:nvSpPr>
        <p:spPr>
          <a:xfrm rot="0">
            <a:off x="10151745" y="8278748"/>
            <a:ext cx="456247" cy="356234"/>
          </a:xfrm>
          <a:prstGeom prst="rect">
            <a:avLst/>
          </a:prstGeom>
        </p:spPr>
        <p:txBody>
          <a:bodyPr anchor="t" rtlCol="false" tIns="0" lIns="0" bIns="0" rIns="0">
            <a:spAutoFit/>
          </a:bodyPr>
          <a:lstStyle/>
          <a:p>
            <a:pPr algn="ctr">
              <a:lnSpc>
                <a:spcPts val="2940"/>
              </a:lnSpc>
            </a:pPr>
            <a:r>
              <a:rPr lang="en-US" sz="2100" b="true">
                <a:solidFill>
                  <a:srgbClr val="FFFFFF"/>
                </a:solidFill>
                <a:latin typeface="Open Sans Bold"/>
                <a:ea typeface="Open Sans Bold"/>
                <a:cs typeface="Open Sans Bold"/>
                <a:sym typeface="Open Sans Bold"/>
              </a:rPr>
              <a:t>16</a:t>
            </a:r>
          </a:p>
        </p:txBody>
      </p:sp>
    </p:spTree>
  </p:cSld>
  <p:clrMapOvr>
    <a:masterClrMapping/>
  </p:clrMapOvr>
  <p:transition spd="fast">
    <p:cover dir="l"/>
  </p:transition>
</p:sld>
</file>

<file path=ppt/slides/slide3.xml><?xml version="1.0" encoding="utf-8"?>
<p:sld xmlns:p="http://schemas.openxmlformats.org/presentationml/2006/main" xmlns:a="http://schemas.openxmlformats.org/drawingml/2006/main">
  <p:cSld>
    <p:bg>
      <p:bgPr>
        <a:solidFill>
          <a:srgbClr val="F2F2F7"/>
        </a:solidFill>
      </p:bgPr>
    </p:bg>
    <p:spTree>
      <p:nvGrpSpPr>
        <p:cNvPr id="1" name=""/>
        <p:cNvGrpSpPr/>
        <p:nvPr/>
      </p:nvGrpSpPr>
      <p:grpSpPr>
        <a:xfrm>
          <a:off x="0" y="0"/>
          <a:ext cx="0" cy="0"/>
          <a:chOff x="0" y="0"/>
          <a:chExt cx="0" cy="0"/>
        </a:xfrm>
      </p:grpSpPr>
      <p:sp>
        <p:nvSpPr>
          <p:cNvPr name="TextBox 2" id="2"/>
          <p:cNvSpPr txBox="true"/>
          <p:nvPr/>
        </p:nvSpPr>
        <p:spPr>
          <a:xfrm rot="0">
            <a:off x="422498" y="1336831"/>
            <a:ext cx="16603374" cy="1571625"/>
          </a:xfrm>
          <a:prstGeom prst="rect">
            <a:avLst/>
          </a:prstGeom>
        </p:spPr>
        <p:txBody>
          <a:bodyPr anchor="t" rtlCol="false" tIns="0" lIns="0" bIns="0" rIns="0">
            <a:spAutoFit/>
          </a:bodyPr>
          <a:lstStyle/>
          <a:p>
            <a:pPr algn="ctr" marL="0" indent="0" lvl="0">
              <a:lnSpc>
                <a:spcPts val="6300"/>
              </a:lnSpc>
              <a:spcBef>
                <a:spcPct val="0"/>
              </a:spcBef>
            </a:pPr>
            <a:r>
              <a:rPr lang="en-US" b="true" sz="4500">
                <a:solidFill>
                  <a:srgbClr val="000000"/>
                </a:solidFill>
                <a:latin typeface="Open Sans Bold"/>
                <a:ea typeface="Open Sans Bold"/>
                <a:cs typeface="Open Sans Bold"/>
                <a:sym typeface="Open Sans Bold"/>
              </a:rPr>
              <a:t>En</a:t>
            </a:r>
            <a:r>
              <a:rPr lang="en-US" b="true" sz="4500" strike="noStrike" u="none">
                <a:solidFill>
                  <a:srgbClr val="000000"/>
                </a:solidFill>
                <a:latin typeface="Open Sans Bold"/>
                <a:ea typeface="Open Sans Bold"/>
                <a:cs typeface="Open Sans Bold"/>
                <a:sym typeface="Open Sans Bold"/>
              </a:rPr>
              <a:t>torno Financiero y Comportamiento de los Adultos Jóvenes</a:t>
            </a:r>
          </a:p>
        </p:txBody>
      </p:sp>
      <p:sp>
        <p:nvSpPr>
          <p:cNvPr name="TextBox 3" id="3"/>
          <p:cNvSpPr txBox="true"/>
          <p:nvPr/>
        </p:nvSpPr>
        <p:spPr>
          <a:xfrm rot="0">
            <a:off x="908566" y="3077802"/>
            <a:ext cx="7620000" cy="1012190"/>
          </a:xfrm>
          <a:prstGeom prst="rect">
            <a:avLst/>
          </a:prstGeom>
        </p:spPr>
        <p:txBody>
          <a:bodyPr anchor="t" rtlCol="false" tIns="0" lIns="0" bIns="0" rIns="0">
            <a:spAutoFit/>
          </a:bodyPr>
          <a:lstStyle/>
          <a:p>
            <a:pPr algn="just">
              <a:lnSpc>
                <a:spcPts val="4060"/>
              </a:lnSpc>
            </a:pPr>
            <a:r>
              <a:rPr lang="en-US" sz="2900" b="true">
                <a:solidFill>
                  <a:srgbClr val="813DF9"/>
                </a:solidFill>
                <a:latin typeface="Open Sans Bold"/>
                <a:ea typeface="Open Sans Bold"/>
                <a:cs typeface="Open Sans Bold"/>
                <a:sym typeface="Open Sans Bold"/>
              </a:rPr>
              <a:t>Acceso y Uso de He</a:t>
            </a:r>
            <a:r>
              <a:rPr lang="en-US" b="true" sz="2900">
                <a:solidFill>
                  <a:srgbClr val="813DF9"/>
                </a:solidFill>
                <a:latin typeface="Open Sans Bold"/>
                <a:ea typeface="Open Sans Bold"/>
                <a:cs typeface="Open Sans Bold"/>
                <a:sym typeface="Open Sans Bold"/>
              </a:rPr>
              <a:t>rramientas Digitales (Estudio UC - Falabella)</a:t>
            </a:r>
          </a:p>
        </p:txBody>
      </p:sp>
      <p:sp>
        <p:nvSpPr>
          <p:cNvPr name="TextBox 4" id="4"/>
          <p:cNvSpPr txBox="true"/>
          <p:nvPr/>
        </p:nvSpPr>
        <p:spPr>
          <a:xfrm rot="0">
            <a:off x="15960261" y="350234"/>
            <a:ext cx="2093123" cy="514349"/>
          </a:xfrm>
          <a:prstGeom prst="rect">
            <a:avLst/>
          </a:prstGeom>
        </p:spPr>
        <p:txBody>
          <a:bodyPr anchor="t" rtlCol="false" tIns="0" lIns="0" bIns="0" rIns="0">
            <a:spAutoFit/>
          </a:bodyPr>
          <a:lstStyle/>
          <a:p>
            <a:pPr algn="ctr" marL="0" indent="0" lvl="0">
              <a:lnSpc>
                <a:spcPts val="4200"/>
              </a:lnSpc>
              <a:spcBef>
                <a:spcPct val="0"/>
              </a:spcBef>
            </a:pPr>
            <a:r>
              <a:rPr lang="en-US" b="true" sz="3000">
                <a:solidFill>
                  <a:srgbClr val="813DF9"/>
                </a:solidFill>
                <a:latin typeface="Open Sans Bold"/>
                <a:ea typeface="Open Sans Bold"/>
                <a:cs typeface="Open Sans Bold"/>
                <a:sym typeface="Open Sans Bold"/>
              </a:rPr>
              <a:t>1 </a:t>
            </a:r>
            <a:r>
              <a:rPr lang="en-US" b="true" sz="3000" strike="noStrike" u="none">
                <a:solidFill>
                  <a:srgbClr val="813DF9"/>
                </a:solidFill>
                <a:latin typeface="Open Sans Bold"/>
                <a:ea typeface="Open Sans Bold"/>
                <a:cs typeface="Open Sans Bold"/>
                <a:sym typeface="Open Sans Bold"/>
              </a:rPr>
              <a:t>Contexto</a:t>
            </a:r>
          </a:p>
        </p:txBody>
      </p:sp>
      <p:sp>
        <p:nvSpPr>
          <p:cNvPr name="AutoShape 5" id="5"/>
          <p:cNvSpPr/>
          <p:nvPr/>
        </p:nvSpPr>
        <p:spPr>
          <a:xfrm>
            <a:off x="-2288541" y="629929"/>
            <a:ext cx="18098098" cy="0"/>
          </a:xfrm>
          <a:prstGeom prst="line">
            <a:avLst/>
          </a:prstGeom>
          <a:ln cap="flat" w="19050">
            <a:solidFill>
              <a:srgbClr val="000000"/>
            </a:solidFill>
            <a:prstDash val="solid"/>
            <a:headEnd type="none" len="sm" w="sm"/>
            <a:tailEnd type="none" len="sm" w="sm"/>
          </a:ln>
        </p:spPr>
      </p:sp>
      <p:sp>
        <p:nvSpPr>
          <p:cNvPr name="TextBox 6" id="6"/>
          <p:cNvSpPr txBox="true"/>
          <p:nvPr/>
        </p:nvSpPr>
        <p:spPr>
          <a:xfrm rot="0">
            <a:off x="908566" y="4261442"/>
            <a:ext cx="7620000" cy="2622549"/>
          </a:xfrm>
          <a:prstGeom prst="rect">
            <a:avLst/>
          </a:prstGeom>
        </p:spPr>
        <p:txBody>
          <a:bodyPr anchor="t" rtlCol="false" tIns="0" lIns="0" bIns="0" rIns="0">
            <a:spAutoFit/>
          </a:bodyPr>
          <a:lstStyle/>
          <a:p>
            <a:pPr algn="l">
              <a:lnSpc>
                <a:spcPts val="3500"/>
              </a:lnSpc>
            </a:pPr>
            <a:r>
              <a:rPr lang="en-US" sz="2500">
                <a:solidFill>
                  <a:srgbClr val="000000"/>
                </a:solidFill>
                <a:latin typeface="Open Sans"/>
                <a:ea typeface="Open Sans"/>
                <a:cs typeface="Open Sans"/>
                <a:sym typeface="Open Sans"/>
              </a:rPr>
              <a:t>L</a:t>
            </a:r>
            <a:r>
              <a:rPr lang="en-US" sz="2500">
                <a:solidFill>
                  <a:srgbClr val="000000"/>
                </a:solidFill>
                <a:latin typeface="Open Sans"/>
                <a:ea typeface="Open Sans"/>
                <a:cs typeface="Open Sans"/>
                <a:sym typeface="Open Sans"/>
              </a:rPr>
              <a:t>os adultos jóvenes de 18 a 34 años registran el mayor uso de cuentas y servicios digitales en Chile, pero la mitad de quienes utilizan múltiples productos financieros reconoce no comprender conceptos como la tasa de interés o la inflación (solo un 21% los maneja). </a:t>
            </a:r>
          </a:p>
        </p:txBody>
      </p:sp>
      <p:sp>
        <p:nvSpPr>
          <p:cNvPr name="TextBox 7" id="7"/>
          <p:cNvSpPr txBox="true"/>
          <p:nvPr/>
        </p:nvSpPr>
        <p:spPr>
          <a:xfrm rot="0">
            <a:off x="9759434" y="3077802"/>
            <a:ext cx="7620000" cy="1012190"/>
          </a:xfrm>
          <a:prstGeom prst="rect">
            <a:avLst/>
          </a:prstGeom>
        </p:spPr>
        <p:txBody>
          <a:bodyPr anchor="t" rtlCol="false" tIns="0" lIns="0" bIns="0" rIns="0">
            <a:spAutoFit/>
          </a:bodyPr>
          <a:lstStyle/>
          <a:p>
            <a:pPr algn="just">
              <a:lnSpc>
                <a:spcPts val="4060"/>
              </a:lnSpc>
            </a:pPr>
            <a:r>
              <a:rPr lang="en-US" sz="2900" b="true">
                <a:solidFill>
                  <a:srgbClr val="813DF9"/>
                </a:solidFill>
                <a:latin typeface="Open Sans Bold"/>
                <a:ea typeface="Open Sans Bold"/>
                <a:cs typeface="Open Sans Bold"/>
                <a:sym typeface="Open Sans Bold"/>
              </a:rPr>
              <a:t>Hábitos de Presupuesto y Respaldo Económico (Estudio UC - Falabella)</a:t>
            </a:r>
          </a:p>
        </p:txBody>
      </p:sp>
      <p:sp>
        <p:nvSpPr>
          <p:cNvPr name="TextBox 8" id="8"/>
          <p:cNvSpPr txBox="true"/>
          <p:nvPr/>
        </p:nvSpPr>
        <p:spPr>
          <a:xfrm rot="0">
            <a:off x="9759434" y="4261442"/>
            <a:ext cx="7620000" cy="2184399"/>
          </a:xfrm>
          <a:prstGeom prst="rect">
            <a:avLst/>
          </a:prstGeom>
        </p:spPr>
        <p:txBody>
          <a:bodyPr anchor="t" rtlCol="false" tIns="0" lIns="0" bIns="0" rIns="0">
            <a:spAutoFit/>
          </a:bodyPr>
          <a:lstStyle/>
          <a:p>
            <a:pPr algn="just">
              <a:lnSpc>
                <a:spcPts val="3500"/>
              </a:lnSpc>
            </a:pPr>
            <a:r>
              <a:rPr lang="en-US" sz="2500">
                <a:solidFill>
                  <a:srgbClr val="000000"/>
                </a:solidFill>
                <a:latin typeface="Open Sans"/>
                <a:ea typeface="Open Sans"/>
                <a:cs typeface="Open Sans"/>
                <a:sym typeface="Open Sans"/>
              </a:rPr>
              <a:t>U</a:t>
            </a:r>
            <a:r>
              <a:rPr lang="en-US" sz="2500">
                <a:solidFill>
                  <a:srgbClr val="000000"/>
                </a:solidFill>
                <a:latin typeface="Open Sans"/>
                <a:ea typeface="Open Sans"/>
                <a:cs typeface="Open Sans"/>
                <a:sym typeface="Open Sans"/>
              </a:rPr>
              <a:t>n 76% afirma elaborar un presupuesto mensual, pero únicamente un 22% logra cumplirlo, mientras que un 82% declara que no podría enfrentar un gasto urgente sin pedir ayuda económica a terceros o familiares.</a:t>
            </a:r>
          </a:p>
        </p:txBody>
      </p:sp>
      <p:sp>
        <p:nvSpPr>
          <p:cNvPr name="TextBox 9" id="9"/>
          <p:cNvSpPr txBox="true"/>
          <p:nvPr/>
        </p:nvSpPr>
        <p:spPr>
          <a:xfrm rot="0">
            <a:off x="4381500" y="7405368"/>
            <a:ext cx="9525000" cy="497840"/>
          </a:xfrm>
          <a:prstGeom prst="rect">
            <a:avLst/>
          </a:prstGeom>
        </p:spPr>
        <p:txBody>
          <a:bodyPr anchor="t" rtlCol="false" tIns="0" lIns="0" bIns="0" rIns="0">
            <a:spAutoFit/>
          </a:bodyPr>
          <a:lstStyle/>
          <a:p>
            <a:pPr algn="just">
              <a:lnSpc>
                <a:spcPts val="4060"/>
              </a:lnSpc>
            </a:pPr>
            <a:r>
              <a:rPr lang="en-US" sz="2900" b="true">
                <a:solidFill>
                  <a:srgbClr val="813DF9"/>
                </a:solidFill>
                <a:latin typeface="Open Sans Bold"/>
                <a:ea typeface="Open Sans Bold"/>
                <a:cs typeface="Open Sans Bold"/>
                <a:sym typeface="Open Sans Bold"/>
              </a:rPr>
              <a:t>Comportamiento en el Día a Día (Encuesta Local)</a:t>
            </a:r>
          </a:p>
        </p:txBody>
      </p:sp>
      <p:sp>
        <p:nvSpPr>
          <p:cNvPr name="TextBox 10" id="10"/>
          <p:cNvSpPr txBox="true"/>
          <p:nvPr/>
        </p:nvSpPr>
        <p:spPr>
          <a:xfrm rot="0">
            <a:off x="4381500" y="8074658"/>
            <a:ext cx="9525000" cy="1746249"/>
          </a:xfrm>
          <a:prstGeom prst="rect">
            <a:avLst/>
          </a:prstGeom>
        </p:spPr>
        <p:txBody>
          <a:bodyPr anchor="t" rtlCol="false" tIns="0" lIns="0" bIns="0" rIns="0">
            <a:spAutoFit/>
          </a:bodyPr>
          <a:lstStyle/>
          <a:p>
            <a:pPr algn="just">
              <a:lnSpc>
                <a:spcPts val="3500"/>
              </a:lnSpc>
            </a:pPr>
            <a:r>
              <a:rPr lang="en-US" sz="2500">
                <a:solidFill>
                  <a:srgbClr val="000000"/>
                </a:solidFill>
                <a:latin typeface="Open Sans"/>
                <a:ea typeface="Open Sans"/>
                <a:cs typeface="Open Sans"/>
                <a:sym typeface="Open Sans"/>
              </a:rPr>
              <a:t>El 58%</a:t>
            </a:r>
            <a:r>
              <a:rPr lang="en-US" sz="2500">
                <a:solidFill>
                  <a:srgbClr val="000000"/>
                </a:solidFill>
                <a:latin typeface="Open Sans"/>
                <a:ea typeface="Open Sans"/>
                <a:cs typeface="Open Sans"/>
                <a:sym typeface="Open Sans"/>
              </a:rPr>
              <a:t> de los jóvenes controla su dinero revisando el saldo de la app bancaria en el momento, menos del 9% usa planillas o registros formales, y casi el 80% no logra mantener un presupuesto mensual ordenado.</a:t>
            </a:r>
          </a:p>
        </p:txBody>
      </p:sp>
    </p:spTree>
  </p:cSld>
  <p:clrMapOvr>
    <a:masterClrMapping/>
  </p:clrMapOvr>
  <p:transition spd="fast">
    <p:cover dir="l"/>
  </p:transition>
</p:sld>
</file>

<file path=ppt/slides/slide4.xml><?xml version="1.0" encoding="utf-8"?>
<p:sld xmlns:p="http://schemas.openxmlformats.org/presentationml/2006/main" xmlns:a="http://schemas.openxmlformats.org/drawingml/2006/main">
  <p:cSld>
    <p:bg>
      <p:bgPr>
        <a:solidFill>
          <a:srgbClr val="F2F2F7"/>
        </a:solidFill>
      </p:bgPr>
    </p:bg>
    <p:spTree>
      <p:nvGrpSpPr>
        <p:cNvPr id="1" name=""/>
        <p:cNvGrpSpPr/>
        <p:nvPr/>
      </p:nvGrpSpPr>
      <p:grpSpPr>
        <a:xfrm>
          <a:off x="0" y="0"/>
          <a:ext cx="0" cy="0"/>
          <a:chOff x="0" y="0"/>
          <a:chExt cx="0" cy="0"/>
        </a:xfrm>
      </p:grpSpPr>
      <p:grpSp>
        <p:nvGrpSpPr>
          <p:cNvPr name="Group 2" id="2"/>
          <p:cNvGrpSpPr/>
          <p:nvPr/>
        </p:nvGrpSpPr>
        <p:grpSpPr>
          <a:xfrm rot="0">
            <a:off x="888703" y="2577532"/>
            <a:ext cx="5470743" cy="3333750"/>
            <a:chOff x="0" y="0"/>
            <a:chExt cx="857604" cy="522605"/>
          </a:xfrm>
        </p:grpSpPr>
        <p:sp>
          <p:nvSpPr>
            <p:cNvPr name="Freeform 3" id="3"/>
            <p:cNvSpPr/>
            <p:nvPr/>
          </p:nvSpPr>
          <p:spPr>
            <a:xfrm flipH="false" flipV="false" rot="0">
              <a:off x="0" y="0"/>
              <a:ext cx="857604" cy="522605"/>
            </a:xfrm>
            <a:custGeom>
              <a:avLst/>
              <a:gdLst/>
              <a:ahLst/>
              <a:cxnLst/>
              <a:rect r="r" b="b" t="t" l="l"/>
              <a:pathLst>
                <a:path h="522605" w="857604">
                  <a:moveTo>
                    <a:pt x="27640" y="0"/>
                  </a:moveTo>
                  <a:lnTo>
                    <a:pt x="829965" y="0"/>
                  </a:lnTo>
                  <a:cubicBezTo>
                    <a:pt x="837295" y="0"/>
                    <a:pt x="844325" y="2912"/>
                    <a:pt x="849509" y="8095"/>
                  </a:cubicBezTo>
                  <a:cubicBezTo>
                    <a:pt x="854692" y="13279"/>
                    <a:pt x="857604" y="20309"/>
                    <a:pt x="857604" y="27640"/>
                  </a:cubicBezTo>
                  <a:lnTo>
                    <a:pt x="857604" y="494966"/>
                  </a:lnTo>
                  <a:cubicBezTo>
                    <a:pt x="857604" y="502296"/>
                    <a:pt x="854692" y="509326"/>
                    <a:pt x="849509" y="514510"/>
                  </a:cubicBezTo>
                  <a:cubicBezTo>
                    <a:pt x="844325" y="519693"/>
                    <a:pt x="837295" y="522605"/>
                    <a:pt x="829965" y="522605"/>
                  </a:cubicBezTo>
                  <a:lnTo>
                    <a:pt x="27640" y="522605"/>
                  </a:lnTo>
                  <a:cubicBezTo>
                    <a:pt x="20309" y="522605"/>
                    <a:pt x="13279" y="519693"/>
                    <a:pt x="8095" y="514510"/>
                  </a:cubicBezTo>
                  <a:cubicBezTo>
                    <a:pt x="2912" y="509326"/>
                    <a:pt x="0" y="502296"/>
                    <a:pt x="0" y="494966"/>
                  </a:cubicBezTo>
                  <a:lnTo>
                    <a:pt x="0" y="27640"/>
                  </a:lnTo>
                  <a:cubicBezTo>
                    <a:pt x="0" y="20309"/>
                    <a:pt x="2912" y="13279"/>
                    <a:pt x="8095" y="8095"/>
                  </a:cubicBezTo>
                  <a:cubicBezTo>
                    <a:pt x="13279" y="2912"/>
                    <a:pt x="20309" y="0"/>
                    <a:pt x="27640" y="0"/>
                  </a:cubicBezTo>
                  <a:close/>
                </a:path>
              </a:pathLst>
            </a:custGeom>
            <a:solidFill>
              <a:srgbClr val="FFFFFF"/>
            </a:solidFill>
            <a:ln w="9525" cap="rnd">
              <a:solidFill>
                <a:srgbClr val="000000"/>
              </a:solidFill>
              <a:prstDash val="solid"/>
              <a:round/>
            </a:ln>
          </p:spPr>
        </p:sp>
        <p:sp>
          <p:nvSpPr>
            <p:cNvPr name="TextBox 4" id="4"/>
            <p:cNvSpPr txBox="true"/>
            <p:nvPr/>
          </p:nvSpPr>
          <p:spPr>
            <a:xfrm>
              <a:off x="0" y="-47625"/>
              <a:ext cx="857604" cy="570230"/>
            </a:xfrm>
            <a:prstGeom prst="rect">
              <a:avLst/>
            </a:prstGeom>
          </p:spPr>
          <p:txBody>
            <a:bodyPr anchor="ctr" rtlCol="false" tIns="50800" lIns="50800" bIns="50800" rIns="50800"/>
            <a:lstStyle/>
            <a:p>
              <a:pPr algn="ctr">
                <a:lnSpc>
                  <a:spcPts val="3499"/>
                </a:lnSpc>
              </a:pPr>
              <a:r>
                <a:rPr lang="en-US" sz="2499" b="true">
                  <a:solidFill>
                    <a:srgbClr val="813DF9"/>
                  </a:solidFill>
                  <a:latin typeface="Open Sans Bold"/>
                  <a:ea typeface="Open Sans Bold"/>
                  <a:cs typeface="Open Sans Bold"/>
                  <a:sym typeface="Open Sans Bold"/>
                </a:rPr>
                <a:t>Desconocimiento del Saldo Real</a:t>
              </a:r>
            </a:p>
            <a:p>
              <a:pPr algn="ctr">
                <a:lnSpc>
                  <a:spcPts val="3499"/>
                </a:lnSpc>
              </a:pPr>
            </a:p>
            <a:p>
              <a:pPr algn="ctr">
                <a:lnSpc>
                  <a:spcPts val="3499"/>
                </a:lnSpc>
              </a:pPr>
              <a:r>
                <a:rPr lang="en-US" sz="2499">
                  <a:solidFill>
                    <a:srgbClr val="000000"/>
                  </a:solidFill>
                  <a:latin typeface="Open Sans"/>
                  <a:ea typeface="Open Sans"/>
                  <a:cs typeface="Open Sans"/>
                  <a:sym typeface="Open Sans"/>
                </a:rPr>
                <a:t>El usuario gasta viendo únicamente su saldo disponible en el banco, sin considerar los compromisos de pago futuros ya asumidos.</a:t>
              </a:r>
            </a:p>
          </p:txBody>
        </p:sp>
      </p:grpSp>
      <p:sp>
        <p:nvSpPr>
          <p:cNvPr name="TextBox 5" id="5"/>
          <p:cNvSpPr txBox="true"/>
          <p:nvPr/>
        </p:nvSpPr>
        <p:spPr>
          <a:xfrm rot="0">
            <a:off x="418345" y="442586"/>
            <a:ext cx="2214860" cy="514349"/>
          </a:xfrm>
          <a:prstGeom prst="rect">
            <a:avLst/>
          </a:prstGeom>
        </p:spPr>
        <p:txBody>
          <a:bodyPr anchor="t" rtlCol="false" tIns="0" lIns="0" bIns="0" rIns="0">
            <a:spAutoFit/>
          </a:bodyPr>
          <a:lstStyle/>
          <a:p>
            <a:pPr algn="ctr" marL="0" indent="0" lvl="0">
              <a:lnSpc>
                <a:spcPts val="4200"/>
              </a:lnSpc>
              <a:spcBef>
                <a:spcPct val="0"/>
              </a:spcBef>
            </a:pPr>
            <a:r>
              <a:rPr lang="en-US" b="true" sz="3000">
                <a:solidFill>
                  <a:srgbClr val="813DF9"/>
                </a:solidFill>
                <a:latin typeface="Open Sans Bold"/>
                <a:ea typeface="Open Sans Bold"/>
                <a:cs typeface="Open Sans Bold"/>
                <a:sym typeface="Open Sans Bold"/>
              </a:rPr>
              <a:t>2 </a:t>
            </a:r>
            <a:r>
              <a:rPr lang="en-US" b="true" sz="3000" strike="noStrike" u="none">
                <a:solidFill>
                  <a:srgbClr val="813DF9"/>
                </a:solidFill>
                <a:latin typeface="Open Sans Bold"/>
                <a:ea typeface="Open Sans Bold"/>
                <a:cs typeface="Open Sans Bold"/>
                <a:sym typeface="Open Sans Bold"/>
              </a:rPr>
              <a:t>Problema</a:t>
            </a:r>
          </a:p>
        </p:txBody>
      </p:sp>
      <p:grpSp>
        <p:nvGrpSpPr>
          <p:cNvPr name="Group 6" id="6"/>
          <p:cNvGrpSpPr/>
          <p:nvPr/>
        </p:nvGrpSpPr>
        <p:grpSpPr>
          <a:xfrm rot="0">
            <a:off x="6594789" y="2577532"/>
            <a:ext cx="5248814" cy="3333750"/>
            <a:chOff x="0" y="0"/>
            <a:chExt cx="822814" cy="522605"/>
          </a:xfrm>
        </p:grpSpPr>
        <p:sp>
          <p:nvSpPr>
            <p:cNvPr name="Freeform 7" id="7"/>
            <p:cNvSpPr/>
            <p:nvPr/>
          </p:nvSpPr>
          <p:spPr>
            <a:xfrm flipH="false" flipV="false" rot="0">
              <a:off x="0" y="0"/>
              <a:ext cx="822814" cy="522605"/>
            </a:xfrm>
            <a:custGeom>
              <a:avLst/>
              <a:gdLst/>
              <a:ahLst/>
              <a:cxnLst/>
              <a:rect r="r" b="b" t="t" l="l"/>
              <a:pathLst>
                <a:path h="522605" w="822814">
                  <a:moveTo>
                    <a:pt x="28808" y="0"/>
                  </a:moveTo>
                  <a:lnTo>
                    <a:pt x="794006" y="0"/>
                  </a:lnTo>
                  <a:cubicBezTo>
                    <a:pt x="801647" y="0"/>
                    <a:pt x="808974" y="3035"/>
                    <a:pt x="814377" y="8438"/>
                  </a:cubicBezTo>
                  <a:cubicBezTo>
                    <a:pt x="819779" y="13840"/>
                    <a:pt x="822814" y="21168"/>
                    <a:pt x="822814" y="28808"/>
                  </a:cubicBezTo>
                  <a:lnTo>
                    <a:pt x="822814" y="493797"/>
                  </a:lnTo>
                  <a:cubicBezTo>
                    <a:pt x="822814" y="501437"/>
                    <a:pt x="819779" y="508765"/>
                    <a:pt x="814377" y="514167"/>
                  </a:cubicBezTo>
                  <a:cubicBezTo>
                    <a:pt x="808974" y="519570"/>
                    <a:pt x="801647" y="522605"/>
                    <a:pt x="794006" y="522605"/>
                  </a:cubicBezTo>
                  <a:lnTo>
                    <a:pt x="28808" y="522605"/>
                  </a:lnTo>
                  <a:cubicBezTo>
                    <a:pt x="21168" y="522605"/>
                    <a:pt x="13840" y="519570"/>
                    <a:pt x="8438" y="514167"/>
                  </a:cubicBezTo>
                  <a:cubicBezTo>
                    <a:pt x="3035" y="508765"/>
                    <a:pt x="0" y="501437"/>
                    <a:pt x="0" y="493797"/>
                  </a:cubicBezTo>
                  <a:lnTo>
                    <a:pt x="0" y="28808"/>
                  </a:lnTo>
                  <a:cubicBezTo>
                    <a:pt x="0" y="21168"/>
                    <a:pt x="3035" y="13840"/>
                    <a:pt x="8438" y="8438"/>
                  </a:cubicBezTo>
                  <a:cubicBezTo>
                    <a:pt x="13840" y="3035"/>
                    <a:pt x="21168" y="0"/>
                    <a:pt x="28808" y="0"/>
                  </a:cubicBezTo>
                  <a:close/>
                </a:path>
              </a:pathLst>
            </a:custGeom>
            <a:solidFill>
              <a:srgbClr val="FFFFFF"/>
            </a:solidFill>
            <a:ln w="9525" cap="rnd">
              <a:solidFill>
                <a:srgbClr val="000000"/>
              </a:solidFill>
              <a:prstDash val="solid"/>
              <a:round/>
            </a:ln>
          </p:spPr>
        </p:sp>
        <p:sp>
          <p:nvSpPr>
            <p:cNvPr name="TextBox 8" id="8"/>
            <p:cNvSpPr txBox="true"/>
            <p:nvPr/>
          </p:nvSpPr>
          <p:spPr>
            <a:xfrm>
              <a:off x="0" y="-57150"/>
              <a:ext cx="822814" cy="579755"/>
            </a:xfrm>
            <a:prstGeom prst="rect">
              <a:avLst/>
            </a:prstGeom>
          </p:spPr>
          <p:txBody>
            <a:bodyPr anchor="ctr" rtlCol="false" tIns="50800" lIns="50800" bIns="50800" rIns="50800"/>
            <a:lstStyle/>
            <a:p>
              <a:pPr algn="ctr">
                <a:lnSpc>
                  <a:spcPts val="3639"/>
                </a:lnSpc>
              </a:pPr>
              <a:r>
                <a:rPr lang="en-US" sz="2599" b="true">
                  <a:solidFill>
                    <a:srgbClr val="813DF9"/>
                  </a:solidFill>
                  <a:latin typeface="Open Sans Bold"/>
                  <a:ea typeface="Open Sans Bold"/>
                  <a:cs typeface="Open Sans Bold"/>
                  <a:sym typeface="Open Sans Bold"/>
                </a:rPr>
                <a:t>Manejo Complejo de Tarjetas</a:t>
              </a:r>
            </a:p>
            <a:p>
              <a:pPr algn="ctr">
                <a:lnSpc>
                  <a:spcPts val="3639"/>
                </a:lnSpc>
              </a:pPr>
            </a:p>
            <a:p>
              <a:pPr algn="ctr">
                <a:lnSpc>
                  <a:spcPts val="3639"/>
                </a:lnSpc>
              </a:pPr>
              <a:r>
                <a:rPr lang="en-US" sz="2599">
                  <a:solidFill>
                    <a:srgbClr val="000000"/>
                  </a:solidFill>
                  <a:latin typeface="Open Sans"/>
                  <a:ea typeface="Open Sans"/>
                  <a:cs typeface="Open Sans"/>
                  <a:sym typeface="Open Sans"/>
                </a:rPr>
                <a:t>Dificultad para llevar el control de fechas de corte, fechas de pago, cuotas mensuales acumuladas y deudas reales.</a:t>
              </a:r>
            </a:p>
          </p:txBody>
        </p:sp>
      </p:grpSp>
      <p:grpSp>
        <p:nvGrpSpPr>
          <p:cNvPr name="Group 9" id="9"/>
          <p:cNvGrpSpPr/>
          <p:nvPr/>
        </p:nvGrpSpPr>
        <p:grpSpPr>
          <a:xfrm rot="0">
            <a:off x="12081728" y="2577532"/>
            <a:ext cx="5317569" cy="3612820"/>
            <a:chOff x="0" y="0"/>
            <a:chExt cx="833592" cy="566353"/>
          </a:xfrm>
        </p:grpSpPr>
        <p:sp>
          <p:nvSpPr>
            <p:cNvPr name="Freeform 10" id="10"/>
            <p:cNvSpPr/>
            <p:nvPr/>
          </p:nvSpPr>
          <p:spPr>
            <a:xfrm flipH="false" flipV="false" rot="0">
              <a:off x="0" y="0"/>
              <a:ext cx="833592" cy="566353"/>
            </a:xfrm>
            <a:custGeom>
              <a:avLst/>
              <a:gdLst/>
              <a:ahLst/>
              <a:cxnLst/>
              <a:rect r="r" b="b" t="t" l="l"/>
              <a:pathLst>
                <a:path h="566353" w="833592">
                  <a:moveTo>
                    <a:pt x="28436" y="0"/>
                  </a:moveTo>
                  <a:lnTo>
                    <a:pt x="805157" y="0"/>
                  </a:lnTo>
                  <a:cubicBezTo>
                    <a:pt x="812698" y="0"/>
                    <a:pt x="819931" y="2996"/>
                    <a:pt x="825264" y="8329"/>
                  </a:cubicBezTo>
                  <a:cubicBezTo>
                    <a:pt x="830596" y="13661"/>
                    <a:pt x="833592" y="20894"/>
                    <a:pt x="833592" y="28436"/>
                  </a:cubicBezTo>
                  <a:lnTo>
                    <a:pt x="833592" y="537917"/>
                  </a:lnTo>
                  <a:cubicBezTo>
                    <a:pt x="833592" y="545459"/>
                    <a:pt x="830596" y="552691"/>
                    <a:pt x="825264" y="558024"/>
                  </a:cubicBezTo>
                  <a:cubicBezTo>
                    <a:pt x="819931" y="563357"/>
                    <a:pt x="812698" y="566353"/>
                    <a:pt x="805157" y="566353"/>
                  </a:cubicBezTo>
                  <a:lnTo>
                    <a:pt x="28436" y="566353"/>
                  </a:lnTo>
                  <a:cubicBezTo>
                    <a:pt x="20894" y="566353"/>
                    <a:pt x="13661" y="563357"/>
                    <a:pt x="8329" y="558024"/>
                  </a:cubicBezTo>
                  <a:cubicBezTo>
                    <a:pt x="2996" y="552691"/>
                    <a:pt x="0" y="545459"/>
                    <a:pt x="0" y="537917"/>
                  </a:cubicBezTo>
                  <a:lnTo>
                    <a:pt x="0" y="28436"/>
                  </a:lnTo>
                  <a:cubicBezTo>
                    <a:pt x="0" y="20894"/>
                    <a:pt x="2996" y="13661"/>
                    <a:pt x="8329" y="8329"/>
                  </a:cubicBezTo>
                  <a:cubicBezTo>
                    <a:pt x="13661" y="2996"/>
                    <a:pt x="20894" y="0"/>
                    <a:pt x="28436" y="0"/>
                  </a:cubicBezTo>
                  <a:close/>
                </a:path>
              </a:pathLst>
            </a:custGeom>
            <a:solidFill>
              <a:srgbClr val="FFFFFF"/>
            </a:solidFill>
            <a:ln w="9525" cap="rnd">
              <a:solidFill>
                <a:srgbClr val="000000"/>
              </a:solidFill>
              <a:prstDash val="solid"/>
              <a:round/>
            </a:ln>
          </p:spPr>
        </p:sp>
        <p:sp>
          <p:nvSpPr>
            <p:cNvPr name="TextBox 11" id="11"/>
            <p:cNvSpPr txBox="true"/>
            <p:nvPr/>
          </p:nvSpPr>
          <p:spPr>
            <a:xfrm>
              <a:off x="0" y="-47625"/>
              <a:ext cx="833592" cy="613978"/>
            </a:xfrm>
            <a:prstGeom prst="rect">
              <a:avLst/>
            </a:prstGeom>
          </p:spPr>
          <p:txBody>
            <a:bodyPr anchor="ctr" rtlCol="false" tIns="50800" lIns="50800" bIns="50800" rIns="50800"/>
            <a:lstStyle/>
            <a:p>
              <a:pPr algn="ctr">
                <a:lnSpc>
                  <a:spcPts val="3499"/>
                </a:lnSpc>
              </a:pPr>
              <a:r>
                <a:rPr lang="en-US" sz="2499" b="true">
                  <a:solidFill>
                    <a:srgbClr val="813DF9"/>
                  </a:solidFill>
                  <a:latin typeface="Open Sans Bold"/>
                  <a:ea typeface="Open Sans Bold"/>
                  <a:cs typeface="Open Sans Bold"/>
                  <a:sym typeface="Open Sans Bold"/>
                </a:rPr>
                <a:t>Alta Fricción y Abandono</a:t>
              </a:r>
            </a:p>
            <a:p>
              <a:pPr algn="ctr">
                <a:lnSpc>
                  <a:spcPts val="3499"/>
                </a:lnSpc>
              </a:pPr>
            </a:p>
            <a:p>
              <a:pPr algn="ctr">
                <a:lnSpc>
                  <a:spcPts val="3499"/>
                </a:lnSpc>
              </a:pPr>
              <a:r>
                <a:rPr lang="en-US" sz="2499">
                  <a:solidFill>
                    <a:srgbClr val="000000"/>
                  </a:solidFill>
                  <a:latin typeface="Open Sans"/>
                  <a:ea typeface="Open Sans"/>
                  <a:cs typeface="Open Sans"/>
                  <a:sym typeface="Open Sans"/>
                </a:rPr>
                <a:t>Las aplicaciones tradicionales o planillas de Excel exigen demasiado tiempo y esfuerzo manual, llevando al usuario a abandonar la organización.</a:t>
              </a:r>
            </a:p>
          </p:txBody>
        </p:sp>
      </p:grpSp>
      <p:grpSp>
        <p:nvGrpSpPr>
          <p:cNvPr name="Group 12" id="12"/>
          <p:cNvGrpSpPr/>
          <p:nvPr/>
        </p:nvGrpSpPr>
        <p:grpSpPr>
          <a:xfrm rot="0">
            <a:off x="3008630" y="6190352"/>
            <a:ext cx="5569669" cy="3333750"/>
            <a:chOff x="0" y="0"/>
            <a:chExt cx="873112" cy="522605"/>
          </a:xfrm>
        </p:grpSpPr>
        <p:sp>
          <p:nvSpPr>
            <p:cNvPr name="Freeform 13" id="13"/>
            <p:cNvSpPr/>
            <p:nvPr/>
          </p:nvSpPr>
          <p:spPr>
            <a:xfrm flipH="false" flipV="false" rot="0">
              <a:off x="0" y="0"/>
              <a:ext cx="873112" cy="522605"/>
            </a:xfrm>
            <a:custGeom>
              <a:avLst/>
              <a:gdLst/>
              <a:ahLst/>
              <a:cxnLst/>
              <a:rect r="r" b="b" t="t" l="l"/>
              <a:pathLst>
                <a:path h="522605" w="873112">
                  <a:moveTo>
                    <a:pt x="27149" y="0"/>
                  </a:moveTo>
                  <a:lnTo>
                    <a:pt x="845963" y="0"/>
                  </a:lnTo>
                  <a:cubicBezTo>
                    <a:pt x="853164" y="0"/>
                    <a:pt x="860069" y="2860"/>
                    <a:pt x="865161" y="7952"/>
                  </a:cubicBezTo>
                  <a:cubicBezTo>
                    <a:pt x="870252" y="13043"/>
                    <a:pt x="873112" y="19948"/>
                    <a:pt x="873112" y="27149"/>
                  </a:cubicBezTo>
                  <a:lnTo>
                    <a:pt x="873112" y="495456"/>
                  </a:lnTo>
                  <a:cubicBezTo>
                    <a:pt x="873112" y="502657"/>
                    <a:pt x="870252" y="509562"/>
                    <a:pt x="865161" y="514653"/>
                  </a:cubicBezTo>
                  <a:cubicBezTo>
                    <a:pt x="860069" y="519745"/>
                    <a:pt x="853164" y="522605"/>
                    <a:pt x="845963" y="522605"/>
                  </a:cubicBezTo>
                  <a:lnTo>
                    <a:pt x="27149" y="522605"/>
                  </a:lnTo>
                  <a:cubicBezTo>
                    <a:pt x="19948" y="522605"/>
                    <a:pt x="13043" y="519745"/>
                    <a:pt x="7952" y="514653"/>
                  </a:cubicBezTo>
                  <a:cubicBezTo>
                    <a:pt x="2860" y="509562"/>
                    <a:pt x="0" y="502657"/>
                    <a:pt x="0" y="495456"/>
                  </a:cubicBezTo>
                  <a:lnTo>
                    <a:pt x="0" y="27149"/>
                  </a:lnTo>
                  <a:cubicBezTo>
                    <a:pt x="0" y="19948"/>
                    <a:pt x="2860" y="13043"/>
                    <a:pt x="7952" y="7952"/>
                  </a:cubicBezTo>
                  <a:cubicBezTo>
                    <a:pt x="13043" y="2860"/>
                    <a:pt x="19948" y="0"/>
                    <a:pt x="27149" y="0"/>
                  </a:cubicBezTo>
                  <a:close/>
                </a:path>
              </a:pathLst>
            </a:custGeom>
            <a:solidFill>
              <a:srgbClr val="FFFFFF"/>
            </a:solidFill>
            <a:ln w="9525" cap="rnd">
              <a:solidFill>
                <a:srgbClr val="000000"/>
              </a:solidFill>
              <a:prstDash val="solid"/>
              <a:round/>
            </a:ln>
          </p:spPr>
        </p:sp>
        <p:sp>
          <p:nvSpPr>
            <p:cNvPr name="TextBox 14" id="14"/>
            <p:cNvSpPr txBox="true"/>
            <p:nvPr/>
          </p:nvSpPr>
          <p:spPr>
            <a:xfrm>
              <a:off x="0" y="-57150"/>
              <a:ext cx="873112" cy="579755"/>
            </a:xfrm>
            <a:prstGeom prst="rect">
              <a:avLst/>
            </a:prstGeom>
          </p:spPr>
          <p:txBody>
            <a:bodyPr anchor="ctr" rtlCol="false" tIns="50800" lIns="50800" bIns="50800" rIns="50800"/>
            <a:lstStyle/>
            <a:p>
              <a:pPr algn="ctr">
                <a:lnSpc>
                  <a:spcPts val="3639"/>
                </a:lnSpc>
              </a:pPr>
              <a:r>
                <a:rPr lang="en-US" sz="2599" b="true">
                  <a:solidFill>
                    <a:srgbClr val="813DF9"/>
                  </a:solidFill>
                  <a:latin typeface="Open Sans Bold"/>
                  <a:ea typeface="Open Sans Bold"/>
                  <a:cs typeface="Open Sans Bold"/>
                  <a:sym typeface="Open Sans Bold"/>
                </a:rPr>
                <a:t>Falta de Vista Centralizada</a:t>
              </a:r>
            </a:p>
            <a:p>
              <a:pPr algn="ctr">
                <a:lnSpc>
                  <a:spcPts val="3639"/>
                </a:lnSpc>
              </a:pPr>
            </a:p>
            <a:p>
              <a:pPr algn="ctr">
                <a:lnSpc>
                  <a:spcPts val="3639"/>
                </a:lnSpc>
              </a:pPr>
              <a:r>
                <a:rPr lang="en-US" sz="2599">
                  <a:solidFill>
                    <a:srgbClr val="000000"/>
                  </a:solidFill>
                  <a:latin typeface="Open Sans"/>
                  <a:ea typeface="Open Sans"/>
                  <a:cs typeface="Open Sans"/>
                  <a:sym typeface="Open Sans"/>
                </a:rPr>
                <a:t>Fragmentación del dinero entre múltiples bancos y efectivo, lo que dificulta consolidar ingresos y egresos en un solo lugar.</a:t>
              </a:r>
            </a:p>
          </p:txBody>
        </p:sp>
      </p:grpSp>
      <p:grpSp>
        <p:nvGrpSpPr>
          <p:cNvPr name="Group 15" id="15"/>
          <p:cNvGrpSpPr/>
          <p:nvPr/>
        </p:nvGrpSpPr>
        <p:grpSpPr>
          <a:xfrm rot="0">
            <a:off x="9144000" y="6437844"/>
            <a:ext cx="6050951" cy="2838766"/>
            <a:chOff x="0" y="0"/>
            <a:chExt cx="948559" cy="445011"/>
          </a:xfrm>
        </p:grpSpPr>
        <p:sp>
          <p:nvSpPr>
            <p:cNvPr name="Freeform 16" id="16"/>
            <p:cNvSpPr/>
            <p:nvPr/>
          </p:nvSpPr>
          <p:spPr>
            <a:xfrm flipH="false" flipV="false" rot="0">
              <a:off x="0" y="0"/>
              <a:ext cx="948559" cy="445011"/>
            </a:xfrm>
            <a:custGeom>
              <a:avLst/>
              <a:gdLst/>
              <a:ahLst/>
              <a:cxnLst/>
              <a:rect r="r" b="b" t="t" l="l"/>
              <a:pathLst>
                <a:path h="445011" w="948559">
                  <a:moveTo>
                    <a:pt x="24989" y="0"/>
                  </a:moveTo>
                  <a:lnTo>
                    <a:pt x="923569" y="0"/>
                  </a:lnTo>
                  <a:cubicBezTo>
                    <a:pt x="930197" y="0"/>
                    <a:pt x="936553" y="2633"/>
                    <a:pt x="941240" y="7319"/>
                  </a:cubicBezTo>
                  <a:cubicBezTo>
                    <a:pt x="945926" y="12006"/>
                    <a:pt x="948559" y="18362"/>
                    <a:pt x="948559" y="24989"/>
                  </a:cubicBezTo>
                  <a:lnTo>
                    <a:pt x="948559" y="420021"/>
                  </a:lnTo>
                  <a:cubicBezTo>
                    <a:pt x="948559" y="433822"/>
                    <a:pt x="937371" y="445011"/>
                    <a:pt x="923569" y="445011"/>
                  </a:cubicBezTo>
                  <a:lnTo>
                    <a:pt x="24989" y="445011"/>
                  </a:lnTo>
                  <a:cubicBezTo>
                    <a:pt x="18362" y="445011"/>
                    <a:pt x="12006" y="442378"/>
                    <a:pt x="7319" y="437691"/>
                  </a:cubicBezTo>
                  <a:cubicBezTo>
                    <a:pt x="2633" y="433005"/>
                    <a:pt x="0" y="426649"/>
                    <a:pt x="0" y="420021"/>
                  </a:cubicBezTo>
                  <a:lnTo>
                    <a:pt x="0" y="24989"/>
                  </a:lnTo>
                  <a:cubicBezTo>
                    <a:pt x="0" y="18362"/>
                    <a:pt x="2633" y="12006"/>
                    <a:pt x="7319" y="7319"/>
                  </a:cubicBezTo>
                  <a:cubicBezTo>
                    <a:pt x="12006" y="2633"/>
                    <a:pt x="18362" y="0"/>
                    <a:pt x="24989" y="0"/>
                  </a:cubicBezTo>
                  <a:close/>
                </a:path>
              </a:pathLst>
            </a:custGeom>
            <a:solidFill>
              <a:srgbClr val="FFFFFF"/>
            </a:solidFill>
            <a:ln w="9525" cap="rnd">
              <a:solidFill>
                <a:srgbClr val="000000"/>
              </a:solidFill>
              <a:prstDash val="solid"/>
              <a:round/>
            </a:ln>
          </p:spPr>
        </p:sp>
        <p:sp>
          <p:nvSpPr>
            <p:cNvPr name="TextBox 17" id="17"/>
            <p:cNvSpPr txBox="true"/>
            <p:nvPr/>
          </p:nvSpPr>
          <p:spPr>
            <a:xfrm>
              <a:off x="0" y="-47625"/>
              <a:ext cx="948559" cy="492636"/>
            </a:xfrm>
            <a:prstGeom prst="rect">
              <a:avLst/>
            </a:prstGeom>
          </p:spPr>
          <p:txBody>
            <a:bodyPr anchor="ctr" rtlCol="false" tIns="50800" lIns="50800" bIns="50800" rIns="50800"/>
            <a:lstStyle/>
            <a:p>
              <a:pPr algn="ctr">
                <a:lnSpc>
                  <a:spcPts val="3499"/>
                </a:lnSpc>
              </a:pPr>
              <a:r>
                <a:rPr lang="en-US" sz="2499" b="true">
                  <a:solidFill>
                    <a:srgbClr val="813DF9"/>
                  </a:solidFill>
                  <a:latin typeface="Open Sans Bold"/>
                  <a:ea typeface="Open Sans Bold"/>
                  <a:cs typeface="Open Sans Bold"/>
                  <a:sym typeface="Open Sans Bold"/>
                </a:rPr>
                <a:t>Sorpresas a Fin de Mes</a:t>
              </a:r>
            </a:p>
            <a:p>
              <a:pPr algn="ctr">
                <a:lnSpc>
                  <a:spcPts val="3499"/>
                </a:lnSpc>
              </a:pPr>
            </a:p>
            <a:p>
              <a:pPr algn="ctr">
                <a:lnSpc>
                  <a:spcPts val="3499"/>
                </a:lnSpc>
              </a:pPr>
              <a:r>
                <a:rPr lang="en-US" sz="2499">
                  <a:solidFill>
                    <a:srgbClr val="000000"/>
                  </a:solidFill>
                  <a:latin typeface="Open Sans"/>
                  <a:ea typeface="Open Sans"/>
                  <a:cs typeface="Open Sans"/>
                  <a:sym typeface="Open Sans"/>
                </a:rPr>
                <a:t>Ausencia de alertas preventivas antes de sobrepasar un presupuesto o quedar con saldo en cero.</a:t>
              </a:r>
            </a:p>
          </p:txBody>
        </p:sp>
      </p:grpSp>
      <p:sp>
        <p:nvSpPr>
          <p:cNvPr name="TextBox 18" id="18"/>
          <p:cNvSpPr txBox="true"/>
          <p:nvPr/>
        </p:nvSpPr>
        <p:spPr>
          <a:xfrm rot="0">
            <a:off x="2362521" y="1338609"/>
            <a:ext cx="14232849" cy="771525"/>
          </a:xfrm>
          <a:prstGeom prst="rect">
            <a:avLst/>
          </a:prstGeom>
        </p:spPr>
        <p:txBody>
          <a:bodyPr anchor="t" rtlCol="false" tIns="0" lIns="0" bIns="0" rIns="0">
            <a:spAutoFit/>
          </a:bodyPr>
          <a:lstStyle/>
          <a:p>
            <a:pPr algn="ctr" marL="0" indent="0" lvl="0">
              <a:lnSpc>
                <a:spcPts val="6300"/>
              </a:lnSpc>
              <a:spcBef>
                <a:spcPct val="0"/>
              </a:spcBef>
            </a:pPr>
            <a:r>
              <a:rPr lang="en-US" b="true" sz="4500">
                <a:solidFill>
                  <a:srgbClr val="000000"/>
                </a:solidFill>
                <a:latin typeface="Open Sans Bold"/>
                <a:ea typeface="Open Sans Bold"/>
                <a:cs typeface="Open Sans Bold"/>
                <a:sym typeface="Open Sans Bold"/>
              </a:rPr>
              <a:t>‘’</a:t>
            </a:r>
            <a:r>
              <a:rPr lang="en-US" b="true" sz="4500" strike="noStrike" u="none">
                <a:solidFill>
                  <a:srgbClr val="000000"/>
                </a:solidFill>
                <a:latin typeface="Open Sans Bold"/>
                <a:ea typeface="Open Sans Bold"/>
                <a:cs typeface="Open Sans Bold"/>
                <a:sym typeface="Open Sans Bold"/>
              </a:rPr>
              <a:t>Visibilidad Limitada en las Finanzas Personales</a:t>
            </a:r>
            <a:r>
              <a:rPr lang="en-US" b="true" sz="4500" strike="noStrike" u="none">
                <a:solidFill>
                  <a:srgbClr val="000000"/>
                </a:solidFill>
                <a:latin typeface="Open Sans Bold"/>
                <a:ea typeface="Open Sans Bold"/>
                <a:cs typeface="Open Sans Bold"/>
                <a:sym typeface="Open Sans Bold"/>
              </a:rPr>
              <a:t>’’</a:t>
            </a:r>
          </a:p>
        </p:txBody>
      </p:sp>
      <p:sp>
        <p:nvSpPr>
          <p:cNvPr name="AutoShape 19" id="19"/>
          <p:cNvSpPr/>
          <p:nvPr/>
        </p:nvSpPr>
        <p:spPr>
          <a:xfrm>
            <a:off x="2718930" y="737860"/>
            <a:ext cx="18098098" cy="0"/>
          </a:xfrm>
          <a:prstGeom prst="line">
            <a:avLst/>
          </a:prstGeom>
          <a:ln cap="flat" w="19050">
            <a:solidFill>
              <a:srgbClr val="000000"/>
            </a:solidFill>
            <a:prstDash val="solid"/>
            <a:headEnd type="none" len="sm" w="sm"/>
            <a:tailEnd type="none" len="sm" w="sm"/>
          </a:ln>
        </p:spPr>
      </p:sp>
    </p:spTree>
  </p:cSld>
  <p:clrMapOvr>
    <a:masterClrMapping/>
  </p:clrMapOvr>
  <p:transition spd="fast">
    <p:cover dir="l"/>
  </p:transition>
</p:sld>
</file>

<file path=ppt/slides/slide5.xml><?xml version="1.0" encoding="utf-8"?>
<p:sld xmlns:p="http://schemas.openxmlformats.org/presentationml/2006/main" xmlns:a="http://schemas.openxmlformats.org/drawingml/2006/main">
  <p:cSld>
    <p:bg>
      <p:bgPr>
        <a:solidFill>
          <a:srgbClr val="F2F2F7"/>
        </a:solidFill>
      </p:bgPr>
    </p:bg>
    <p:spTree>
      <p:nvGrpSpPr>
        <p:cNvPr id="1" name=""/>
        <p:cNvGrpSpPr/>
        <p:nvPr/>
      </p:nvGrpSpPr>
      <p:grpSpPr>
        <a:xfrm>
          <a:off x="0" y="0"/>
          <a:ext cx="0" cy="0"/>
          <a:chOff x="0" y="0"/>
          <a:chExt cx="0" cy="0"/>
        </a:xfrm>
      </p:grpSpPr>
      <p:sp>
        <p:nvSpPr>
          <p:cNvPr name="AutoShape 2" id="2"/>
          <p:cNvSpPr/>
          <p:nvPr/>
        </p:nvSpPr>
        <p:spPr>
          <a:xfrm>
            <a:off x="-2288541" y="629929"/>
            <a:ext cx="17507197" cy="6055"/>
          </a:xfrm>
          <a:prstGeom prst="line">
            <a:avLst/>
          </a:prstGeom>
          <a:ln cap="flat" w="19050">
            <a:solidFill>
              <a:srgbClr val="000000"/>
            </a:solidFill>
            <a:prstDash val="solid"/>
            <a:headEnd type="none" len="sm" w="sm"/>
            <a:tailEnd type="none" len="sm" w="sm"/>
          </a:ln>
        </p:spPr>
      </p:sp>
      <p:sp>
        <p:nvSpPr>
          <p:cNvPr name="TextBox 3" id="3"/>
          <p:cNvSpPr txBox="true"/>
          <p:nvPr/>
        </p:nvSpPr>
        <p:spPr>
          <a:xfrm rot="0">
            <a:off x="15412639" y="350234"/>
            <a:ext cx="2440231" cy="514349"/>
          </a:xfrm>
          <a:prstGeom prst="rect">
            <a:avLst/>
          </a:prstGeom>
        </p:spPr>
        <p:txBody>
          <a:bodyPr anchor="t" rtlCol="false" tIns="0" lIns="0" bIns="0" rIns="0">
            <a:spAutoFit/>
          </a:bodyPr>
          <a:lstStyle/>
          <a:p>
            <a:pPr algn="ctr" marL="0" indent="0" lvl="0">
              <a:lnSpc>
                <a:spcPts val="4200"/>
              </a:lnSpc>
              <a:spcBef>
                <a:spcPct val="0"/>
              </a:spcBef>
            </a:pPr>
            <a:r>
              <a:rPr lang="en-US" b="true" sz="3000">
                <a:solidFill>
                  <a:srgbClr val="813DF9"/>
                </a:solidFill>
                <a:latin typeface="Open Sans Bold"/>
                <a:ea typeface="Open Sans Bold"/>
                <a:cs typeface="Open Sans Bold"/>
                <a:sym typeface="Open Sans Bold"/>
              </a:rPr>
              <a:t>3 N</a:t>
            </a:r>
            <a:r>
              <a:rPr lang="en-US" b="true" sz="3000" strike="noStrike" u="none">
                <a:solidFill>
                  <a:srgbClr val="813DF9"/>
                </a:solidFill>
                <a:latin typeface="Open Sans Bold"/>
                <a:ea typeface="Open Sans Bold"/>
                <a:cs typeface="Open Sans Bold"/>
                <a:sym typeface="Open Sans Bold"/>
              </a:rPr>
              <a:t>e</a:t>
            </a:r>
            <a:r>
              <a:rPr lang="en-US" b="true" sz="3000" strike="noStrike" u="none">
                <a:solidFill>
                  <a:srgbClr val="813DF9"/>
                </a:solidFill>
                <a:latin typeface="Open Sans Bold"/>
                <a:ea typeface="Open Sans Bold"/>
                <a:cs typeface="Open Sans Bold"/>
                <a:sym typeface="Open Sans Bold"/>
              </a:rPr>
              <a:t>cesidad</a:t>
            </a:r>
          </a:p>
        </p:txBody>
      </p:sp>
      <p:grpSp>
        <p:nvGrpSpPr>
          <p:cNvPr name="Group 4" id="4"/>
          <p:cNvGrpSpPr/>
          <p:nvPr/>
        </p:nvGrpSpPr>
        <p:grpSpPr>
          <a:xfrm rot="0">
            <a:off x="2663999" y="1914872"/>
            <a:ext cx="5819780" cy="3571875"/>
            <a:chOff x="0" y="0"/>
            <a:chExt cx="912320" cy="559934"/>
          </a:xfrm>
        </p:grpSpPr>
        <p:sp>
          <p:nvSpPr>
            <p:cNvPr name="Freeform 5" id="5"/>
            <p:cNvSpPr/>
            <p:nvPr/>
          </p:nvSpPr>
          <p:spPr>
            <a:xfrm flipH="false" flipV="false" rot="0">
              <a:off x="0" y="0"/>
              <a:ext cx="912320" cy="559934"/>
            </a:xfrm>
            <a:custGeom>
              <a:avLst/>
              <a:gdLst/>
              <a:ahLst/>
              <a:cxnLst/>
              <a:rect r="r" b="b" t="t" l="l"/>
              <a:pathLst>
                <a:path h="559934" w="912320">
                  <a:moveTo>
                    <a:pt x="25982" y="0"/>
                  </a:moveTo>
                  <a:lnTo>
                    <a:pt x="886338" y="0"/>
                  </a:lnTo>
                  <a:cubicBezTo>
                    <a:pt x="893229" y="0"/>
                    <a:pt x="899838" y="2737"/>
                    <a:pt x="904710" y="7610"/>
                  </a:cubicBezTo>
                  <a:cubicBezTo>
                    <a:pt x="909583" y="12483"/>
                    <a:pt x="912320" y="19091"/>
                    <a:pt x="912320" y="25982"/>
                  </a:cubicBezTo>
                  <a:lnTo>
                    <a:pt x="912320" y="533952"/>
                  </a:lnTo>
                  <a:cubicBezTo>
                    <a:pt x="912320" y="540843"/>
                    <a:pt x="909583" y="547452"/>
                    <a:pt x="904710" y="552324"/>
                  </a:cubicBezTo>
                  <a:cubicBezTo>
                    <a:pt x="899838" y="557197"/>
                    <a:pt x="893229" y="559934"/>
                    <a:pt x="886338" y="559934"/>
                  </a:cubicBezTo>
                  <a:lnTo>
                    <a:pt x="25982" y="559934"/>
                  </a:lnTo>
                  <a:cubicBezTo>
                    <a:pt x="19091" y="559934"/>
                    <a:pt x="12483" y="557197"/>
                    <a:pt x="7610" y="552324"/>
                  </a:cubicBezTo>
                  <a:cubicBezTo>
                    <a:pt x="2737" y="547452"/>
                    <a:pt x="0" y="540843"/>
                    <a:pt x="0" y="533952"/>
                  </a:cubicBezTo>
                  <a:lnTo>
                    <a:pt x="0" y="25982"/>
                  </a:lnTo>
                  <a:cubicBezTo>
                    <a:pt x="0" y="19091"/>
                    <a:pt x="2737" y="12483"/>
                    <a:pt x="7610" y="7610"/>
                  </a:cubicBezTo>
                  <a:cubicBezTo>
                    <a:pt x="12483" y="2737"/>
                    <a:pt x="19091" y="0"/>
                    <a:pt x="25982" y="0"/>
                  </a:cubicBezTo>
                  <a:close/>
                </a:path>
              </a:pathLst>
            </a:custGeom>
            <a:solidFill>
              <a:srgbClr val="FFFFFF"/>
            </a:solidFill>
            <a:ln w="9525" cap="rnd">
              <a:solidFill>
                <a:srgbClr val="000000"/>
              </a:solidFill>
              <a:prstDash val="solid"/>
              <a:round/>
            </a:ln>
          </p:spPr>
        </p:sp>
        <p:sp>
          <p:nvSpPr>
            <p:cNvPr name="TextBox 6" id="6"/>
            <p:cNvSpPr txBox="true"/>
            <p:nvPr/>
          </p:nvSpPr>
          <p:spPr>
            <a:xfrm>
              <a:off x="0" y="-47625"/>
              <a:ext cx="912320" cy="607559"/>
            </a:xfrm>
            <a:prstGeom prst="rect">
              <a:avLst/>
            </a:prstGeom>
          </p:spPr>
          <p:txBody>
            <a:bodyPr anchor="ctr" rtlCol="false" tIns="50800" lIns="50800" bIns="50800" rIns="50800"/>
            <a:lstStyle/>
            <a:p>
              <a:pPr algn="ctr">
                <a:lnSpc>
                  <a:spcPts val="4199"/>
                </a:lnSpc>
              </a:pPr>
              <a:r>
                <a:rPr lang="en-US" sz="2999" b="true">
                  <a:solidFill>
                    <a:srgbClr val="813DF9"/>
                  </a:solidFill>
                  <a:latin typeface="Open Sans Bold"/>
                  <a:ea typeface="Open Sans Bold"/>
                  <a:cs typeface="Open Sans Bold"/>
                  <a:sym typeface="Open Sans Bold"/>
                </a:rPr>
                <a:t>Organización Integral Simple </a:t>
              </a:r>
            </a:p>
            <a:p>
              <a:pPr algn="ctr">
                <a:lnSpc>
                  <a:spcPts val="3499"/>
                </a:lnSpc>
              </a:pPr>
            </a:p>
            <a:p>
              <a:pPr algn="ctr">
                <a:lnSpc>
                  <a:spcPts val="3499"/>
                </a:lnSpc>
              </a:pPr>
              <a:r>
                <a:rPr lang="en-US" sz="2499">
                  <a:solidFill>
                    <a:srgbClr val="000000"/>
                  </a:solidFill>
                  <a:latin typeface="Open Sans"/>
                  <a:ea typeface="Open Sans"/>
                  <a:cs typeface="Open Sans"/>
                  <a:sym typeface="Open Sans"/>
                </a:rPr>
                <a:t>Gestionar en un solo lugar Billetera (efectivo/cuentas), Tarjetas de Crédito, Presupuestos por categoría y Metas de ahorro.</a:t>
              </a:r>
            </a:p>
          </p:txBody>
        </p:sp>
      </p:grpSp>
      <p:grpSp>
        <p:nvGrpSpPr>
          <p:cNvPr name="Group 7" id="7"/>
          <p:cNvGrpSpPr/>
          <p:nvPr/>
        </p:nvGrpSpPr>
        <p:grpSpPr>
          <a:xfrm rot="0">
            <a:off x="10147126" y="1914872"/>
            <a:ext cx="5672821" cy="3571875"/>
            <a:chOff x="0" y="0"/>
            <a:chExt cx="889282" cy="559934"/>
          </a:xfrm>
        </p:grpSpPr>
        <p:sp>
          <p:nvSpPr>
            <p:cNvPr name="Freeform 8" id="8"/>
            <p:cNvSpPr/>
            <p:nvPr/>
          </p:nvSpPr>
          <p:spPr>
            <a:xfrm flipH="false" flipV="false" rot="0">
              <a:off x="0" y="0"/>
              <a:ext cx="889282" cy="559934"/>
            </a:xfrm>
            <a:custGeom>
              <a:avLst/>
              <a:gdLst/>
              <a:ahLst/>
              <a:cxnLst/>
              <a:rect r="r" b="b" t="t" l="l"/>
              <a:pathLst>
                <a:path h="559934" w="889282">
                  <a:moveTo>
                    <a:pt x="26655" y="0"/>
                  </a:moveTo>
                  <a:lnTo>
                    <a:pt x="862627" y="0"/>
                  </a:lnTo>
                  <a:cubicBezTo>
                    <a:pt x="869697" y="0"/>
                    <a:pt x="876477" y="2808"/>
                    <a:pt x="881475" y="7807"/>
                  </a:cubicBezTo>
                  <a:cubicBezTo>
                    <a:pt x="886474" y="12806"/>
                    <a:pt x="889282" y="19586"/>
                    <a:pt x="889282" y="26655"/>
                  </a:cubicBezTo>
                  <a:lnTo>
                    <a:pt x="889282" y="533279"/>
                  </a:lnTo>
                  <a:cubicBezTo>
                    <a:pt x="889282" y="548000"/>
                    <a:pt x="877349" y="559934"/>
                    <a:pt x="862627" y="559934"/>
                  </a:cubicBezTo>
                  <a:lnTo>
                    <a:pt x="26655" y="559934"/>
                  </a:lnTo>
                  <a:cubicBezTo>
                    <a:pt x="11934" y="559934"/>
                    <a:pt x="0" y="548000"/>
                    <a:pt x="0" y="533279"/>
                  </a:cubicBezTo>
                  <a:lnTo>
                    <a:pt x="0" y="26655"/>
                  </a:lnTo>
                  <a:cubicBezTo>
                    <a:pt x="0" y="11934"/>
                    <a:pt x="11934" y="0"/>
                    <a:pt x="26655" y="0"/>
                  </a:cubicBezTo>
                  <a:close/>
                </a:path>
              </a:pathLst>
            </a:custGeom>
            <a:solidFill>
              <a:srgbClr val="FFFFFF"/>
            </a:solidFill>
            <a:ln w="9525" cap="rnd">
              <a:solidFill>
                <a:srgbClr val="000000"/>
              </a:solidFill>
              <a:prstDash val="solid"/>
              <a:round/>
            </a:ln>
          </p:spPr>
        </p:sp>
        <p:sp>
          <p:nvSpPr>
            <p:cNvPr name="TextBox 9" id="9"/>
            <p:cNvSpPr txBox="true"/>
            <p:nvPr/>
          </p:nvSpPr>
          <p:spPr>
            <a:xfrm>
              <a:off x="0" y="-47625"/>
              <a:ext cx="889282" cy="607559"/>
            </a:xfrm>
            <a:prstGeom prst="rect">
              <a:avLst/>
            </a:prstGeom>
          </p:spPr>
          <p:txBody>
            <a:bodyPr anchor="ctr" rtlCol="false" tIns="50800" lIns="50800" bIns="50800" rIns="50800"/>
            <a:lstStyle/>
            <a:p>
              <a:pPr algn="ctr">
                <a:lnSpc>
                  <a:spcPts val="4199"/>
                </a:lnSpc>
              </a:pPr>
              <a:r>
                <a:rPr lang="en-US" sz="2999" b="true">
                  <a:solidFill>
                    <a:srgbClr val="813DF9"/>
                  </a:solidFill>
                  <a:latin typeface="Open Sans Bold"/>
                  <a:ea typeface="Open Sans Bold"/>
                  <a:cs typeface="Open Sans Bold"/>
                  <a:sym typeface="Open Sans Bold"/>
                </a:rPr>
                <a:t>Planificación Anticipada (Agenda Financiera) </a:t>
              </a:r>
            </a:p>
            <a:p>
              <a:pPr algn="ctr">
                <a:lnSpc>
                  <a:spcPts val="3499"/>
                </a:lnSpc>
              </a:pPr>
            </a:p>
            <a:p>
              <a:pPr algn="ctr">
                <a:lnSpc>
                  <a:spcPts val="3499"/>
                </a:lnSpc>
              </a:pPr>
              <a:r>
                <a:rPr lang="en-US" sz="2499">
                  <a:solidFill>
                    <a:srgbClr val="000000"/>
                  </a:solidFill>
                  <a:latin typeface="Open Sans"/>
                  <a:ea typeface="Open Sans"/>
                  <a:cs typeface="Open Sans"/>
                  <a:sym typeface="Open Sans"/>
                </a:rPr>
                <a:t>Un calendario claro para visualizar cuentas por pagar y cobros pendientes, permitiendo preparar el bolsillo para gastos futuros.</a:t>
              </a:r>
            </a:p>
          </p:txBody>
        </p:sp>
      </p:grpSp>
      <p:grpSp>
        <p:nvGrpSpPr>
          <p:cNvPr name="Group 10" id="10"/>
          <p:cNvGrpSpPr/>
          <p:nvPr/>
        </p:nvGrpSpPr>
        <p:grpSpPr>
          <a:xfrm rot="0">
            <a:off x="2663999" y="5686425"/>
            <a:ext cx="5819780" cy="3571875"/>
            <a:chOff x="0" y="0"/>
            <a:chExt cx="912320" cy="559934"/>
          </a:xfrm>
        </p:grpSpPr>
        <p:sp>
          <p:nvSpPr>
            <p:cNvPr name="Freeform 11" id="11"/>
            <p:cNvSpPr/>
            <p:nvPr/>
          </p:nvSpPr>
          <p:spPr>
            <a:xfrm flipH="false" flipV="false" rot="0">
              <a:off x="0" y="0"/>
              <a:ext cx="912320" cy="559934"/>
            </a:xfrm>
            <a:custGeom>
              <a:avLst/>
              <a:gdLst/>
              <a:ahLst/>
              <a:cxnLst/>
              <a:rect r="r" b="b" t="t" l="l"/>
              <a:pathLst>
                <a:path h="559934" w="912320">
                  <a:moveTo>
                    <a:pt x="25982" y="0"/>
                  </a:moveTo>
                  <a:lnTo>
                    <a:pt x="886338" y="0"/>
                  </a:lnTo>
                  <a:cubicBezTo>
                    <a:pt x="893229" y="0"/>
                    <a:pt x="899838" y="2737"/>
                    <a:pt x="904710" y="7610"/>
                  </a:cubicBezTo>
                  <a:cubicBezTo>
                    <a:pt x="909583" y="12483"/>
                    <a:pt x="912320" y="19091"/>
                    <a:pt x="912320" y="25982"/>
                  </a:cubicBezTo>
                  <a:lnTo>
                    <a:pt x="912320" y="533952"/>
                  </a:lnTo>
                  <a:cubicBezTo>
                    <a:pt x="912320" y="540843"/>
                    <a:pt x="909583" y="547452"/>
                    <a:pt x="904710" y="552324"/>
                  </a:cubicBezTo>
                  <a:cubicBezTo>
                    <a:pt x="899838" y="557197"/>
                    <a:pt x="893229" y="559934"/>
                    <a:pt x="886338" y="559934"/>
                  </a:cubicBezTo>
                  <a:lnTo>
                    <a:pt x="25982" y="559934"/>
                  </a:lnTo>
                  <a:cubicBezTo>
                    <a:pt x="19091" y="559934"/>
                    <a:pt x="12483" y="557197"/>
                    <a:pt x="7610" y="552324"/>
                  </a:cubicBezTo>
                  <a:cubicBezTo>
                    <a:pt x="2737" y="547452"/>
                    <a:pt x="0" y="540843"/>
                    <a:pt x="0" y="533952"/>
                  </a:cubicBezTo>
                  <a:lnTo>
                    <a:pt x="0" y="25982"/>
                  </a:lnTo>
                  <a:cubicBezTo>
                    <a:pt x="0" y="19091"/>
                    <a:pt x="2737" y="12483"/>
                    <a:pt x="7610" y="7610"/>
                  </a:cubicBezTo>
                  <a:cubicBezTo>
                    <a:pt x="12483" y="2737"/>
                    <a:pt x="19091" y="0"/>
                    <a:pt x="25982" y="0"/>
                  </a:cubicBezTo>
                  <a:close/>
                </a:path>
              </a:pathLst>
            </a:custGeom>
            <a:solidFill>
              <a:srgbClr val="FFFFFF"/>
            </a:solidFill>
            <a:ln w="9525" cap="rnd">
              <a:solidFill>
                <a:srgbClr val="000000"/>
              </a:solidFill>
              <a:prstDash val="solid"/>
              <a:round/>
            </a:ln>
          </p:spPr>
        </p:sp>
        <p:sp>
          <p:nvSpPr>
            <p:cNvPr name="TextBox 12" id="12"/>
            <p:cNvSpPr txBox="true"/>
            <p:nvPr/>
          </p:nvSpPr>
          <p:spPr>
            <a:xfrm>
              <a:off x="0" y="-47625"/>
              <a:ext cx="912320" cy="607559"/>
            </a:xfrm>
            <a:prstGeom prst="rect">
              <a:avLst/>
            </a:prstGeom>
          </p:spPr>
          <p:txBody>
            <a:bodyPr anchor="ctr" rtlCol="false" tIns="50800" lIns="50800" bIns="50800" rIns="50800"/>
            <a:lstStyle/>
            <a:p>
              <a:pPr algn="ctr">
                <a:lnSpc>
                  <a:spcPts val="4199"/>
                </a:lnSpc>
              </a:pPr>
              <a:r>
                <a:rPr lang="en-US" sz="2999" b="true">
                  <a:solidFill>
                    <a:srgbClr val="813DF9"/>
                  </a:solidFill>
                  <a:latin typeface="Open Sans Bold"/>
                  <a:ea typeface="Open Sans Bold"/>
                  <a:cs typeface="Open Sans Bold"/>
                  <a:sym typeface="Open Sans Bold"/>
                </a:rPr>
                <a:t>Visión de Disponibilidad Real </a:t>
              </a:r>
            </a:p>
            <a:p>
              <a:pPr algn="ctr">
                <a:lnSpc>
                  <a:spcPts val="3499"/>
                </a:lnSpc>
              </a:pPr>
            </a:p>
            <a:p>
              <a:pPr algn="ctr">
                <a:lnSpc>
                  <a:spcPts val="3499"/>
                </a:lnSpc>
              </a:pPr>
              <a:r>
                <a:rPr lang="en-US" sz="2499">
                  <a:solidFill>
                    <a:srgbClr val="000000"/>
                  </a:solidFill>
                  <a:latin typeface="Open Sans"/>
                  <a:ea typeface="Open Sans"/>
                  <a:cs typeface="Open Sans"/>
                  <a:sym typeface="Open Sans"/>
                </a:rPr>
                <a:t>Cálculo automático que muestra cuánto dinero se puede gastar realmente hoy (Saldo Total menos Gastos Pendientes de la Agenda).</a:t>
              </a:r>
            </a:p>
          </p:txBody>
        </p:sp>
      </p:grpSp>
      <p:grpSp>
        <p:nvGrpSpPr>
          <p:cNvPr name="Group 13" id="13"/>
          <p:cNvGrpSpPr/>
          <p:nvPr/>
        </p:nvGrpSpPr>
        <p:grpSpPr>
          <a:xfrm rot="0">
            <a:off x="10147126" y="5686425"/>
            <a:ext cx="5672821" cy="3571875"/>
            <a:chOff x="0" y="0"/>
            <a:chExt cx="889282" cy="559934"/>
          </a:xfrm>
        </p:grpSpPr>
        <p:sp>
          <p:nvSpPr>
            <p:cNvPr name="Freeform 14" id="14"/>
            <p:cNvSpPr/>
            <p:nvPr/>
          </p:nvSpPr>
          <p:spPr>
            <a:xfrm flipH="false" flipV="false" rot="0">
              <a:off x="0" y="0"/>
              <a:ext cx="889282" cy="559934"/>
            </a:xfrm>
            <a:custGeom>
              <a:avLst/>
              <a:gdLst/>
              <a:ahLst/>
              <a:cxnLst/>
              <a:rect r="r" b="b" t="t" l="l"/>
              <a:pathLst>
                <a:path h="559934" w="889282">
                  <a:moveTo>
                    <a:pt x="26655" y="0"/>
                  </a:moveTo>
                  <a:lnTo>
                    <a:pt x="862627" y="0"/>
                  </a:lnTo>
                  <a:cubicBezTo>
                    <a:pt x="869697" y="0"/>
                    <a:pt x="876477" y="2808"/>
                    <a:pt x="881475" y="7807"/>
                  </a:cubicBezTo>
                  <a:cubicBezTo>
                    <a:pt x="886474" y="12806"/>
                    <a:pt x="889282" y="19586"/>
                    <a:pt x="889282" y="26655"/>
                  </a:cubicBezTo>
                  <a:lnTo>
                    <a:pt x="889282" y="533279"/>
                  </a:lnTo>
                  <a:cubicBezTo>
                    <a:pt x="889282" y="548000"/>
                    <a:pt x="877349" y="559934"/>
                    <a:pt x="862627" y="559934"/>
                  </a:cubicBezTo>
                  <a:lnTo>
                    <a:pt x="26655" y="559934"/>
                  </a:lnTo>
                  <a:cubicBezTo>
                    <a:pt x="11934" y="559934"/>
                    <a:pt x="0" y="548000"/>
                    <a:pt x="0" y="533279"/>
                  </a:cubicBezTo>
                  <a:lnTo>
                    <a:pt x="0" y="26655"/>
                  </a:lnTo>
                  <a:cubicBezTo>
                    <a:pt x="0" y="11934"/>
                    <a:pt x="11934" y="0"/>
                    <a:pt x="26655" y="0"/>
                  </a:cubicBezTo>
                  <a:close/>
                </a:path>
              </a:pathLst>
            </a:custGeom>
            <a:solidFill>
              <a:srgbClr val="FFFFFF"/>
            </a:solidFill>
            <a:ln w="9525" cap="rnd">
              <a:solidFill>
                <a:srgbClr val="000000"/>
              </a:solidFill>
              <a:prstDash val="solid"/>
              <a:round/>
            </a:ln>
          </p:spPr>
        </p:sp>
        <p:sp>
          <p:nvSpPr>
            <p:cNvPr name="TextBox 15" id="15"/>
            <p:cNvSpPr txBox="true"/>
            <p:nvPr/>
          </p:nvSpPr>
          <p:spPr>
            <a:xfrm>
              <a:off x="0" y="-47625"/>
              <a:ext cx="889282" cy="607559"/>
            </a:xfrm>
            <a:prstGeom prst="rect">
              <a:avLst/>
            </a:prstGeom>
          </p:spPr>
          <p:txBody>
            <a:bodyPr anchor="ctr" rtlCol="false" tIns="50800" lIns="50800" bIns="50800" rIns="50800"/>
            <a:lstStyle/>
            <a:p>
              <a:pPr algn="ctr">
                <a:lnSpc>
                  <a:spcPts val="4199"/>
                </a:lnSpc>
              </a:pPr>
              <a:r>
                <a:rPr lang="en-US" sz="2999" b="true">
                  <a:solidFill>
                    <a:srgbClr val="813DF9"/>
                  </a:solidFill>
                  <a:latin typeface="Open Sans Bold"/>
                  <a:ea typeface="Open Sans Bold"/>
                  <a:cs typeface="Open Sans Bold"/>
                  <a:sym typeface="Open Sans Bold"/>
                </a:rPr>
                <a:t>Experiencia Ligera e Intuitiva</a:t>
              </a:r>
            </a:p>
            <a:p>
              <a:pPr algn="ctr">
                <a:lnSpc>
                  <a:spcPts val="3499"/>
                </a:lnSpc>
              </a:pPr>
            </a:p>
            <a:p>
              <a:pPr algn="ctr">
                <a:lnSpc>
                  <a:spcPts val="3499"/>
                </a:lnSpc>
              </a:pPr>
              <a:r>
                <a:rPr lang="en-US" sz="2499">
                  <a:solidFill>
                    <a:srgbClr val="000000"/>
                  </a:solidFill>
                  <a:latin typeface="Open Sans"/>
                  <a:ea typeface="Open Sans"/>
                  <a:cs typeface="Open Sans"/>
                  <a:sym typeface="Open Sans"/>
                </a:rPr>
                <a:t>Una aplicación PWA ágil, de acceso rápido y sin pasos innecesarios para facilitar el hábito diario del registro.</a:t>
              </a:r>
            </a:p>
          </p:txBody>
        </p:sp>
      </p:grpSp>
    </p:spTree>
  </p:cSld>
  <p:clrMapOvr>
    <a:masterClrMapping/>
  </p:clrMapOvr>
  <p:transition spd="fast">
    <p:cover dir="l"/>
  </p:transition>
</p:sld>
</file>

<file path=ppt/slides/slide6.xml><?xml version="1.0" encoding="utf-8"?>
<p:sld xmlns:p="http://schemas.openxmlformats.org/presentationml/2006/main" xmlns:a="http://schemas.openxmlformats.org/drawingml/2006/main">
  <p:cSld>
    <p:bg>
      <p:bgPr>
        <a:solidFill>
          <a:srgbClr val="F2F2F7"/>
        </a:solidFill>
      </p:bgPr>
    </p:bg>
    <p:spTree>
      <p:nvGrpSpPr>
        <p:cNvPr id="1" name=""/>
        <p:cNvGrpSpPr/>
        <p:nvPr/>
      </p:nvGrpSpPr>
      <p:grpSpPr>
        <a:xfrm>
          <a:off x="0" y="0"/>
          <a:ext cx="0" cy="0"/>
          <a:chOff x="0" y="0"/>
          <a:chExt cx="0" cy="0"/>
        </a:xfrm>
      </p:grpSpPr>
      <p:grpSp>
        <p:nvGrpSpPr>
          <p:cNvPr name="Group 2" id="2"/>
          <p:cNvGrpSpPr/>
          <p:nvPr/>
        </p:nvGrpSpPr>
        <p:grpSpPr>
          <a:xfrm rot="0">
            <a:off x="466720" y="7971667"/>
            <a:ext cx="17404895" cy="1666875"/>
            <a:chOff x="0" y="0"/>
            <a:chExt cx="3581254" cy="342978"/>
          </a:xfrm>
        </p:grpSpPr>
        <p:sp>
          <p:nvSpPr>
            <p:cNvPr name="Freeform 3" id="3"/>
            <p:cNvSpPr/>
            <p:nvPr/>
          </p:nvSpPr>
          <p:spPr>
            <a:xfrm flipH="false" flipV="false" rot="0">
              <a:off x="0" y="0"/>
              <a:ext cx="3581254" cy="342978"/>
            </a:xfrm>
            <a:custGeom>
              <a:avLst/>
              <a:gdLst/>
              <a:ahLst/>
              <a:cxnLst/>
              <a:rect r="r" b="b" t="t" l="l"/>
              <a:pathLst>
                <a:path h="342978" w="3581254">
                  <a:moveTo>
                    <a:pt x="8688" y="0"/>
                  </a:moveTo>
                  <a:lnTo>
                    <a:pt x="3572566" y="0"/>
                  </a:lnTo>
                  <a:cubicBezTo>
                    <a:pt x="3577365" y="0"/>
                    <a:pt x="3581254" y="3890"/>
                    <a:pt x="3581254" y="8688"/>
                  </a:cubicBezTo>
                  <a:lnTo>
                    <a:pt x="3581254" y="334291"/>
                  </a:lnTo>
                  <a:cubicBezTo>
                    <a:pt x="3581254" y="336595"/>
                    <a:pt x="3580339" y="338805"/>
                    <a:pt x="3578710" y="340434"/>
                  </a:cubicBezTo>
                  <a:cubicBezTo>
                    <a:pt x="3577080" y="342063"/>
                    <a:pt x="3574871" y="342978"/>
                    <a:pt x="3572566" y="342978"/>
                  </a:cubicBezTo>
                  <a:lnTo>
                    <a:pt x="8688" y="342978"/>
                  </a:lnTo>
                  <a:cubicBezTo>
                    <a:pt x="6384" y="342978"/>
                    <a:pt x="4174" y="342063"/>
                    <a:pt x="2545" y="340434"/>
                  </a:cubicBezTo>
                  <a:cubicBezTo>
                    <a:pt x="915" y="338805"/>
                    <a:pt x="0" y="336595"/>
                    <a:pt x="0" y="334291"/>
                  </a:cubicBezTo>
                  <a:lnTo>
                    <a:pt x="0" y="8688"/>
                  </a:lnTo>
                  <a:cubicBezTo>
                    <a:pt x="0" y="6384"/>
                    <a:pt x="915" y="4174"/>
                    <a:pt x="2545" y="2545"/>
                  </a:cubicBezTo>
                  <a:cubicBezTo>
                    <a:pt x="4174" y="915"/>
                    <a:pt x="6384" y="0"/>
                    <a:pt x="8688" y="0"/>
                  </a:cubicBezTo>
                  <a:close/>
                </a:path>
              </a:pathLst>
            </a:custGeom>
            <a:solidFill>
              <a:srgbClr val="FFFFFF"/>
            </a:solidFill>
            <a:ln w="9525" cap="rnd">
              <a:solidFill>
                <a:srgbClr val="7D58B2"/>
              </a:solidFill>
              <a:prstDash val="solid"/>
              <a:round/>
            </a:ln>
          </p:spPr>
        </p:sp>
        <p:sp>
          <p:nvSpPr>
            <p:cNvPr name="TextBox 4" id="4"/>
            <p:cNvSpPr txBox="true"/>
            <p:nvPr/>
          </p:nvSpPr>
          <p:spPr>
            <a:xfrm>
              <a:off x="0" y="-57150"/>
              <a:ext cx="3581254" cy="400128"/>
            </a:xfrm>
            <a:prstGeom prst="rect">
              <a:avLst/>
            </a:prstGeom>
          </p:spPr>
          <p:txBody>
            <a:bodyPr anchor="ctr" rtlCol="false" tIns="50800" lIns="50800" bIns="50800" rIns="50800"/>
            <a:lstStyle/>
            <a:p>
              <a:pPr algn="ctr" marL="0" indent="0" lvl="0">
                <a:lnSpc>
                  <a:spcPts val="3639"/>
                </a:lnSpc>
                <a:spcBef>
                  <a:spcPct val="0"/>
                </a:spcBef>
              </a:pPr>
              <a:r>
                <a:rPr lang="en-US" b="true" sz="2599" strike="noStrike" u="none">
                  <a:solidFill>
                    <a:srgbClr val="000000"/>
                  </a:solidFill>
                  <a:latin typeface="Open Sans Bold"/>
                  <a:ea typeface="Open Sans Bold"/>
                  <a:cs typeface="Open Sans Bold"/>
                  <a:sym typeface="Open Sans Bold"/>
                </a:rPr>
                <a:t>Kyo</a:t>
              </a:r>
              <a:r>
                <a:rPr lang="en-US" sz="2599" strike="noStrike" u="none">
                  <a:solidFill>
                    <a:srgbClr val="000000"/>
                  </a:solidFill>
                  <a:latin typeface="Open Sans"/>
                  <a:ea typeface="Open Sans"/>
                  <a:cs typeface="Open Sans"/>
                  <a:sym typeface="Open Sans"/>
                </a:rPr>
                <a:t> </a:t>
              </a:r>
              <a:r>
                <a:rPr lang="en-US" b="true" sz="2599" strike="noStrike" u="none">
                  <a:solidFill>
                    <a:srgbClr val="813DF9"/>
                  </a:solidFill>
                  <a:latin typeface="Open Sans Bold"/>
                  <a:ea typeface="Open Sans Bold"/>
                  <a:cs typeface="Open Sans Bold"/>
                  <a:sym typeface="Open Sans Bold"/>
                </a:rPr>
                <a:t>Vantage</a:t>
              </a:r>
              <a:r>
                <a:rPr lang="en-US" sz="2599" strike="noStrike" u="none">
                  <a:solidFill>
                    <a:srgbClr val="000000"/>
                  </a:solidFill>
                  <a:latin typeface="Open Sans"/>
                  <a:ea typeface="Open Sans"/>
                  <a:cs typeface="Open Sans"/>
                  <a:sym typeface="Open Sans"/>
                </a:rPr>
                <a:t> no busca restringir o juzgar el desempeño financiero del usuario, sino actuar como un copiloto que apoye su organización diaria, facilitando la prevención de sobreendeudamiento.</a:t>
              </a:r>
            </a:p>
          </p:txBody>
        </p:sp>
      </p:grpSp>
      <p:sp>
        <p:nvSpPr>
          <p:cNvPr name="TextBox 5" id="5"/>
          <p:cNvSpPr txBox="true"/>
          <p:nvPr/>
        </p:nvSpPr>
        <p:spPr>
          <a:xfrm rot="0">
            <a:off x="2000250" y="6094531"/>
            <a:ext cx="14287500" cy="1308099"/>
          </a:xfrm>
          <a:prstGeom prst="rect">
            <a:avLst/>
          </a:prstGeom>
        </p:spPr>
        <p:txBody>
          <a:bodyPr anchor="t" rtlCol="false" tIns="0" lIns="0" bIns="0" rIns="0">
            <a:spAutoFit/>
          </a:bodyPr>
          <a:lstStyle/>
          <a:p>
            <a:pPr algn="just">
              <a:lnSpc>
                <a:spcPts val="3500"/>
              </a:lnSpc>
            </a:pPr>
            <a:r>
              <a:rPr lang="en-US" sz="2500">
                <a:solidFill>
                  <a:srgbClr val="000000"/>
                </a:solidFill>
                <a:latin typeface="Open Sans"/>
                <a:ea typeface="Open Sans"/>
                <a:cs typeface="Open Sans"/>
                <a:sym typeface="Open Sans"/>
              </a:rPr>
              <a:t>Plataforma e PW</a:t>
            </a:r>
            <a:r>
              <a:rPr lang="en-US" sz="2500">
                <a:solidFill>
                  <a:srgbClr val="000000"/>
                </a:solidFill>
                <a:latin typeface="Open Sans"/>
                <a:ea typeface="Open Sans"/>
                <a:cs typeface="Open Sans"/>
                <a:sym typeface="Open Sans"/>
              </a:rPr>
              <a:t>A de gestión financiera diseñada para transformar la forma en que los usuarios organizan su dinero diario, combinando control de tarjetas, presupuestos y modelos de inteligencia financiera.</a:t>
            </a:r>
          </a:p>
        </p:txBody>
      </p:sp>
      <p:grpSp>
        <p:nvGrpSpPr>
          <p:cNvPr name="Group 6" id="6"/>
          <p:cNvGrpSpPr/>
          <p:nvPr/>
        </p:nvGrpSpPr>
        <p:grpSpPr>
          <a:xfrm rot="0">
            <a:off x="285745" y="571500"/>
            <a:ext cx="20136185" cy="457200"/>
            <a:chOff x="0" y="0"/>
            <a:chExt cx="26848247" cy="609600"/>
          </a:xfrm>
        </p:grpSpPr>
        <p:sp>
          <p:nvSpPr>
            <p:cNvPr name="TextBox 7" id="7"/>
            <p:cNvSpPr txBox="true"/>
            <p:nvPr/>
          </p:nvSpPr>
          <p:spPr>
            <a:xfrm rot="0">
              <a:off x="0" y="-57150"/>
              <a:ext cx="4687870" cy="666750"/>
            </a:xfrm>
            <a:prstGeom prst="rect">
              <a:avLst/>
            </a:prstGeom>
          </p:spPr>
          <p:txBody>
            <a:bodyPr anchor="t" rtlCol="false" tIns="0" lIns="0" bIns="0" rIns="0">
              <a:spAutoFit/>
            </a:bodyPr>
            <a:lstStyle/>
            <a:p>
              <a:pPr algn="l">
                <a:lnSpc>
                  <a:spcPts val="4200"/>
                </a:lnSpc>
              </a:pPr>
              <a:r>
                <a:rPr lang="en-US" sz="3000" b="true">
                  <a:solidFill>
                    <a:srgbClr val="813DF9"/>
                  </a:solidFill>
                  <a:latin typeface="Open Sans Bold"/>
                  <a:ea typeface="Open Sans Bold"/>
                  <a:cs typeface="Open Sans Bold"/>
                  <a:sym typeface="Open Sans Bold"/>
                </a:rPr>
                <a:t>4 Solución</a:t>
              </a:r>
            </a:p>
          </p:txBody>
        </p:sp>
        <p:sp>
          <p:nvSpPr>
            <p:cNvPr name="AutoShape 8" id="8"/>
            <p:cNvSpPr/>
            <p:nvPr/>
          </p:nvSpPr>
          <p:spPr>
            <a:xfrm>
              <a:off x="2717449" y="348263"/>
              <a:ext cx="24130798" cy="0"/>
            </a:xfrm>
            <a:prstGeom prst="line">
              <a:avLst/>
            </a:prstGeom>
            <a:ln cap="flat" w="25400">
              <a:solidFill>
                <a:srgbClr val="000000"/>
              </a:solidFill>
              <a:prstDash val="solid"/>
              <a:headEnd type="none" len="sm" w="sm"/>
              <a:tailEnd type="none" len="sm" w="sm"/>
            </a:ln>
          </p:spPr>
        </p:sp>
      </p:grpSp>
      <p:grpSp>
        <p:nvGrpSpPr>
          <p:cNvPr name="Group 9" id="9"/>
          <p:cNvGrpSpPr/>
          <p:nvPr/>
        </p:nvGrpSpPr>
        <p:grpSpPr>
          <a:xfrm rot="0">
            <a:off x="5287879" y="1770778"/>
            <a:ext cx="7712242" cy="3638825"/>
            <a:chOff x="0" y="0"/>
            <a:chExt cx="10282990" cy="4851766"/>
          </a:xfrm>
        </p:grpSpPr>
        <p:sp>
          <p:nvSpPr>
            <p:cNvPr name="TextBox 10" id="10"/>
            <p:cNvSpPr txBox="true"/>
            <p:nvPr/>
          </p:nvSpPr>
          <p:spPr>
            <a:xfrm rot="0">
              <a:off x="1631161" y="-428625"/>
              <a:ext cx="7020668" cy="3465862"/>
            </a:xfrm>
            <a:prstGeom prst="rect">
              <a:avLst/>
            </a:prstGeom>
          </p:spPr>
          <p:txBody>
            <a:bodyPr anchor="t" rtlCol="false" tIns="0" lIns="0" bIns="0" rIns="0">
              <a:spAutoFit/>
            </a:bodyPr>
            <a:lstStyle/>
            <a:p>
              <a:pPr algn="ctr">
                <a:lnSpc>
                  <a:spcPts val="20926"/>
                </a:lnSpc>
              </a:pPr>
              <a:r>
                <a:rPr lang="en-US" b="true" sz="14947">
                  <a:solidFill>
                    <a:srgbClr val="000000"/>
                  </a:solidFill>
                  <a:latin typeface="Poppins Bold"/>
                  <a:ea typeface="Poppins Bold"/>
                  <a:cs typeface="Poppins Bold"/>
                  <a:sym typeface="Poppins Bold"/>
                </a:rPr>
                <a:t>KYO</a:t>
              </a:r>
            </a:p>
          </p:txBody>
        </p:sp>
        <p:sp>
          <p:nvSpPr>
            <p:cNvPr name="TextBox 11" id="11"/>
            <p:cNvSpPr txBox="true"/>
            <p:nvPr/>
          </p:nvSpPr>
          <p:spPr>
            <a:xfrm rot="0">
              <a:off x="0" y="2865787"/>
              <a:ext cx="10282990" cy="1985979"/>
            </a:xfrm>
            <a:prstGeom prst="rect">
              <a:avLst/>
            </a:prstGeom>
          </p:spPr>
          <p:txBody>
            <a:bodyPr anchor="t" rtlCol="false" tIns="0" lIns="0" bIns="0" rIns="0">
              <a:spAutoFit/>
            </a:bodyPr>
            <a:lstStyle/>
            <a:p>
              <a:pPr algn="ctr">
                <a:lnSpc>
                  <a:spcPts val="12504"/>
                </a:lnSpc>
              </a:pPr>
              <a:r>
                <a:rPr lang="en-US" b="true" sz="8931" spc="1563">
                  <a:solidFill>
                    <a:srgbClr val="8B5CF6"/>
                  </a:solidFill>
                  <a:latin typeface="Muli Bold"/>
                  <a:ea typeface="Muli Bold"/>
                  <a:cs typeface="Muli Bold"/>
                  <a:sym typeface="Muli Bold"/>
                </a:rPr>
                <a:t>VANTAGE</a:t>
              </a:r>
            </a:p>
          </p:txBody>
        </p:sp>
      </p:grpSp>
    </p:spTree>
  </p:cSld>
  <p:clrMapOvr>
    <a:masterClrMapping/>
  </p:clrMapOvr>
  <p:transition spd="fast">
    <p:cover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2F2F7"/>
        </a:solidFill>
      </p:bgPr>
    </p:bg>
    <p:spTree>
      <p:nvGrpSpPr>
        <p:cNvPr id="1" name=""/>
        <p:cNvGrpSpPr/>
        <p:nvPr/>
      </p:nvGrpSpPr>
      <p:grpSpPr>
        <a:xfrm>
          <a:off x="0" y="0"/>
          <a:ext cx="0" cy="0"/>
          <a:chOff x="0" y="0"/>
          <a:chExt cx="0" cy="0"/>
        </a:xfrm>
      </p:grpSpPr>
      <p:sp>
        <p:nvSpPr>
          <p:cNvPr name="TextBox 2" id="2"/>
          <p:cNvSpPr txBox="true"/>
          <p:nvPr/>
        </p:nvSpPr>
        <p:spPr>
          <a:xfrm rot="0">
            <a:off x="210827" y="514350"/>
            <a:ext cx="3515902" cy="514350"/>
          </a:xfrm>
          <a:prstGeom prst="rect">
            <a:avLst/>
          </a:prstGeom>
        </p:spPr>
        <p:txBody>
          <a:bodyPr anchor="t" rtlCol="false" tIns="0" lIns="0" bIns="0" rIns="0">
            <a:spAutoFit/>
          </a:bodyPr>
          <a:lstStyle/>
          <a:p>
            <a:pPr algn="l">
              <a:lnSpc>
                <a:spcPts val="4200"/>
              </a:lnSpc>
            </a:pPr>
            <a:r>
              <a:rPr lang="en-US" sz="3000" b="true">
                <a:solidFill>
                  <a:srgbClr val="813DF9"/>
                </a:solidFill>
                <a:latin typeface="Open Sans Bold"/>
                <a:ea typeface="Open Sans Bold"/>
                <a:cs typeface="Open Sans Bold"/>
                <a:sym typeface="Open Sans Bold"/>
              </a:rPr>
              <a:t>4 Solución</a:t>
            </a:r>
          </a:p>
        </p:txBody>
      </p:sp>
      <p:sp>
        <p:nvSpPr>
          <p:cNvPr name="AutoShape 3" id="3"/>
          <p:cNvSpPr/>
          <p:nvPr/>
        </p:nvSpPr>
        <p:spPr>
          <a:xfrm>
            <a:off x="2258439" y="832697"/>
            <a:ext cx="18098098" cy="0"/>
          </a:xfrm>
          <a:prstGeom prst="line">
            <a:avLst/>
          </a:prstGeom>
          <a:ln cap="flat" w="19050">
            <a:solidFill>
              <a:srgbClr val="000000"/>
            </a:solidFill>
            <a:prstDash val="solid"/>
            <a:headEnd type="none" len="sm" w="sm"/>
            <a:tailEnd type="none" len="sm" w="sm"/>
          </a:ln>
        </p:spPr>
      </p:sp>
      <p:sp>
        <p:nvSpPr>
          <p:cNvPr name="Freeform 4" id="4"/>
          <p:cNvSpPr/>
          <p:nvPr/>
        </p:nvSpPr>
        <p:spPr>
          <a:xfrm flipH="false" flipV="false" rot="0">
            <a:off x="1282678" y="3484802"/>
            <a:ext cx="1095375" cy="1018699"/>
          </a:xfrm>
          <a:custGeom>
            <a:avLst/>
            <a:gdLst/>
            <a:ahLst/>
            <a:cxnLst/>
            <a:rect r="r" b="b" t="t" l="l"/>
            <a:pathLst>
              <a:path h="1018699" w="1095375">
                <a:moveTo>
                  <a:pt x="0" y="0"/>
                </a:moveTo>
                <a:lnTo>
                  <a:pt x="1095375" y="0"/>
                </a:lnTo>
                <a:lnTo>
                  <a:pt x="1095375" y="1018699"/>
                </a:lnTo>
                <a:lnTo>
                  <a:pt x="0" y="10186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624050" y="3446464"/>
            <a:ext cx="1095375" cy="1095375"/>
          </a:xfrm>
          <a:custGeom>
            <a:avLst/>
            <a:gdLst/>
            <a:ahLst/>
            <a:cxnLst/>
            <a:rect r="r" b="b" t="t" l="l"/>
            <a:pathLst>
              <a:path h="1095375" w="1095375">
                <a:moveTo>
                  <a:pt x="0" y="0"/>
                </a:moveTo>
                <a:lnTo>
                  <a:pt x="1095375" y="0"/>
                </a:lnTo>
                <a:lnTo>
                  <a:pt x="1095375" y="1095375"/>
                </a:lnTo>
                <a:lnTo>
                  <a:pt x="0" y="10953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82678" y="6564313"/>
            <a:ext cx="1095375" cy="1095375"/>
          </a:xfrm>
          <a:custGeom>
            <a:avLst/>
            <a:gdLst/>
            <a:ahLst/>
            <a:cxnLst/>
            <a:rect r="r" b="b" t="t" l="l"/>
            <a:pathLst>
              <a:path h="1095375" w="1095375">
                <a:moveTo>
                  <a:pt x="0" y="0"/>
                </a:moveTo>
                <a:lnTo>
                  <a:pt x="1095375" y="0"/>
                </a:lnTo>
                <a:lnTo>
                  <a:pt x="1095375" y="1095375"/>
                </a:lnTo>
                <a:lnTo>
                  <a:pt x="0" y="10953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9566900" y="6586221"/>
            <a:ext cx="1095375" cy="1051560"/>
          </a:xfrm>
          <a:custGeom>
            <a:avLst/>
            <a:gdLst/>
            <a:ahLst/>
            <a:cxnLst/>
            <a:rect r="r" b="b" t="t" l="l"/>
            <a:pathLst>
              <a:path h="1051560" w="1095375">
                <a:moveTo>
                  <a:pt x="0" y="0"/>
                </a:moveTo>
                <a:lnTo>
                  <a:pt x="1095375" y="0"/>
                </a:lnTo>
                <a:lnTo>
                  <a:pt x="1095375" y="1051560"/>
                </a:lnTo>
                <a:lnTo>
                  <a:pt x="0" y="10515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2916734" y="1808957"/>
            <a:ext cx="12454533" cy="771525"/>
          </a:xfrm>
          <a:prstGeom prst="rect">
            <a:avLst/>
          </a:prstGeom>
        </p:spPr>
        <p:txBody>
          <a:bodyPr anchor="t" rtlCol="false" tIns="0" lIns="0" bIns="0" rIns="0">
            <a:spAutoFit/>
          </a:bodyPr>
          <a:lstStyle/>
          <a:p>
            <a:pPr algn="ctr">
              <a:lnSpc>
                <a:spcPts val="6300"/>
              </a:lnSpc>
            </a:pPr>
            <a:r>
              <a:rPr lang="en-US" b="true" sz="4500">
                <a:solidFill>
                  <a:srgbClr val="000000"/>
                </a:solidFill>
                <a:latin typeface="Open Sans Bold"/>
                <a:ea typeface="Open Sans Bold"/>
                <a:cs typeface="Open Sans Bold"/>
                <a:sym typeface="Open Sans Bold"/>
              </a:rPr>
              <a:t>‘’G</a:t>
            </a:r>
            <a:r>
              <a:rPr lang="en-US" b="true" sz="4500">
                <a:solidFill>
                  <a:srgbClr val="000000"/>
                </a:solidFill>
                <a:latin typeface="Open Sans Bold"/>
                <a:ea typeface="Open Sans Bold"/>
                <a:cs typeface="Open Sans Bold"/>
                <a:sym typeface="Open Sans Bold"/>
              </a:rPr>
              <a:t>estión Financiera Unificada e Inteligente’’</a:t>
            </a:r>
          </a:p>
        </p:txBody>
      </p:sp>
      <p:sp>
        <p:nvSpPr>
          <p:cNvPr name="TextBox 9" id="9"/>
          <p:cNvSpPr txBox="true"/>
          <p:nvPr/>
        </p:nvSpPr>
        <p:spPr>
          <a:xfrm rot="0">
            <a:off x="2677428" y="3479802"/>
            <a:ext cx="3657302" cy="514350"/>
          </a:xfrm>
          <a:prstGeom prst="rect">
            <a:avLst/>
          </a:prstGeom>
        </p:spPr>
        <p:txBody>
          <a:bodyPr anchor="t" rtlCol="false" tIns="0" lIns="0" bIns="0" rIns="0">
            <a:spAutoFit/>
          </a:bodyPr>
          <a:lstStyle/>
          <a:p>
            <a:pPr algn="ctr">
              <a:lnSpc>
                <a:spcPts val="4200"/>
              </a:lnSpc>
            </a:pPr>
            <a:r>
              <a:rPr lang="en-US" b="true" sz="3000">
                <a:solidFill>
                  <a:srgbClr val="813DF9"/>
                </a:solidFill>
                <a:latin typeface="Open Sans Bold"/>
                <a:ea typeface="Open Sans Bold"/>
                <a:cs typeface="Open Sans Bold"/>
                <a:sym typeface="Open Sans Bold"/>
              </a:rPr>
              <a:t>Billetera &amp; Tarjetas</a:t>
            </a:r>
          </a:p>
        </p:txBody>
      </p:sp>
      <p:sp>
        <p:nvSpPr>
          <p:cNvPr name="TextBox 10" id="10"/>
          <p:cNvSpPr txBox="true"/>
          <p:nvPr/>
        </p:nvSpPr>
        <p:spPr>
          <a:xfrm rot="0">
            <a:off x="2677428" y="6692901"/>
            <a:ext cx="4226719" cy="514350"/>
          </a:xfrm>
          <a:prstGeom prst="rect">
            <a:avLst/>
          </a:prstGeom>
        </p:spPr>
        <p:txBody>
          <a:bodyPr anchor="t" rtlCol="false" tIns="0" lIns="0" bIns="0" rIns="0">
            <a:spAutoFit/>
          </a:bodyPr>
          <a:lstStyle/>
          <a:p>
            <a:pPr algn="ctr">
              <a:lnSpc>
                <a:spcPts val="4200"/>
              </a:lnSpc>
            </a:pPr>
            <a:r>
              <a:rPr lang="en-US" b="true" sz="3000">
                <a:solidFill>
                  <a:srgbClr val="813DF9"/>
                </a:solidFill>
                <a:latin typeface="Open Sans Bold"/>
                <a:ea typeface="Open Sans Bold"/>
                <a:cs typeface="Open Sans Bold"/>
                <a:sym typeface="Open Sans Bold"/>
              </a:rPr>
              <a:t>Presupuestos &amp; Metas</a:t>
            </a:r>
          </a:p>
        </p:txBody>
      </p:sp>
      <p:sp>
        <p:nvSpPr>
          <p:cNvPr name="TextBox 11" id="11"/>
          <p:cNvSpPr txBox="true"/>
          <p:nvPr/>
        </p:nvSpPr>
        <p:spPr>
          <a:xfrm rot="0">
            <a:off x="10973576" y="3479802"/>
            <a:ext cx="3981748" cy="514350"/>
          </a:xfrm>
          <a:prstGeom prst="rect">
            <a:avLst/>
          </a:prstGeom>
        </p:spPr>
        <p:txBody>
          <a:bodyPr anchor="t" rtlCol="false" tIns="0" lIns="0" bIns="0" rIns="0">
            <a:spAutoFit/>
          </a:bodyPr>
          <a:lstStyle/>
          <a:p>
            <a:pPr algn="ctr">
              <a:lnSpc>
                <a:spcPts val="4200"/>
              </a:lnSpc>
            </a:pPr>
            <a:r>
              <a:rPr lang="en-US" b="true" sz="3000">
                <a:solidFill>
                  <a:srgbClr val="813DF9"/>
                </a:solidFill>
                <a:latin typeface="Open Sans Bold"/>
                <a:ea typeface="Open Sans Bold"/>
                <a:cs typeface="Open Sans Bold"/>
                <a:sym typeface="Open Sans Bold"/>
              </a:rPr>
              <a:t>Agenda &amp; Dashboard</a:t>
            </a:r>
          </a:p>
        </p:txBody>
      </p:sp>
      <p:sp>
        <p:nvSpPr>
          <p:cNvPr name="TextBox 12" id="12"/>
          <p:cNvSpPr txBox="true"/>
          <p:nvPr/>
        </p:nvSpPr>
        <p:spPr>
          <a:xfrm rot="0">
            <a:off x="10973576" y="6692901"/>
            <a:ext cx="5282952" cy="514350"/>
          </a:xfrm>
          <a:prstGeom prst="rect">
            <a:avLst/>
          </a:prstGeom>
        </p:spPr>
        <p:txBody>
          <a:bodyPr anchor="t" rtlCol="false" tIns="0" lIns="0" bIns="0" rIns="0">
            <a:spAutoFit/>
          </a:bodyPr>
          <a:lstStyle/>
          <a:p>
            <a:pPr algn="ctr">
              <a:lnSpc>
                <a:spcPts val="4200"/>
              </a:lnSpc>
            </a:pPr>
            <a:r>
              <a:rPr lang="en-US" b="true" sz="3000">
                <a:solidFill>
                  <a:srgbClr val="813DF9"/>
                </a:solidFill>
                <a:latin typeface="Open Sans Bold"/>
                <a:ea typeface="Open Sans Bold"/>
                <a:cs typeface="Open Sans Bold"/>
                <a:sym typeface="Open Sans Bold"/>
              </a:rPr>
              <a:t>Modelos de IA Incorporados</a:t>
            </a:r>
          </a:p>
        </p:txBody>
      </p:sp>
      <p:sp>
        <p:nvSpPr>
          <p:cNvPr name="TextBox 13" id="13"/>
          <p:cNvSpPr txBox="true"/>
          <p:nvPr/>
        </p:nvSpPr>
        <p:spPr>
          <a:xfrm rot="0">
            <a:off x="2677428" y="4392216"/>
            <a:ext cx="5534874" cy="1308099"/>
          </a:xfrm>
          <a:prstGeom prst="rect">
            <a:avLst/>
          </a:prstGeom>
        </p:spPr>
        <p:txBody>
          <a:bodyPr anchor="t" rtlCol="false" tIns="0" lIns="0" bIns="0" rIns="0">
            <a:spAutoFit/>
          </a:bodyPr>
          <a:lstStyle/>
          <a:p>
            <a:pPr algn="l">
              <a:lnSpc>
                <a:spcPts val="3500"/>
              </a:lnSpc>
            </a:pPr>
            <a:r>
              <a:rPr lang="en-US" sz="2500">
                <a:solidFill>
                  <a:srgbClr val="000000"/>
                </a:solidFill>
                <a:latin typeface="Open Sans"/>
                <a:ea typeface="Open Sans"/>
                <a:cs typeface="Open Sans"/>
                <a:sym typeface="Open Sans"/>
              </a:rPr>
              <a:t>Cont</a:t>
            </a:r>
            <a:r>
              <a:rPr lang="en-US" sz="2500">
                <a:solidFill>
                  <a:srgbClr val="000000"/>
                </a:solidFill>
                <a:latin typeface="Open Sans"/>
                <a:ea typeface="Open Sans"/>
                <a:cs typeface="Open Sans"/>
                <a:sym typeface="Open Sans"/>
              </a:rPr>
              <a:t>rol de dinero líquido disponible y seguimiento detallado de deudas, cuotas y fechas de pago.</a:t>
            </a:r>
          </a:p>
        </p:txBody>
      </p:sp>
      <p:sp>
        <p:nvSpPr>
          <p:cNvPr name="TextBox 14" id="14"/>
          <p:cNvSpPr txBox="true"/>
          <p:nvPr/>
        </p:nvSpPr>
        <p:spPr>
          <a:xfrm rot="0">
            <a:off x="2677428" y="7512051"/>
            <a:ext cx="5380548" cy="1308099"/>
          </a:xfrm>
          <a:prstGeom prst="rect">
            <a:avLst/>
          </a:prstGeom>
        </p:spPr>
        <p:txBody>
          <a:bodyPr anchor="t" rtlCol="false" tIns="0" lIns="0" bIns="0" rIns="0">
            <a:spAutoFit/>
          </a:bodyPr>
          <a:lstStyle/>
          <a:p>
            <a:pPr algn="l">
              <a:lnSpc>
                <a:spcPts val="3500"/>
              </a:lnSpc>
            </a:pPr>
            <a:r>
              <a:rPr lang="en-US" sz="2500">
                <a:solidFill>
                  <a:srgbClr val="000000"/>
                </a:solidFill>
                <a:latin typeface="Open Sans"/>
                <a:ea typeface="Open Sans"/>
                <a:cs typeface="Open Sans"/>
                <a:sym typeface="Open Sans"/>
              </a:rPr>
              <a:t>Definición</a:t>
            </a:r>
            <a:r>
              <a:rPr lang="en-US" sz="2500">
                <a:solidFill>
                  <a:srgbClr val="000000"/>
                </a:solidFill>
                <a:latin typeface="Open Sans"/>
                <a:ea typeface="Open Sans"/>
                <a:cs typeface="Open Sans"/>
                <a:sym typeface="Open Sans"/>
              </a:rPr>
              <a:t> de límites de gasto por categoría y seguimiento de ahorro enfocado en objetivos.</a:t>
            </a:r>
          </a:p>
        </p:txBody>
      </p:sp>
      <p:sp>
        <p:nvSpPr>
          <p:cNvPr name="TextBox 15" id="15"/>
          <p:cNvSpPr txBox="true"/>
          <p:nvPr/>
        </p:nvSpPr>
        <p:spPr>
          <a:xfrm rot="0">
            <a:off x="10973576" y="4392216"/>
            <a:ext cx="5282952" cy="1308099"/>
          </a:xfrm>
          <a:prstGeom prst="rect">
            <a:avLst/>
          </a:prstGeom>
        </p:spPr>
        <p:txBody>
          <a:bodyPr anchor="t" rtlCol="false" tIns="0" lIns="0" bIns="0" rIns="0">
            <a:spAutoFit/>
          </a:bodyPr>
          <a:lstStyle/>
          <a:p>
            <a:pPr algn="l">
              <a:lnSpc>
                <a:spcPts val="3500"/>
              </a:lnSpc>
            </a:pPr>
            <a:r>
              <a:rPr lang="en-US" sz="2500">
                <a:solidFill>
                  <a:srgbClr val="000000"/>
                </a:solidFill>
                <a:latin typeface="Open Sans"/>
                <a:ea typeface="Open Sans"/>
                <a:cs typeface="Open Sans"/>
                <a:sym typeface="Open Sans"/>
              </a:rPr>
              <a:t>Proyección</a:t>
            </a:r>
            <a:r>
              <a:rPr lang="en-US" sz="2500">
                <a:solidFill>
                  <a:srgbClr val="000000"/>
                </a:solidFill>
                <a:latin typeface="Open Sans"/>
                <a:ea typeface="Open Sans"/>
                <a:cs typeface="Open Sans"/>
                <a:sym typeface="Open Sans"/>
              </a:rPr>
              <a:t> de cobros/pagos futuros y cálculo instantáneo del dinero libre disponible real.</a:t>
            </a:r>
          </a:p>
        </p:txBody>
      </p:sp>
      <p:sp>
        <p:nvSpPr>
          <p:cNvPr name="TextBox 16" id="16"/>
          <p:cNvSpPr txBox="true"/>
          <p:nvPr/>
        </p:nvSpPr>
        <p:spPr>
          <a:xfrm rot="0">
            <a:off x="10973576" y="7512051"/>
            <a:ext cx="6031746" cy="1746249"/>
          </a:xfrm>
          <a:prstGeom prst="rect">
            <a:avLst/>
          </a:prstGeom>
        </p:spPr>
        <p:txBody>
          <a:bodyPr anchor="t" rtlCol="false" tIns="0" lIns="0" bIns="0" rIns="0">
            <a:spAutoFit/>
          </a:bodyPr>
          <a:lstStyle/>
          <a:p>
            <a:pPr algn="l">
              <a:lnSpc>
                <a:spcPts val="3500"/>
              </a:lnSpc>
            </a:pPr>
            <a:r>
              <a:rPr lang="en-US" sz="2500">
                <a:solidFill>
                  <a:srgbClr val="000000"/>
                </a:solidFill>
                <a:latin typeface="Open Sans"/>
                <a:ea typeface="Open Sans"/>
                <a:cs typeface="Open Sans"/>
                <a:sym typeface="Open Sans"/>
              </a:rPr>
              <a:t>Evaluación automatizada del Niv</a:t>
            </a:r>
            <a:r>
              <a:rPr lang="en-US" sz="2500">
                <a:solidFill>
                  <a:srgbClr val="000000"/>
                </a:solidFill>
                <a:latin typeface="Open Sans"/>
                <a:ea typeface="Open Sans"/>
                <a:cs typeface="Open Sans"/>
                <a:sym typeface="Open Sans"/>
              </a:rPr>
              <a:t>el de Salud Financiera y Detección de Anomalías (tendencia a fin de mes en $0).</a:t>
            </a:r>
          </a:p>
        </p:txBody>
      </p:sp>
    </p:spTree>
  </p:cSld>
  <p:clrMapOvr>
    <a:masterClrMapping/>
  </p:clrMapOvr>
  <p:transition spd="fast">
    <p:cover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2F2F7"/>
        </a:solidFill>
      </p:bgPr>
    </p:bg>
    <p:spTree>
      <p:nvGrpSpPr>
        <p:cNvPr id="1" name=""/>
        <p:cNvGrpSpPr/>
        <p:nvPr/>
      </p:nvGrpSpPr>
      <p:grpSpPr>
        <a:xfrm>
          <a:off x="0" y="0"/>
          <a:ext cx="0" cy="0"/>
          <a:chOff x="0" y="0"/>
          <a:chExt cx="0" cy="0"/>
        </a:xfrm>
      </p:grpSpPr>
      <p:sp>
        <p:nvSpPr>
          <p:cNvPr name="Freeform 2" id="2"/>
          <p:cNvSpPr/>
          <p:nvPr/>
        </p:nvSpPr>
        <p:spPr>
          <a:xfrm flipH="false" flipV="false" rot="0">
            <a:off x="894724" y="2634148"/>
            <a:ext cx="16498553" cy="6783774"/>
          </a:xfrm>
          <a:custGeom>
            <a:avLst/>
            <a:gdLst/>
            <a:ahLst/>
            <a:cxnLst/>
            <a:rect r="r" b="b" t="t" l="l"/>
            <a:pathLst>
              <a:path h="6783774" w="16498553">
                <a:moveTo>
                  <a:pt x="0" y="0"/>
                </a:moveTo>
                <a:lnTo>
                  <a:pt x="16498552" y="0"/>
                </a:lnTo>
                <a:lnTo>
                  <a:pt x="16498552" y="6783775"/>
                </a:lnTo>
                <a:lnTo>
                  <a:pt x="0" y="6783775"/>
                </a:lnTo>
                <a:lnTo>
                  <a:pt x="0" y="0"/>
                </a:lnTo>
                <a:close/>
              </a:path>
            </a:pathLst>
          </a:custGeom>
          <a:blipFill>
            <a:blip r:embed="rId2"/>
            <a:stretch>
              <a:fillRect l="-407" t="-1899" r="-232" b="-830"/>
            </a:stretch>
          </a:blipFill>
        </p:spPr>
      </p:sp>
      <p:sp>
        <p:nvSpPr>
          <p:cNvPr name="TextBox 3" id="3"/>
          <p:cNvSpPr txBox="true"/>
          <p:nvPr/>
        </p:nvSpPr>
        <p:spPr>
          <a:xfrm rot="0">
            <a:off x="13270150" y="476250"/>
            <a:ext cx="4797412" cy="1047750"/>
          </a:xfrm>
          <a:prstGeom prst="rect">
            <a:avLst/>
          </a:prstGeom>
        </p:spPr>
        <p:txBody>
          <a:bodyPr anchor="t" rtlCol="false" tIns="0" lIns="0" bIns="0" rIns="0">
            <a:spAutoFit/>
          </a:bodyPr>
          <a:lstStyle/>
          <a:p>
            <a:pPr algn="r">
              <a:lnSpc>
                <a:spcPts val="4200"/>
              </a:lnSpc>
            </a:pPr>
            <a:r>
              <a:rPr lang="en-US" sz="3000" b="true">
                <a:solidFill>
                  <a:srgbClr val="813DF9"/>
                </a:solidFill>
                <a:latin typeface="Open Sans Bold"/>
                <a:ea typeface="Open Sans Bold"/>
                <a:cs typeface="Open Sans Bold"/>
                <a:sym typeface="Open Sans Bold"/>
              </a:rPr>
              <a:t>5 Requerimientos Funcionales (RF)</a:t>
            </a:r>
          </a:p>
        </p:txBody>
      </p:sp>
      <p:sp>
        <p:nvSpPr>
          <p:cNvPr name="AutoShape 4" id="4"/>
          <p:cNvSpPr/>
          <p:nvPr/>
        </p:nvSpPr>
        <p:spPr>
          <a:xfrm>
            <a:off x="-3414047" y="1126839"/>
            <a:ext cx="18098098" cy="0"/>
          </a:xfrm>
          <a:prstGeom prst="line">
            <a:avLst/>
          </a:prstGeom>
          <a:ln cap="flat" w="19050">
            <a:solidFill>
              <a:srgbClr val="000000"/>
            </a:solidFill>
            <a:prstDash val="solid"/>
            <a:headEnd type="none" len="sm" w="sm"/>
            <a:tailEnd type="none" len="sm" w="sm"/>
          </a:ln>
        </p:spPr>
      </p:sp>
    </p:spTree>
  </p:cSld>
  <p:clrMapOvr>
    <a:masterClrMapping/>
  </p:clrMapOvr>
  <p:transition spd="fast">
    <p:cover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2F2F7"/>
        </a:solidFill>
      </p:bgPr>
    </p:bg>
    <p:spTree>
      <p:nvGrpSpPr>
        <p:cNvPr id="1" name=""/>
        <p:cNvGrpSpPr/>
        <p:nvPr/>
      </p:nvGrpSpPr>
      <p:grpSpPr>
        <a:xfrm>
          <a:off x="0" y="0"/>
          <a:ext cx="0" cy="0"/>
          <a:chOff x="0" y="0"/>
          <a:chExt cx="0" cy="0"/>
        </a:xfrm>
      </p:grpSpPr>
      <p:sp>
        <p:nvSpPr>
          <p:cNvPr name="TextBox 2" id="2"/>
          <p:cNvSpPr txBox="true"/>
          <p:nvPr/>
        </p:nvSpPr>
        <p:spPr>
          <a:xfrm rot="0">
            <a:off x="535367" y="602990"/>
            <a:ext cx="3586232" cy="1581150"/>
          </a:xfrm>
          <a:prstGeom prst="rect">
            <a:avLst/>
          </a:prstGeom>
        </p:spPr>
        <p:txBody>
          <a:bodyPr anchor="t" rtlCol="false" tIns="0" lIns="0" bIns="0" rIns="0">
            <a:spAutoFit/>
          </a:bodyPr>
          <a:lstStyle/>
          <a:p>
            <a:pPr algn="l">
              <a:lnSpc>
                <a:spcPts val="4200"/>
              </a:lnSpc>
            </a:pPr>
            <a:r>
              <a:rPr lang="en-US" sz="3000" b="true">
                <a:solidFill>
                  <a:srgbClr val="813DF9"/>
                </a:solidFill>
                <a:latin typeface="Open Sans Bold"/>
                <a:ea typeface="Open Sans Bold"/>
                <a:cs typeface="Open Sans Bold"/>
                <a:sym typeface="Open Sans Bold"/>
              </a:rPr>
              <a:t>5 Requerimientos No Funcionales (RNF)</a:t>
            </a:r>
          </a:p>
        </p:txBody>
      </p:sp>
      <p:sp>
        <p:nvSpPr>
          <p:cNvPr name="AutoShape 3" id="3"/>
          <p:cNvSpPr/>
          <p:nvPr/>
        </p:nvSpPr>
        <p:spPr>
          <a:xfrm>
            <a:off x="3952154" y="1133100"/>
            <a:ext cx="18098098" cy="0"/>
          </a:xfrm>
          <a:prstGeom prst="line">
            <a:avLst/>
          </a:prstGeom>
          <a:ln cap="flat" w="19050">
            <a:solidFill>
              <a:srgbClr val="000000"/>
            </a:solidFill>
            <a:prstDash val="solid"/>
            <a:headEnd type="none" len="sm" w="sm"/>
            <a:tailEnd type="none" len="sm" w="sm"/>
          </a:ln>
        </p:spPr>
      </p:sp>
      <p:sp>
        <p:nvSpPr>
          <p:cNvPr name="Freeform 4" id="4"/>
          <p:cNvSpPr/>
          <p:nvPr/>
        </p:nvSpPr>
        <p:spPr>
          <a:xfrm flipH="false" flipV="false" rot="0">
            <a:off x="742535" y="3833957"/>
            <a:ext cx="17288927" cy="3786639"/>
          </a:xfrm>
          <a:custGeom>
            <a:avLst/>
            <a:gdLst/>
            <a:ahLst/>
            <a:cxnLst/>
            <a:rect r="r" b="b" t="t" l="l"/>
            <a:pathLst>
              <a:path h="3786639" w="17288927">
                <a:moveTo>
                  <a:pt x="0" y="0"/>
                </a:moveTo>
                <a:lnTo>
                  <a:pt x="17288927" y="0"/>
                </a:lnTo>
                <a:lnTo>
                  <a:pt x="17288927" y="3786639"/>
                </a:lnTo>
                <a:lnTo>
                  <a:pt x="0" y="3786639"/>
                </a:lnTo>
                <a:lnTo>
                  <a:pt x="0" y="0"/>
                </a:lnTo>
                <a:close/>
              </a:path>
            </a:pathLst>
          </a:custGeom>
          <a:blipFill>
            <a:blip r:embed="rId2"/>
            <a:stretch>
              <a:fillRect l="-1162" t="-5026" r="-1121" b="-6752"/>
            </a:stretch>
          </a:blipFill>
        </p:spPr>
      </p:sp>
    </p:spTree>
  </p:cSld>
  <p:clrMapOvr>
    <a:masterClrMapping/>
  </p:clrMapOvr>
  <p:transition spd="fast">
    <p:cover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2F2F7"/>
        </a:solidFill>
      </p:bgPr>
    </p:bg>
    <p:spTree>
      <p:nvGrpSpPr>
        <p:cNvPr id="1" name=""/>
        <p:cNvGrpSpPr/>
        <p:nvPr/>
      </p:nvGrpSpPr>
      <p:grpSpPr>
        <a:xfrm>
          <a:off x="0" y="0"/>
          <a:ext cx="0" cy="0"/>
          <a:chOff x="0" y="0"/>
          <a:chExt cx="0" cy="0"/>
        </a:xfrm>
      </p:grpSpPr>
      <p:sp>
        <p:nvSpPr>
          <p:cNvPr name="AutoShape 2" id="2"/>
          <p:cNvSpPr/>
          <p:nvPr/>
        </p:nvSpPr>
        <p:spPr>
          <a:xfrm>
            <a:off x="-4019166" y="702580"/>
            <a:ext cx="18098098" cy="0"/>
          </a:xfrm>
          <a:prstGeom prst="line">
            <a:avLst/>
          </a:prstGeom>
          <a:ln cap="flat" w="19050">
            <a:solidFill>
              <a:srgbClr val="000000"/>
            </a:solidFill>
            <a:prstDash val="solid"/>
            <a:headEnd type="none" len="sm" w="sm"/>
            <a:tailEnd type="none" len="sm" w="sm"/>
          </a:ln>
        </p:spPr>
      </p:sp>
      <p:sp>
        <p:nvSpPr>
          <p:cNvPr name="Freeform 3" id="3"/>
          <p:cNvSpPr/>
          <p:nvPr/>
        </p:nvSpPr>
        <p:spPr>
          <a:xfrm flipH="false" flipV="false" rot="0">
            <a:off x="2946893" y="1731396"/>
            <a:ext cx="1190625" cy="1190625"/>
          </a:xfrm>
          <a:custGeom>
            <a:avLst/>
            <a:gdLst/>
            <a:ahLst/>
            <a:cxnLst/>
            <a:rect r="r" b="b" t="t" l="l"/>
            <a:pathLst>
              <a:path h="1190625" w="1190625">
                <a:moveTo>
                  <a:pt x="0" y="0"/>
                </a:moveTo>
                <a:lnTo>
                  <a:pt x="1190625" y="0"/>
                </a:lnTo>
                <a:lnTo>
                  <a:pt x="1190625" y="1190625"/>
                </a:lnTo>
                <a:lnTo>
                  <a:pt x="0" y="11906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548688" y="1731396"/>
            <a:ext cx="1190625" cy="1190625"/>
          </a:xfrm>
          <a:custGeom>
            <a:avLst/>
            <a:gdLst/>
            <a:ahLst/>
            <a:cxnLst/>
            <a:rect r="r" b="b" t="t" l="l"/>
            <a:pathLst>
              <a:path h="1190625" w="1190625">
                <a:moveTo>
                  <a:pt x="0" y="0"/>
                </a:moveTo>
                <a:lnTo>
                  <a:pt x="1190625" y="0"/>
                </a:lnTo>
                <a:lnTo>
                  <a:pt x="1190625" y="1190625"/>
                </a:lnTo>
                <a:lnTo>
                  <a:pt x="0" y="1190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078932" y="1769053"/>
            <a:ext cx="1240234" cy="1190625"/>
          </a:xfrm>
          <a:custGeom>
            <a:avLst/>
            <a:gdLst/>
            <a:ahLst/>
            <a:cxnLst/>
            <a:rect r="r" b="b" t="t" l="l"/>
            <a:pathLst>
              <a:path h="1190625" w="1240234">
                <a:moveTo>
                  <a:pt x="0" y="0"/>
                </a:moveTo>
                <a:lnTo>
                  <a:pt x="1240234" y="0"/>
                </a:lnTo>
                <a:lnTo>
                  <a:pt x="1240234" y="1190625"/>
                </a:lnTo>
                <a:lnTo>
                  <a:pt x="0" y="11906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4447289" y="5912293"/>
            <a:ext cx="1526442" cy="1190625"/>
          </a:xfrm>
          <a:custGeom>
            <a:avLst/>
            <a:gdLst/>
            <a:ahLst/>
            <a:cxnLst/>
            <a:rect r="r" b="b" t="t" l="l"/>
            <a:pathLst>
              <a:path h="1190625" w="1526442">
                <a:moveTo>
                  <a:pt x="0" y="0"/>
                </a:moveTo>
                <a:lnTo>
                  <a:pt x="1526442" y="0"/>
                </a:lnTo>
                <a:lnTo>
                  <a:pt x="1526442" y="1190625"/>
                </a:lnTo>
                <a:lnTo>
                  <a:pt x="0" y="11906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2283740" y="5867977"/>
            <a:ext cx="1587500" cy="1190625"/>
          </a:xfrm>
          <a:custGeom>
            <a:avLst/>
            <a:gdLst/>
            <a:ahLst/>
            <a:cxnLst/>
            <a:rect r="r" b="b" t="t" l="l"/>
            <a:pathLst>
              <a:path h="1190625" w="1587500">
                <a:moveTo>
                  <a:pt x="0" y="0"/>
                </a:moveTo>
                <a:lnTo>
                  <a:pt x="1587500" y="0"/>
                </a:lnTo>
                <a:lnTo>
                  <a:pt x="1587500" y="1190625"/>
                </a:lnTo>
                <a:lnTo>
                  <a:pt x="0" y="11906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14215832" y="407305"/>
            <a:ext cx="4130979" cy="514350"/>
          </a:xfrm>
          <a:prstGeom prst="rect">
            <a:avLst/>
          </a:prstGeom>
        </p:spPr>
        <p:txBody>
          <a:bodyPr anchor="t" rtlCol="false" tIns="0" lIns="0" bIns="0" rIns="0">
            <a:spAutoFit/>
          </a:bodyPr>
          <a:lstStyle/>
          <a:p>
            <a:pPr algn="l">
              <a:lnSpc>
                <a:spcPts val="4200"/>
              </a:lnSpc>
            </a:pPr>
            <a:r>
              <a:rPr lang="en-US" sz="3000" b="true">
                <a:solidFill>
                  <a:srgbClr val="813DF9"/>
                </a:solidFill>
                <a:latin typeface="Open Sans Bold"/>
                <a:ea typeface="Open Sans Bold"/>
                <a:cs typeface="Open Sans Bold"/>
                <a:sym typeface="Open Sans Bold"/>
              </a:rPr>
              <a:t>6 Épicas del proyecto</a:t>
            </a:r>
          </a:p>
        </p:txBody>
      </p:sp>
      <p:sp>
        <p:nvSpPr>
          <p:cNvPr name="TextBox 9" id="9"/>
          <p:cNvSpPr txBox="true"/>
          <p:nvPr/>
        </p:nvSpPr>
        <p:spPr>
          <a:xfrm rot="0">
            <a:off x="1160955" y="2864871"/>
            <a:ext cx="4762500" cy="1047750"/>
          </a:xfrm>
          <a:prstGeom prst="rect">
            <a:avLst/>
          </a:prstGeom>
        </p:spPr>
        <p:txBody>
          <a:bodyPr anchor="t" rtlCol="false" tIns="0" lIns="0" bIns="0" rIns="0">
            <a:spAutoFit/>
          </a:bodyPr>
          <a:lstStyle/>
          <a:p>
            <a:pPr algn="ctr">
              <a:lnSpc>
                <a:spcPts val="4200"/>
              </a:lnSpc>
            </a:pPr>
            <a:r>
              <a:rPr lang="en-US" b="true" sz="3000">
                <a:solidFill>
                  <a:srgbClr val="813DF9"/>
                </a:solidFill>
                <a:latin typeface="Open Sans Bold"/>
                <a:ea typeface="Open Sans Bold"/>
                <a:cs typeface="Open Sans Bold"/>
                <a:sym typeface="Open Sans Bold"/>
              </a:rPr>
              <a:t>Autenticación y Gestión de Usuarios </a:t>
            </a:r>
          </a:p>
        </p:txBody>
      </p:sp>
      <p:sp>
        <p:nvSpPr>
          <p:cNvPr name="TextBox 10" id="10"/>
          <p:cNvSpPr txBox="true"/>
          <p:nvPr/>
        </p:nvSpPr>
        <p:spPr>
          <a:xfrm rot="0">
            <a:off x="924979" y="4207010"/>
            <a:ext cx="5238750" cy="1308099"/>
          </a:xfrm>
          <a:prstGeom prst="rect">
            <a:avLst/>
          </a:prstGeom>
        </p:spPr>
        <p:txBody>
          <a:bodyPr anchor="t" rtlCol="false" tIns="0" lIns="0" bIns="0" rIns="0">
            <a:spAutoFit/>
          </a:bodyPr>
          <a:lstStyle/>
          <a:p>
            <a:pPr algn="ctr">
              <a:lnSpc>
                <a:spcPts val="3500"/>
              </a:lnSpc>
            </a:pPr>
            <a:r>
              <a:rPr lang="en-US" sz="2500">
                <a:solidFill>
                  <a:srgbClr val="000000"/>
                </a:solidFill>
                <a:latin typeface="Open Sans"/>
                <a:ea typeface="Open Sans"/>
                <a:cs typeface="Open Sans"/>
                <a:sym typeface="Open Sans"/>
              </a:rPr>
              <a:t>Garantizar el acceso seguro y la gestión de sesiones diferenciada por entornos.</a:t>
            </a:r>
          </a:p>
        </p:txBody>
      </p:sp>
      <p:sp>
        <p:nvSpPr>
          <p:cNvPr name="TextBox 11" id="11"/>
          <p:cNvSpPr txBox="true"/>
          <p:nvPr/>
        </p:nvSpPr>
        <p:spPr>
          <a:xfrm rot="0">
            <a:off x="6762750" y="2864871"/>
            <a:ext cx="4762500" cy="1047750"/>
          </a:xfrm>
          <a:prstGeom prst="rect">
            <a:avLst/>
          </a:prstGeom>
        </p:spPr>
        <p:txBody>
          <a:bodyPr anchor="t" rtlCol="false" tIns="0" lIns="0" bIns="0" rIns="0">
            <a:spAutoFit/>
          </a:bodyPr>
          <a:lstStyle/>
          <a:p>
            <a:pPr algn="ctr">
              <a:lnSpc>
                <a:spcPts val="4200"/>
              </a:lnSpc>
            </a:pPr>
            <a:r>
              <a:rPr lang="en-US" b="true" sz="3000">
                <a:solidFill>
                  <a:srgbClr val="813DF9"/>
                </a:solidFill>
                <a:latin typeface="Open Sans Bold"/>
                <a:ea typeface="Open Sans Bold"/>
                <a:cs typeface="Open Sans Bold"/>
                <a:sym typeface="Open Sans Bold"/>
              </a:rPr>
              <a:t>Core de Gestión Financiera Unificada </a:t>
            </a:r>
          </a:p>
        </p:txBody>
      </p:sp>
      <p:sp>
        <p:nvSpPr>
          <p:cNvPr name="TextBox 12" id="12"/>
          <p:cNvSpPr txBox="true"/>
          <p:nvPr/>
        </p:nvSpPr>
        <p:spPr>
          <a:xfrm rot="0">
            <a:off x="6524625" y="4207010"/>
            <a:ext cx="5238750" cy="1308099"/>
          </a:xfrm>
          <a:prstGeom prst="rect">
            <a:avLst/>
          </a:prstGeom>
        </p:spPr>
        <p:txBody>
          <a:bodyPr anchor="t" rtlCol="false" tIns="0" lIns="0" bIns="0" rIns="0">
            <a:spAutoFit/>
          </a:bodyPr>
          <a:lstStyle/>
          <a:p>
            <a:pPr algn="ctr">
              <a:lnSpc>
                <a:spcPts val="3500"/>
              </a:lnSpc>
            </a:pPr>
            <a:r>
              <a:rPr lang="en-US" sz="2500">
                <a:solidFill>
                  <a:srgbClr val="000000"/>
                </a:solidFill>
                <a:latin typeface="Open Sans"/>
                <a:ea typeface="Open Sans"/>
                <a:cs typeface="Open Sans"/>
                <a:sym typeface="Open Sans"/>
              </a:rPr>
              <a:t>Refactorizar los módulos principales a una SPA fluida para eliminar la fricción del usuario.</a:t>
            </a:r>
          </a:p>
        </p:txBody>
      </p:sp>
      <p:sp>
        <p:nvSpPr>
          <p:cNvPr name="TextBox 13" id="13"/>
          <p:cNvSpPr txBox="true"/>
          <p:nvPr/>
        </p:nvSpPr>
        <p:spPr>
          <a:xfrm rot="0">
            <a:off x="12123501" y="4207453"/>
            <a:ext cx="5238750" cy="1308099"/>
          </a:xfrm>
          <a:prstGeom prst="rect">
            <a:avLst/>
          </a:prstGeom>
        </p:spPr>
        <p:txBody>
          <a:bodyPr anchor="t" rtlCol="false" tIns="0" lIns="0" bIns="0" rIns="0">
            <a:spAutoFit/>
          </a:bodyPr>
          <a:lstStyle/>
          <a:p>
            <a:pPr algn="ctr">
              <a:lnSpc>
                <a:spcPts val="3500"/>
              </a:lnSpc>
            </a:pPr>
            <a:r>
              <a:rPr lang="en-US" sz="2500">
                <a:solidFill>
                  <a:srgbClr val="000000"/>
                </a:solidFill>
                <a:latin typeface="Open Sans"/>
                <a:ea typeface="Open Sans"/>
                <a:cs typeface="Open Sans"/>
                <a:sym typeface="Open Sans"/>
              </a:rPr>
              <a:t>Incorporar analítica avanzada para asesorar y alertar al usuario de forma automática.</a:t>
            </a:r>
          </a:p>
        </p:txBody>
      </p:sp>
      <p:sp>
        <p:nvSpPr>
          <p:cNvPr name="TextBox 14" id="14"/>
          <p:cNvSpPr txBox="true"/>
          <p:nvPr/>
        </p:nvSpPr>
        <p:spPr>
          <a:xfrm rot="0">
            <a:off x="2114885" y="8388793"/>
            <a:ext cx="6191250" cy="869949"/>
          </a:xfrm>
          <a:prstGeom prst="rect">
            <a:avLst/>
          </a:prstGeom>
        </p:spPr>
        <p:txBody>
          <a:bodyPr anchor="t" rtlCol="false" tIns="0" lIns="0" bIns="0" rIns="0">
            <a:spAutoFit/>
          </a:bodyPr>
          <a:lstStyle/>
          <a:p>
            <a:pPr algn="ctr">
              <a:lnSpc>
                <a:spcPts val="3500"/>
              </a:lnSpc>
            </a:pPr>
            <a:r>
              <a:rPr lang="en-US" sz="2500">
                <a:solidFill>
                  <a:srgbClr val="000000"/>
                </a:solidFill>
                <a:latin typeface="Open Sans"/>
                <a:ea typeface="Open Sans"/>
                <a:cs typeface="Open Sans"/>
                <a:sym typeface="Open Sans"/>
              </a:rPr>
              <a:t>Advertir al usuario en el momento justo antes de sobrepasar sus límites.</a:t>
            </a:r>
          </a:p>
        </p:txBody>
      </p:sp>
      <p:sp>
        <p:nvSpPr>
          <p:cNvPr name="TextBox 15" id="15"/>
          <p:cNvSpPr txBox="true"/>
          <p:nvPr/>
        </p:nvSpPr>
        <p:spPr>
          <a:xfrm rot="0">
            <a:off x="9981865" y="8344477"/>
            <a:ext cx="6191250" cy="869949"/>
          </a:xfrm>
          <a:prstGeom prst="rect">
            <a:avLst/>
          </a:prstGeom>
        </p:spPr>
        <p:txBody>
          <a:bodyPr anchor="t" rtlCol="false" tIns="0" lIns="0" bIns="0" rIns="0">
            <a:spAutoFit/>
          </a:bodyPr>
          <a:lstStyle/>
          <a:p>
            <a:pPr algn="ctr">
              <a:lnSpc>
                <a:spcPts val="3500"/>
              </a:lnSpc>
            </a:pPr>
            <a:r>
              <a:rPr lang="en-US" sz="2500">
                <a:solidFill>
                  <a:srgbClr val="000000"/>
                </a:solidFill>
                <a:latin typeface="Open Sans"/>
                <a:ea typeface="Open Sans"/>
                <a:cs typeface="Open Sans"/>
                <a:sym typeface="Open Sans"/>
              </a:rPr>
              <a:t>Elevar el rendimiento, la velocidad de consulta y la estabilidad del sistema.</a:t>
            </a:r>
          </a:p>
        </p:txBody>
      </p:sp>
      <p:sp>
        <p:nvSpPr>
          <p:cNvPr name="TextBox 16" id="16"/>
          <p:cNvSpPr txBox="true"/>
          <p:nvPr/>
        </p:nvSpPr>
        <p:spPr>
          <a:xfrm rot="0">
            <a:off x="12361626" y="2864871"/>
            <a:ext cx="4762500" cy="1047750"/>
          </a:xfrm>
          <a:prstGeom prst="rect">
            <a:avLst/>
          </a:prstGeom>
        </p:spPr>
        <p:txBody>
          <a:bodyPr anchor="t" rtlCol="false" tIns="0" lIns="0" bIns="0" rIns="0">
            <a:spAutoFit/>
          </a:bodyPr>
          <a:lstStyle/>
          <a:p>
            <a:pPr algn="ctr">
              <a:lnSpc>
                <a:spcPts val="4200"/>
              </a:lnSpc>
            </a:pPr>
            <a:r>
              <a:rPr lang="en-US" b="true" sz="3000">
                <a:solidFill>
                  <a:srgbClr val="813DF9"/>
                </a:solidFill>
                <a:latin typeface="Open Sans Bold"/>
                <a:ea typeface="Open Sans Bold"/>
                <a:cs typeface="Open Sans Bold"/>
                <a:sym typeface="Open Sans Bold"/>
              </a:rPr>
              <a:t>Motor de Inteligencia Financiera (IA)</a:t>
            </a:r>
          </a:p>
        </p:txBody>
      </p:sp>
      <p:sp>
        <p:nvSpPr>
          <p:cNvPr name="TextBox 17" id="17"/>
          <p:cNvSpPr txBox="true"/>
          <p:nvPr/>
        </p:nvSpPr>
        <p:spPr>
          <a:xfrm rot="0">
            <a:off x="2353010" y="7045768"/>
            <a:ext cx="5715000" cy="1047750"/>
          </a:xfrm>
          <a:prstGeom prst="rect">
            <a:avLst/>
          </a:prstGeom>
        </p:spPr>
        <p:txBody>
          <a:bodyPr anchor="t" rtlCol="false" tIns="0" lIns="0" bIns="0" rIns="0">
            <a:spAutoFit/>
          </a:bodyPr>
          <a:lstStyle/>
          <a:p>
            <a:pPr algn="ctr">
              <a:lnSpc>
                <a:spcPts val="4200"/>
              </a:lnSpc>
            </a:pPr>
            <a:r>
              <a:rPr lang="en-US" b="true" sz="3000">
                <a:solidFill>
                  <a:srgbClr val="813DF9"/>
                </a:solidFill>
                <a:latin typeface="Open Sans Bold"/>
                <a:ea typeface="Open Sans Bold"/>
                <a:cs typeface="Open Sans Bold"/>
                <a:sym typeface="Open Sans Bold"/>
              </a:rPr>
              <a:t>Sistema de Comunicaciones y Notificaciones Proactivas</a:t>
            </a:r>
          </a:p>
        </p:txBody>
      </p:sp>
      <p:sp>
        <p:nvSpPr>
          <p:cNvPr name="TextBox 18" id="18"/>
          <p:cNvSpPr txBox="true"/>
          <p:nvPr/>
        </p:nvSpPr>
        <p:spPr>
          <a:xfrm rot="0">
            <a:off x="10219990" y="7001452"/>
            <a:ext cx="5715000" cy="1047750"/>
          </a:xfrm>
          <a:prstGeom prst="rect">
            <a:avLst/>
          </a:prstGeom>
        </p:spPr>
        <p:txBody>
          <a:bodyPr anchor="t" rtlCol="false" tIns="0" lIns="0" bIns="0" rIns="0">
            <a:spAutoFit/>
          </a:bodyPr>
          <a:lstStyle/>
          <a:p>
            <a:pPr algn="ctr">
              <a:lnSpc>
                <a:spcPts val="4200"/>
              </a:lnSpc>
            </a:pPr>
            <a:r>
              <a:rPr lang="en-US" b="true" sz="3000">
                <a:solidFill>
                  <a:srgbClr val="813DF9"/>
                </a:solidFill>
                <a:latin typeface="Open Sans Bold"/>
                <a:ea typeface="Open Sans Bold"/>
                <a:cs typeface="Open Sans Bold"/>
                <a:sym typeface="Open Sans Bold"/>
              </a:rPr>
              <a:t>Optimización de Infraestructura y DB</a:t>
            </a:r>
          </a:p>
        </p:txBody>
      </p:sp>
    </p:spTree>
  </p:cSld>
  <p:clrMapOvr>
    <a:masterClrMapping/>
  </p:clrMapOvr>
  <p:transition spd="fast">
    <p:cover dir="l"/>
  </p:transition>
</p:sld>
</file>

<file path=ppt/slides/slide11.xml><?xml version="1.0" encoding="utf-8"?>
<p:sld xmlns:p="http://schemas.openxmlformats.org/presentationml/2006/main" xmlns:a="http://schemas.openxmlformats.org/drawingml/2006/main">
  <p:cSld>
    <p:bg>
      <p:bgPr>
        <a:solidFill>
          <a:srgbClr val="F2F2F7"/>
        </a:solidFill>
      </p:bgPr>
    </p:bg>
    <p:spTree>
      <p:nvGrpSpPr>
        <p:cNvPr id="1" name=""/>
        <p:cNvGrpSpPr/>
        <p:nvPr/>
      </p:nvGrpSpPr>
      <p:grpSpPr>
        <a:xfrm>
          <a:off x="0" y="0"/>
          <a:ext cx="0" cy="0"/>
          <a:chOff x="0" y="0"/>
          <a:chExt cx="0" cy="0"/>
        </a:xfrm>
      </p:grpSpPr>
      <p:sp>
        <p:nvSpPr>
          <p:cNvPr name="TextBox 2" id="2"/>
          <p:cNvSpPr txBox="true"/>
          <p:nvPr/>
        </p:nvSpPr>
        <p:spPr>
          <a:xfrm rot="0">
            <a:off x="6338581" y="3238011"/>
            <a:ext cx="6355012" cy="3927475"/>
          </a:xfrm>
          <a:prstGeom prst="rect">
            <a:avLst/>
          </a:prstGeom>
        </p:spPr>
        <p:txBody>
          <a:bodyPr anchor="t" rtlCol="false" tIns="0" lIns="0" bIns="0" rIns="0">
            <a:spAutoFit/>
          </a:bodyPr>
          <a:lstStyle/>
          <a:p>
            <a:pPr algn="just">
              <a:lnSpc>
                <a:spcPts val="3499"/>
              </a:lnSpc>
            </a:pPr>
            <a:r>
              <a:rPr lang="en-US" sz="2499">
                <a:solidFill>
                  <a:srgbClr val="000000"/>
                </a:solidFill>
                <a:latin typeface="Open Sans"/>
                <a:ea typeface="Open Sans"/>
                <a:cs typeface="Open Sans"/>
                <a:sym typeface="Open Sans"/>
              </a:rPr>
              <a:t>Necesito visualizar mi módulo de billetera con el des</a:t>
            </a:r>
            <a:r>
              <a:rPr lang="en-US" sz="2499">
                <a:solidFill>
                  <a:srgbClr val="000000"/>
                </a:solidFill>
                <a:latin typeface="Open Sans"/>
                <a:ea typeface="Open Sans"/>
                <a:cs typeface="Open Sans"/>
                <a:sym typeface="Open Sans"/>
              </a:rPr>
              <a:t>glose de mis cuentas bancarias y efectivo, con la finalidad de conocer la distribución de mi dinero en un solo lugar.</a:t>
            </a:r>
          </a:p>
          <a:p>
            <a:pPr algn="just">
              <a:lnSpc>
                <a:spcPts val="3499"/>
              </a:lnSpc>
            </a:pPr>
          </a:p>
          <a:p>
            <a:pPr algn="just">
              <a:lnSpc>
                <a:spcPts val="3499"/>
              </a:lnSpc>
            </a:pPr>
            <a:r>
              <a:rPr lang="en-US" sz="2499">
                <a:solidFill>
                  <a:srgbClr val="000000"/>
                </a:solidFill>
                <a:latin typeface="Open Sans"/>
                <a:ea typeface="Open Sans"/>
                <a:cs typeface="Open Sans"/>
                <a:sym typeface="Open Sans"/>
              </a:rPr>
              <a:t>Necesito visualizar un resumen general de mi balance financiero, con la finalidad de gestionar mis gastos del mes en curso y planificarme de mejor forma.</a:t>
            </a:r>
          </a:p>
        </p:txBody>
      </p:sp>
      <p:grpSp>
        <p:nvGrpSpPr>
          <p:cNvPr name="Group 3" id="3"/>
          <p:cNvGrpSpPr/>
          <p:nvPr/>
        </p:nvGrpSpPr>
        <p:grpSpPr>
          <a:xfrm rot="0">
            <a:off x="667158" y="1504461"/>
            <a:ext cx="5124042" cy="774795"/>
            <a:chOff x="0" y="0"/>
            <a:chExt cx="6832056" cy="1033059"/>
          </a:xfrm>
        </p:grpSpPr>
        <p:grpSp>
          <p:nvGrpSpPr>
            <p:cNvPr name="Group 4" id="4"/>
            <p:cNvGrpSpPr/>
            <p:nvPr/>
          </p:nvGrpSpPr>
          <p:grpSpPr>
            <a:xfrm rot="0">
              <a:off x="0" y="516530"/>
              <a:ext cx="6832056" cy="127000"/>
              <a:chOff x="0" y="0"/>
              <a:chExt cx="1349542" cy="25086"/>
            </a:xfrm>
          </p:grpSpPr>
          <p:sp>
            <p:nvSpPr>
              <p:cNvPr name="Freeform 5" id="5"/>
              <p:cNvSpPr/>
              <p:nvPr/>
            </p:nvSpPr>
            <p:spPr>
              <a:xfrm flipH="false" flipV="false" rot="0">
                <a:off x="0" y="0"/>
                <a:ext cx="1349542" cy="25086"/>
              </a:xfrm>
              <a:custGeom>
                <a:avLst/>
                <a:gdLst/>
                <a:ahLst/>
                <a:cxnLst/>
                <a:rect r="r" b="b" t="t" l="l"/>
                <a:pathLst>
                  <a:path h="25086" w="1349542">
                    <a:moveTo>
                      <a:pt x="12543" y="0"/>
                    </a:moveTo>
                    <a:lnTo>
                      <a:pt x="1336999" y="0"/>
                    </a:lnTo>
                    <a:cubicBezTo>
                      <a:pt x="1340325" y="0"/>
                      <a:pt x="1343516" y="1322"/>
                      <a:pt x="1345868" y="3674"/>
                    </a:cubicBezTo>
                    <a:cubicBezTo>
                      <a:pt x="1348220" y="6026"/>
                      <a:pt x="1349542" y="9217"/>
                      <a:pt x="1349542" y="12543"/>
                    </a:cubicBezTo>
                    <a:lnTo>
                      <a:pt x="1349542" y="12543"/>
                    </a:lnTo>
                    <a:cubicBezTo>
                      <a:pt x="1349542" y="19471"/>
                      <a:pt x="1343926" y="25086"/>
                      <a:pt x="1336999" y="25086"/>
                    </a:cubicBezTo>
                    <a:lnTo>
                      <a:pt x="12543" y="25086"/>
                    </a:lnTo>
                    <a:cubicBezTo>
                      <a:pt x="5616" y="25086"/>
                      <a:pt x="0" y="19471"/>
                      <a:pt x="0" y="12543"/>
                    </a:cubicBezTo>
                    <a:lnTo>
                      <a:pt x="0" y="12543"/>
                    </a:lnTo>
                    <a:cubicBezTo>
                      <a:pt x="0" y="5616"/>
                      <a:pt x="5616" y="0"/>
                      <a:pt x="12543" y="0"/>
                    </a:cubicBezTo>
                    <a:close/>
                  </a:path>
                </a:pathLst>
              </a:custGeom>
              <a:solidFill>
                <a:srgbClr val="7C3AED"/>
              </a:solidFill>
            </p:spPr>
          </p:sp>
          <p:sp>
            <p:nvSpPr>
              <p:cNvPr name="TextBox 6" id="6"/>
              <p:cNvSpPr txBox="true"/>
              <p:nvPr/>
            </p:nvSpPr>
            <p:spPr>
              <a:xfrm>
                <a:off x="0" y="-38100"/>
                <a:ext cx="1349542" cy="63186"/>
              </a:xfrm>
              <a:prstGeom prst="rect">
                <a:avLst/>
              </a:prstGeom>
            </p:spPr>
            <p:txBody>
              <a:bodyPr anchor="ctr" rtlCol="false" tIns="50800" lIns="50800" bIns="50800" rIns="50800"/>
              <a:lstStyle/>
              <a:p>
                <a:pPr algn="ctr">
                  <a:lnSpc>
                    <a:spcPts val="3079"/>
                  </a:lnSpc>
                </a:pPr>
              </a:p>
            </p:txBody>
          </p:sp>
        </p:grpSp>
        <p:grpSp>
          <p:nvGrpSpPr>
            <p:cNvPr name="Group 7" id="7"/>
            <p:cNvGrpSpPr/>
            <p:nvPr/>
          </p:nvGrpSpPr>
          <p:grpSpPr>
            <a:xfrm rot="0">
              <a:off x="2860286" y="0"/>
              <a:ext cx="1111483" cy="1033059"/>
              <a:chOff x="0" y="0"/>
              <a:chExt cx="202431" cy="188148"/>
            </a:xfrm>
          </p:grpSpPr>
          <p:sp>
            <p:nvSpPr>
              <p:cNvPr name="Freeform 8" id="8"/>
              <p:cNvSpPr/>
              <p:nvPr/>
            </p:nvSpPr>
            <p:spPr>
              <a:xfrm flipH="false" flipV="false" rot="0">
                <a:off x="0" y="0"/>
                <a:ext cx="202431" cy="188148"/>
              </a:xfrm>
              <a:custGeom>
                <a:avLst/>
                <a:gdLst/>
                <a:ahLst/>
                <a:cxnLst/>
                <a:rect r="r" b="b" t="t" l="l"/>
                <a:pathLst>
                  <a:path h="188148" w="202431">
                    <a:moveTo>
                      <a:pt x="101216" y="0"/>
                    </a:moveTo>
                    <a:cubicBezTo>
                      <a:pt x="45316" y="0"/>
                      <a:pt x="0" y="42118"/>
                      <a:pt x="0" y="94074"/>
                    </a:cubicBezTo>
                    <a:cubicBezTo>
                      <a:pt x="0" y="146030"/>
                      <a:pt x="45316" y="188148"/>
                      <a:pt x="101216" y="188148"/>
                    </a:cubicBezTo>
                    <a:cubicBezTo>
                      <a:pt x="157115" y="188148"/>
                      <a:pt x="202431" y="146030"/>
                      <a:pt x="202431" y="94074"/>
                    </a:cubicBezTo>
                    <a:cubicBezTo>
                      <a:pt x="202431" y="42118"/>
                      <a:pt x="157115" y="0"/>
                      <a:pt x="101216" y="0"/>
                    </a:cubicBezTo>
                    <a:close/>
                  </a:path>
                </a:pathLst>
              </a:custGeom>
              <a:solidFill>
                <a:srgbClr val="7C3AED"/>
              </a:solidFill>
            </p:spPr>
          </p:sp>
          <p:sp>
            <p:nvSpPr>
              <p:cNvPr name="TextBox 9" id="9"/>
              <p:cNvSpPr txBox="true"/>
              <p:nvPr/>
            </p:nvSpPr>
            <p:spPr>
              <a:xfrm>
                <a:off x="18978" y="-20461"/>
                <a:ext cx="164475" cy="190970"/>
              </a:xfrm>
              <a:prstGeom prst="rect">
                <a:avLst/>
              </a:prstGeom>
            </p:spPr>
            <p:txBody>
              <a:bodyPr anchor="ctr" rtlCol="false" tIns="50800" lIns="50800" bIns="50800" rIns="50800"/>
              <a:lstStyle/>
              <a:p>
                <a:pPr algn="ctr">
                  <a:lnSpc>
                    <a:spcPts val="3079"/>
                  </a:lnSpc>
                </a:pPr>
                <a:r>
                  <a:rPr lang="en-US" b="true" sz="2199">
                    <a:solidFill>
                      <a:srgbClr val="FFFFFF"/>
                    </a:solidFill>
                    <a:latin typeface="Open Sans Bold"/>
                    <a:ea typeface="Open Sans Bold"/>
                    <a:cs typeface="Open Sans Bold"/>
                    <a:sym typeface="Open Sans Bold"/>
                  </a:rPr>
                  <a:t>1</a:t>
                </a:r>
              </a:p>
            </p:txBody>
          </p:sp>
        </p:grpSp>
      </p:grpSp>
      <p:sp>
        <p:nvSpPr>
          <p:cNvPr name="TextBox 10" id="10"/>
          <p:cNvSpPr txBox="true"/>
          <p:nvPr/>
        </p:nvSpPr>
        <p:spPr>
          <a:xfrm rot="0">
            <a:off x="561567" y="427749"/>
            <a:ext cx="3552668" cy="1047750"/>
          </a:xfrm>
          <a:prstGeom prst="rect">
            <a:avLst/>
          </a:prstGeom>
        </p:spPr>
        <p:txBody>
          <a:bodyPr anchor="t" rtlCol="false" tIns="0" lIns="0" bIns="0" rIns="0">
            <a:spAutoFit/>
          </a:bodyPr>
          <a:lstStyle/>
          <a:p>
            <a:pPr algn="l">
              <a:lnSpc>
                <a:spcPts val="4200"/>
              </a:lnSpc>
            </a:pPr>
            <a:r>
              <a:rPr lang="en-US" sz="3000" b="true">
                <a:solidFill>
                  <a:srgbClr val="7C3AED"/>
                </a:solidFill>
                <a:latin typeface="Open Sans Bold"/>
                <a:ea typeface="Open Sans Bold"/>
                <a:cs typeface="Open Sans Bold"/>
                <a:sym typeface="Open Sans Bold"/>
              </a:rPr>
              <a:t>7 Historias de Usuarios</a:t>
            </a:r>
          </a:p>
        </p:txBody>
      </p:sp>
      <p:sp>
        <p:nvSpPr>
          <p:cNvPr name="TextBox 11" id="11"/>
          <p:cNvSpPr txBox="true"/>
          <p:nvPr/>
        </p:nvSpPr>
        <p:spPr>
          <a:xfrm rot="0">
            <a:off x="6338581" y="2477645"/>
            <a:ext cx="1483072" cy="514350"/>
          </a:xfrm>
          <a:prstGeom prst="rect">
            <a:avLst/>
          </a:prstGeom>
        </p:spPr>
        <p:txBody>
          <a:bodyPr anchor="t" rtlCol="false" tIns="0" lIns="0" bIns="0" rIns="0">
            <a:spAutoFit/>
          </a:bodyPr>
          <a:lstStyle/>
          <a:p>
            <a:pPr algn="ctr">
              <a:lnSpc>
                <a:spcPts val="4200"/>
              </a:lnSpc>
            </a:pPr>
            <a:r>
              <a:rPr lang="en-US" b="true" sz="3000">
                <a:solidFill>
                  <a:srgbClr val="000000"/>
                </a:solidFill>
                <a:latin typeface="Open Sans Bold"/>
                <a:ea typeface="Open Sans Bold"/>
                <a:cs typeface="Open Sans Bold"/>
                <a:sym typeface="Open Sans Bold"/>
              </a:rPr>
              <a:t>Usu</a:t>
            </a:r>
            <a:r>
              <a:rPr lang="en-US" b="true" sz="3000">
                <a:solidFill>
                  <a:srgbClr val="000000"/>
                </a:solidFill>
                <a:latin typeface="Open Sans Bold"/>
                <a:ea typeface="Open Sans Bold"/>
                <a:cs typeface="Open Sans Bold"/>
                <a:sym typeface="Open Sans Bold"/>
              </a:rPr>
              <a:t>ario</a:t>
            </a:r>
          </a:p>
        </p:txBody>
      </p:sp>
      <p:sp>
        <p:nvSpPr>
          <p:cNvPr name="TextBox 12" id="12"/>
          <p:cNvSpPr txBox="true"/>
          <p:nvPr/>
        </p:nvSpPr>
        <p:spPr>
          <a:xfrm rot="0">
            <a:off x="13285326" y="2593923"/>
            <a:ext cx="1483072" cy="514350"/>
          </a:xfrm>
          <a:prstGeom prst="rect">
            <a:avLst/>
          </a:prstGeom>
        </p:spPr>
        <p:txBody>
          <a:bodyPr anchor="t" rtlCol="false" tIns="0" lIns="0" bIns="0" rIns="0">
            <a:spAutoFit/>
          </a:bodyPr>
          <a:lstStyle/>
          <a:p>
            <a:pPr algn="ctr">
              <a:lnSpc>
                <a:spcPts val="4200"/>
              </a:lnSpc>
            </a:pPr>
            <a:r>
              <a:rPr lang="en-US" b="true" sz="3000">
                <a:solidFill>
                  <a:srgbClr val="000000"/>
                </a:solidFill>
                <a:latin typeface="Open Sans Bold"/>
                <a:ea typeface="Open Sans Bold"/>
                <a:cs typeface="Open Sans Bold"/>
                <a:sym typeface="Open Sans Bold"/>
              </a:rPr>
              <a:t>Usu</a:t>
            </a:r>
            <a:r>
              <a:rPr lang="en-US" b="true" sz="3000">
                <a:solidFill>
                  <a:srgbClr val="000000"/>
                </a:solidFill>
                <a:latin typeface="Open Sans Bold"/>
                <a:ea typeface="Open Sans Bold"/>
                <a:cs typeface="Open Sans Bold"/>
                <a:sym typeface="Open Sans Bold"/>
              </a:rPr>
              <a:t>ario</a:t>
            </a:r>
          </a:p>
        </p:txBody>
      </p:sp>
      <p:sp>
        <p:nvSpPr>
          <p:cNvPr name="TextBox 13" id="13"/>
          <p:cNvSpPr txBox="true"/>
          <p:nvPr/>
        </p:nvSpPr>
        <p:spPr>
          <a:xfrm rot="0">
            <a:off x="13240975" y="3354288"/>
            <a:ext cx="4762500" cy="2174875"/>
          </a:xfrm>
          <a:prstGeom prst="rect">
            <a:avLst/>
          </a:prstGeom>
        </p:spPr>
        <p:txBody>
          <a:bodyPr anchor="t" rtlCol="false" tIns="0" lIns="0" bIns="0" rIns="0">
            <a:spAutoFit/>
          </a:bodyPr>
          <a:lstStyle/>
          <a:p>
            <a:pPr algn="just">
              <a:lnSpc>
                <a:spcPts val="3499"/>
              </a:lnSpc>
            </a:pPr>
            <a:r>
              <a:rPr lang="en-US" sz="2499">
                <a:solidFill>
                  <a:srgbClr val="000000"/>
                </a:solidFill>
                <a:latin typeface="Open Sans"/>
                <a:ea typeface="Open Sans"/>
                <a:cs typeface="Open Sans"/>
                <a:sym typeface="Open Sans"/>
              </a:rPr>
              <a:t>Necesito </a:t>
            </a:r>
            <a:r>
              <a:rPr lang="en-US" sz="2499">
                <a:solidFill>
                  <a:srgbClr val="000000"/>
                </a:solidFill>
                <a:latin typeface="Open Sans"/>
                <a:ea typeface="Open Sans"/>
                <a:cs typeface="Open Sans"/>
                <a:sym typeface="Open Sans"/>
              </a:rPr>
              <a:t>registrar mis metas financieras, con la finalidad de evaluar si mis ingresos actuales me permitirán cumplirlas en el tiempo previsto.</a:t>
            </a:r>
          </a:p>
        </p:txBody>
      </p:sp>
      <p:sp>
        <p:nvSpPr>
          <p:cNvPr name="TextBox 14" id="14"/>
          <p:cNvSpPr txBox="true"/>
          <p:nvPr/>
        </p:nvSpPr>
        <p:spPr>
          <a:xfrm rot="0">
            <a:off x="667158" y="2477645"/>
            <a:ext cx="1670743" cy="514350"/>
          </a:xfrm>
          <a:prstGeom prst="rect">
            <a:avLst/>
          </a:prstGeom>
        </p:spPr>
        <p:txBody>
          <a:bodyPr anchor="t" rtlCol="false" tIns="0" lIns="0" bIns="0" rIns="0">
            <a:spAutoFit/>
          </a:bodyPr>
          <a:lstStyle/>
          <a:p>
            <a:pPr algn="ctr">
              <a:lnSpc>
                <a:spcPts val="4200"/>
              </a:lnSpc>
            </a:pPr>
            <a:r>
              <a:rPr lang="en-US" b="true" sz="3000">
                <a:solidFill>
                  <a:srgbClr val="000000"/>
                </a:solidFill>
                <a:latin typeface="Open Sans Bold"/>
                <a:ea typeface="Open Sans Bold"/>
                <a:cs typeface="Open Sans Bold"/>
                <a:sym typeface="Open Sans Bold"/>
              </a:rPr>
              <a:t>Usu</a:t>
            </a:r>
            <a:r>
              <a:rPr lang="en-US" b="true" sz="3000">
                <a:solidFill>
                  <a:srgbClr val="000000"/>
                </a:solidFill>
                <a:latin typeface="Open Sans Bold"/>
                <a:ea typeface="Open Sans Bold"/>
                <a:cs typeface="Open Sans Bold"/>
                <a:sym typeface="Open Sans Bold"/>
              </a:rPr>
              <a:t>ario</a:t>
            </a:r>
          </a:p>
        </p:txBody>
      </p:sp>
      <p:sp>
        <p:nvSpPr>
          <p:cNvPr name="TextBox 15" id="15"/>
          <p:cNvSpPr txBox="true"/>
          <p:nvPr/>
        </p:nvSpPr>
        <p:spPr>
          <a:xfrm rot="0">
            <a:off x="667158" y="3182495"/>
            <a:ext cx="5124042" cy="2613025"/>
          </a:xfrm>
          <a:prstGeom prst="rect">
            <a:avLst/>
          </a:prstGeom>
        </p:spPr>
        <p:txBody>
          <a:bodyPr anchor="t" rtlCol="false" tIns="0" lIns="0" bIns="0" rIns="0">
            <a:spAutoFit/>
          </a:bodyPr>
          <a:lstStyle/>
          <a:p>
            <a:pPr algn="just">
              <a:lnSpc>
                <a:spcPts val="3499"/>
              </a:lnSpc>
            </a:pPr>
            <a:r>
              <a:rPr lang="en-US" sz="2499">
                <a:solidFill>
                  <a:srgbClr val="000000"/>
                </a:solidFill>
                <a:latin typeface="Open Sans"/>
                <a:ea typeface="Open Sans"/>
                <a:cs typeface="Open Sans"/>
                <a:sym typeface="Open Sans"/>
              </a:rPr>
              <a:t>Necesito conta</a:t>
            </a:r>
            <a:r>
              <a:rPr lang="en-US" sz="2499">
                <a:solidFill>
                  <a:srgbClr val="000000"/>
                </a:solidFill>
                <a:latin typeface="Open Sans"/>
                <a:ea typeface="Open Sans"/>
                <a:cs typeface="Open Sans"/>
                <a:sym typeface="Open Sans"/>
              </a:rPr>
              <a:t>r con un menú de accesos directos en la pantalla principal, con la finalidad de acceder rápidamente a mis secciones más utilizadas sin pasos intermedios.</a:t>
            </a:r>
          </a:p>
        </p:txBody>
      </p:sp>
      <p:sp>
        <p:nvSpPr>
          <p:cNvPr name="TextBox 16" id="16"/>
          <p:cNvSpPr txBox="true"/>
          <p:nvPr/>
        </p:nvSpPr>
        <p:spPr>
          <a:xfrm rot="0">
            <a:off x="667158" y="8183850"/>
            <a:ext cx="2621310" cy="514350"/>
          </a:xfrm>
          <a:prstGeom prst="rect">
            <a:avLst/>
          </a:prstGeom>
        </p:spPr>
        <p:txBody>
          <a:bodyPr anchor="t" rtlCol="false" tIns="0" lIns="0" bIns="0" rIns="0">
            <a:spAutoFit/>
          </a:bodyPr>
          <a:lstStyle/>
          <a:p>
            <a:pPr algn="ctr">
              <a:lnSpc>
                <a:spcPts val="4200"/>
              </a:lnSpc>
            </a:pPr>
            <a:r>
              <a:rPr lang="en-US" b="true" sz="3000">
                <a:solidFill>
                  <a:srgbClr val="000000"/>
                </a:solidFill>
                <a:latin typeface="Open Sans Bold"/>
                <a:ea typeface="Open Sans Bold"/>
                <a:cs typeface="Open Sans Bold"/>
                <a:sym typeface="Open Sans Bold"/>
              </a:rPr>
              <a:t>Des</a:t>
            </a:r>
            <a:r>
              <a:rPr lang="en-US" b="true" sz="3000">
                <a:solidFill>
                  <a:srgbClr val="000000"/>
                </a:solidFill>
                <a:latin typeface="Open Sans Bold"/>
                <a:ea typeface="Open Sans Bold"/>
                <a:cs typeface="Open Sans Bold"/>
                <a:sym typeface="Open Sans Bold"/>
              </a:rPr>
              <a:t>arrollador</a:t>
            </a:r>
          </a:p>
        </p:txBody>
      </p:sp>
      <p:sp>
        <p:nvSpPr>
          <p:cNvPr name="TextBox 17" id="17"/>
          <p:cNvSpPr txBox="true"/>
          <p:nvPr/>
        </p:nvSpPr>
        <p:spPr>
          <a:xfrm rot="0">
            <a:off x="667158" y="8774400"/>
            <a:ext cx="17336317" cy="860425"/>
          </a:xfrm>
          <a:prstGeom prst="rect">
            <a:avLst/>
          </a:prstGeom>
        </p:spPr>
        <p:txBody>
          <a:bodyPr anchor="t" rtlCol="false" tIns="0" lIns="0" bIns="0" rIns="0">
            <a:spAutoFit/>
          </a:bodyPr>
          <a:lstStyle/>
          <a:p>
            <a:pPr algn="just">
              <a:lnSpc>
                <a:spcPts val="3499"/>
              </a:lnSpc>
            </a:pPr>
            <a:r>
              <a:rPr lang="en-US" sz="2499">
                <a:solidFill>
                  <a:srgbClr val="000000"/>
                </a:solidFill>
                <a:latin typeface="Open Sans"/>
                <a:ea typeface="Open Sans"/>
                <a:cs typeface="Open Sans"/>
                <a:sym typeface="Open Sans"/>
              </a:rPr>
              <a:t>Necesito probar refactorizaciones y nuevos modelos de I</a:t>
            </a:r>
            <a:r>
              <a:rPr lang="en-US" sz="2499">
                <a:solidFill>
                  <a:srgbClr val="000000"/>
                </a:solidFill>
                <a:latin typeface="Open Sans"/>
                <a:ea typeface="Open Sans"/>
                <a:cs typeface="Open Sans"/>
                <a:sym typeface="Open Sans"/>
              </a:rPr>
              <a:t>A en un entorno de Staging aislado (staging - app.kyovantage.cl), con la finalidad de no poner en riesgo la disponibilidad del sistema en producción.</a:t>
            </a:r>
          </a:p>
        </p:txBody>
      </p:sp>
      <p:grpSp>
        <p:nvGrpSpPr>
          <p:cNvPr name="Group 18" id="18"/>
          <p:cNvGrpSpPr/>
          <p:nvPr/>
        </p:nvGrpSpPr>
        <p:grpSpPr>
          <a:xfrm rot="0">
            <a:off x="6338581" y="1530966"/>
            <a:ext cx="6355012" cy="843313"/>
            <a:chOff x="0" y="0"/>
            <a:chExt cx="8473350" cy="1124417"/>
          </a:xfrm>
        </p:grpSpPr>
        <p:grpSp>
          <p:nvGrpSpPr>
            <p:cNvPr name="Group 19" id="19"/>
            <p:cNvGrpSpPr/>
            <p:nvPr/>
          </p:nvGrpSpPr>
          <p:grpSpPr>
            <a:xfrm rot="0">
              <a:off x="0" y="481003"/>
              <a:ext cx="8473350" cy="162410"/>
              <a:chOff x="0" y="0"/>
              <a:chExt cx="1673748" cy="32081"/>
            </a:xfrm>
          </p:grpSpPr>
          <p:sp>
            <p:nvSpPr>
              <p:cNvPr name="Freeform 20" id="20"/>
              <p:cNvSpPr/>
              <p:nvPr/>
            </p:nvSpPr>
            <p:spPr>
              <a:xfrm flipH="false" flipV="false" rot="0">
                <a:off x="0" y="0"/>
                <a:ext cx="1673748" cy="32081"/>
              </a:xfrm>
              <a:custGeom>
                <a:avLst/>
                <a:gdLst/>
                <a:ahLst/>
                <a:cxnLst/>
                <a:rect r="r" b="b" t="t" l="l"/>
                <a:pathLst>
                  <a:path h="32081" w="1673748">
                    <a:moveTo>
                      <a:pt x="16041" y="0"/>
                    </a:moveTo>
                    <a:lnTo>
                      <a:pt x="1657708" y="0"/>
                    </a:lnTo>
                    <a:cubicBezTo>
                      <a:pt x="1666566" y="0"/>
                      <a:pt x="1673748" y="7182"/>
                      <a:pt x="1673748" y="16041"/>
                    </a:cubicBezTo>
                    <a:lnTo>
                      <a:pt x="1673748" y="16041"/>
                    </a:lnTo>
                    <a:cubicBezTo>
                      <a:pt x="1673748" y="20295"/>
                      <a:pt x="1672058" y="24375"/>
                      <a:pt x="1669050" y="27383"/>
                    </a:cubicBezTo>
                    <a:cubicBezTo>
                      <a:pt x="1666042" y="30391"/>
                      <a:pt x="1661962" y="32081"/>
                      <a:pt x="1657708" y="32081"/>
                    </a:cubicBezTo>
                    <a:lnTo>
                      <a:pt x="16041" y="32081"/>
                    </a:lnTo>
                    <a:cubicBezTo>
                      <a:pt x="11786" y="32081"/>
                      <a:pt x="7706" y="30391"/>
                      <a:pt x="4698" y="27383"/>
                    </a:cubicBezTo>
                    <a:cubicBezTo>
                      <a:pt x="1690" y="24375"/>
                      <a:pt x="0" y="20295"/>
                      <a:pt x="0" y="16041"/>
                    </a:cubicBezTo>
                    <a:lnTo>
                      <a:pt x="0" y="16041"/>
                    </a:lnTo>
                    <a:cubicBezTo>
                      <a:pt x="0" y="11786"/>
                      <a:pt x="1690" y="7706"/>
                      <a:pt x="4698" y="4698"/>
                    </a:cubicBezTo>
                    <a:cubicBezTo>
                      <a:pt x="7706" y="1690"/>
                      <a:pt x="11786" y="0"/>
                      <a:pt x="16041" y="0"/>
                    </a:cubicBezTo>
                    <a:close/>
                  </a:path>
                </a:pathLst>
              </a:custGeom>
              <a:solidFill>
                <a:srgbClr val="7C3AED"/>
              </a:solidFill>
              <a:ln cap="rnd">
                <a:noFill/>
                <a:prstDash val="solid"/>
                <a:round/>
              </a:ln>
            </p:spPr>
          </p:sp>
          <p:sp>
            <p:nvSpPr>
              <p:cNvPr name="TextBox 21" id="21"/>
              <p:cNvSpPr txBox="true"/>
              <p:nvPr/>
            </p:nvSpPr>
            <p:spPr>
              <a:xfrm>
                <a:off x="0" y="-38100"/>
                <a:ext cx="1673748" cy="70181"/>
              </a:xfrm>
              <a:prstGeom prst="rect">
                <a:avLst/>
              </a:prstGeom>
            </p:spPr>
            <p:txBody>
              <a:bodyPr anchor="ctr" rtlCol="false" tIns="50800" lIns="50800" bIns="50800" rIns="50800"/>
              <a:lstStyle/>
              <a:p>
                <a:pPr algn="ctr" marL="0" indent="0" lvl="0">
                  <a:lnSpc>
                    <a:spcPts val="3079"/>
                  </a:lnSpc>
                  <a:spcBef>
                    <a:spcPct val="0"/>
                  </a:spcBef>
                </a:pPr>
              </a:p>
            </p:txBody>
          </p:sp>
        </p:grpSp>
        <p:grpSp>
          <p:nvGrpSpPr>
            <p:cNvPr name="Group 22" id="22"/>
            <p:cNvGrpSpPr/>
            <p:nvPr/>
          </p:nvGrpSpPr>
          <p:grpSpPr>
            <a:xfrm rot="0">
              <a:off x="3650038" y="0"/>
              <a:ext cx="1173273" cy="1124417"/>
              <a:chOff x="0" y="0"/>
              <a:chExt cx="251062" cy="240608"/>
            </a:xfrm>
          </p:grpSpPr>
          <p:sp>
            <p:nvSpPr>
              <p:cNvPr name="Freeform 23" id="23"/>
              <p:cNvSpPr/>
              <p:nvPr/>
            </p:nvSpPr>
            <p:spPr>
              <a:xfrm flipH="false" flipV="false" rot="0">
                <a:off x="0" y="0"/>
                <a:ext cx="251062" cy="240608"/>
              </a:xfrm>
              <a:custGeom>
                <a:avLst/>
                <a:gdLst/>
                <a:ahLst/>
                <a:cxnLst/>
                <a:rect r="r" b="b" t="t" l="l"/>
                <a:pathLst>
                  <a:path h="240608" w="251062">
                    <a:moveTo>
                      <a:pt x="125531" y="0"/>
                    </a:moveTo>
                    <a:cubicBezTo>
                      <a:pt x="56202" y="0"/>
                      <a:pt x="0" y="53862"/>
                      <a:pt x="0" y="120304"/>
                    </a:cubicBezTo>
                    <a:cubicBezTo>
                      <a:pt x="0" y="186746"/>
                      <a:pt x="56202" y="240608"/>
                      <a:pt x="125531" y="240608"/>
                    </a:cubicBezTo>
                    <a:cubicBezTo>
                      <a:pt x="194860" y="240608"/>
                      <a:pt x="251062" y="186746"/>
                      <a:pt x="251062" y="120304"/>
                    </a:cubicBezTo>
                    <a:cubicBezTo>
                      <a:pt x="251062" y="53862"/>
                      <a:pt x="194860" y="0"/>
                      <a:pt x="125531" y="0"/>
                    </a:cubicBezTo>
                    <a:close/>
                  </a:path>
                </a:pathLst>
              </a:custGeom>
              <a:solidFill>
                <a:srgbClr val="7C3AED"/>
              </a:solidFill>
            </p:spPr>
          </p:sp>
          <p:sp>
            <p:nvSpPr>
              <p:cNvPr name="TextBox 24" id="24"/>
              <p:cNvSpPr txBox="true"/>
              <p:nvPr/>
            </p:nvSpPr>
            <p:spPr>
              <a:xfrm>
                <a:off x="23537" y="-15543"/>
                <a:ext cx="203988" cy="233594"/>
              </a:xfrm>
              <a:prstGeom prst="rect">
                <a:avLst/>
              </a:prstGeom>
            </p:spPr>
            <p:txBody>
              <a:bodyPr anchor="ctr" rtlCol="false" tIns="50800" lIns="50800" bIns="50800" rIns="50800"/>
              <a:lstStyle/>
              <a:p>
                <a:pPr algn="ctr" marL="0" indent="0" lvl="0">
                  <a:lnSpc>
                    <a:spcPts val="3079"/>
                  </a:lnSpc>
                  <a:spcBef>
                    <a:spcPct val="0"/>
                  </a:spcBef>
                </a:pPr>
                <a:r>
                  <a:rPr lang="en-US" b="true" sz="2199" strike="noStrike" u="none">
                    <a:solidFill>
                      <a:srgbClr val="FFFFFF"/>
                    </a:solidFill>
                    <a:latin typeface="Open Sans Bold"/>
                    <a:ea typeface="Open Sans Bold"/>
                    <a:cs typeface="Open Sans Bold"/>
                    <a:sym typeface="Open Sans Bold"/>
                  </a:rPr>
                  <a:t>2</a:t>
                </a:r>
              </a:p>
            </p:txBody>
          </p:sp>
        </p:grpSp>
      </p:grpSp>
      <p:grpSp>
        <p:nvGrpSpPr>
          <p:cNvPr name="Group 25" id="25"/>
          <p:cNvGrpSpPr/>
          <p:nvPr/>
        </p:nvGrpSpPr>
        <p:grpSpPr>
          <a:xfrm rot="0">
            <a:off x="13240975" y="1421670"/>
            <a:ext cx="4762500" cy="875000"/>
            <a:chOff x="0" y="0"/>
            <a:chExt cx="6350000" cy="1166667"/>
          </a:xfrm>
        </p:grpSpPr>
        <p:grpSp>
          <p:nvGrpSpPr>
            <p:cNvPr name="Group 26" id="26"/>
            <p:cNvGrpSpPr/>
            <p:nvPr/>
          </p:nvGrpSpPr>
          <p:grpSpPr>
            <a:xfrm rot="0">
              <a:off x="0" y="583333"/>
              <a:ext cx="6350000" cy="168343"/>
              <a:chOff x="0" y="0"/>
              <a:chExt cx="1254321" cy="33253"/>
            </a:xfrm>
          </p:grpSpPr>
          <p:sp>
            <p:nvSpPr>
              <p:cNvPr name="Freeform 27" id="27"/>
              <p:cNvSpPr/>
              <p:nvPr/>
            </p:nvSpPr>
            <p:spPr>
              <a:xfrm flipH="false" flipV="false" rot="0">
                <a:off x="0" y="0"/>
                <a:ext cx="1254321" cy="33253"/>
              </a:xfrm>
              <a:custGeom>
                <a:avLst/>
                <a:gdLst/>
                <a:ahLst/>
                <a:cxnLst/>
                <a:rect r="r" b="b" t="t" l="l"/>
                <a:pathLst>
                  <a:path h="33253" w="1254321">
                    <a:moveTo>
                      <a:pt x="16626" y="0"/>
                    </a:moveTo>
                    <a:lnTo>
                      <a:pt x="1237695" y="0"/>
                    </a:lnTo>
                    <a:cubicBezTo>
                      <a:pt x="1242104" y="0"/>
                      <a:pt x="1246333" y="1752"/>
                      <a:pt x="1249451" y="4870"/>
                    </a:cubicBezTo>
                    <a:cubicBezTo>
                      <a:pt x="1252569" y="7988"/>
                      <a:pt x="1254321" y="12217"/>
                      <a:pt x="1254321" y="16626"/>
                    </a:cubicBezTo>
                    <a:lnTo>
                      <a:pt x="1254321" y="16626"/>
                    </a:lnTo>
                    <a:cubicBezTo>
                      <a:pt x="1254321" y="25809"/>
                      <a:pt x="1246877" y="33253"/>
                      <a:pt x="1237695" y="33253"/>
                    </a:cubicBezTo>
                    <a:lnTo>
                      <a:pt x="16626" y="33253"/>
                    </a:lnTo>
                    <a:cubicBezTo>
                      <a:pt x="7444" y="33253"/>
                      <a:pt x="0" y="25809"/>
                      <a:pt x="0" y="16626"/>
                    </a:cubicBezTo>
                    <a:lnTo>
                      <a:pt x="0" y="16626"/>
                    </a:lnTo>
                    <a:cubicBezTo>
                      <a:pt x="0" y="7444"/>
                      <a:pt x="7444" y="0"/>
                      <a:pt x="16626" y="0"/>
                    </a:cubicBezTo>
                    <a:close/>
                  </a:path>
                </a:pathLst>
              </a:custGeom>
              <a:solidFill>
                <a:srgbClr val="7C3AED"/>
              </a:solidFill>
              <a:ln cap="rnd">
                <a:noFill/>
                <a:prstDash val="solid"/>
                <a:round/>
              </a:ln>
            </p:spPr>
          </p:sp>
          <p:sp>
            <p:nvSpPr>
              <p:cNvPr name="TextBox 28" id="28"/>
              <p:cNvSpPr txBox="true"/>
              <p:nvPr/>
            </p:nvSpPr>
            <p:spPr>
              <a:xfrm>
                <a:off x="0" y="-38100"/>
                <a:ext cx="1254321" cy="71353"/>
              </a:xfrm>
              <a:prstGeom prst="rect">
                <a:avLst/>
              </a:prstGeom>
            </p:spPr>
            <p:txBody>
              <a:bodyPr anchor="ctr" rtlCol="false" tIns="50800" lIns="50800" bIns="50800" rIns="50800"/>
              <a:lstStyle/>
              <a:p>
                <a:pPr algn="ctr" marL="0" indent="0" lvl="0">
                  <a:lnSpc>
                    <a:spcPts val="3079"/>
                  </a:lnSpc>
                  <a:spcBef>
                    <a:spcPct val="0"/>
                  </a:spcBef>
                </a:pPr>
              </a:p>
            </p:txBody>
          </p:sp>
        </p:grpSp>
        <p:grpSp>
          <p:nvGrpSpPr>
            <p:cNvPr name="Group 29" id="29"/>
            <p:cNvGrpSpPr/>
            <p:nvPr/>
          </p:nvGrpSpPr>
          <p:grpSpPr>
            <a:xfrm rot="0">
              <a:off x="2598281" y="0"/>
              <a:ext cx="1153437" cy="1166667"/>
              <a:chOff x="0" y="0"/>
              <a:chExt cx="246569" cy="249397"/>
            </a:xfrm>
          </p:grpSpPr>
          <p:sp>
            <p:nvSpPr>
              <p:cNvPr name="Freeform 30" id="30"/>
              <p:cNvSpPr/>
              <p:nvPr/>
            </p:nvSpPr>
            <p:spPr>
              <a:xfrm flipH="false" flipV="false" rot="0">
                <a:off x="0" y="0"/>
                <a:ext cx="246569" cy="249397"/>
              </a:xfrm>
              <a:custGeom>
                <a:avLst/>
                <a:gdLst/>
                <a:ahLst/>
                <a:cxnLst/>
                <a:rect r="r" b="b" t="t" l="l"/>
                <a:pathLst>
                  <a:path h="249397" w="246569">
                    <a:moveTo>
                      <a:pt x="123285" y="0"/>
                    </a:moveTo>
                    <a:cubicBezTo>
                      <a:pt x="55196" y="0"/>
                      <a:pt x="0" y="55829"/>
                      <a:pt x="0" y="124699"/>
                    </a:cubicBezTo>
                    <a:cubicBezTo>
                      <a:pt x="0" y="193568"/>
                      <a:pt x="55196" y="249397"/>
                      <a:pt x="123285" y="249397"/>
                    </a:cubicBezTo>
                    <a:cubicBezTo>
                      <a:pt x="191373" y="249397"/>
                      <a:pt x="246569" y="193568"/>
                      <a:pt x="246569" y="124699"/>
                    </a:cubicBezTo>
                    <a:cubicBezTo>
                      <a:pt x="246569" y="55829"/>
                      <a:pt x="191373" y="0"/>
                      <a:pt x="123285" y="0"/>
                    </a:cubicBezTo>
                    <a:close/>
                  </a:path>
                </a:pathLst>
              </a:custGeom>
              <a:solidFill>
                <a:srgbClr val="7C3AED"/>
              </a:solidFill>
            </p:spPr>
          </p:sp>
          <p:sp>
            <p:nvSpPr>
              <p:cNvPr name="TextBox 31" id="31"/>
              <p:cNvSpPr txBox="true"/>
              <p:nvPr/>
            </p:nvSpPr>
            <p:spPr>
              <a:xfrm>
                <a:off x="23116" y="-14719"/>
                <a:ext cx="200337" cy="240735"/>
              </a:xfrm>
              <a:prstGeom prst="rect">
                <a:avLst/>
              </a:prstGeom>
            </p:spPr>
            <p:txBody>
              <a:bodyPr anchor="ctr" rtlCol="false" tIns="50800" lIns="50800" bIns="50800" rIns="50800"/>
              <a:lstStyle/>
              <a:p>
                <a:pPr algn="ctr" marL="0" indent="0" lvl="0">
                  <a:lnSpc>
                    <a:spcPts val="3079"/>
                  </a:lnSpc>
                  <a:spcBef>
                    <a:spcPct val="0"/>
                  </a:spcBef>
                </a:pPr>
                <a:r>
                  <a:rPr lang="en-US" b="true" sz="2199" strike="noStrike" u="none">
                    <a:solidFill>
                      <a:srgbClr val="FFFFFF"/>
                    </a:solidFill>
                    <a:latin typeface="Open Sans Bold"/>
                    <a:ea typeface="Open Sans Bold"/>
                    <a:cs typeface="Open Sans Bold"/>
                    <a:sym typeface="Open Sans Bold"/>
                  </a:rPr>
                  <a:t>3</a:t>
                </a:r>
              </a:p>
            </p:txBody>
          </p:sp>
        </p:grpSp>
      </p:grpSp>
      <p:grpSp>
        <p:nvGrpSpPr>
          <p:cNvPr name="Group 32" id="32"/>
          <p:cNvGrpSpPr/>
          <p:nvPr/>
        </p:nvGrpSpPr>
        <p:grpSpPr>
          <a:xfrm rot="0">
            <a:off x="0" y="7372291"/>
            <a:ext cx="18288000" cy="868709"/>
            <a:chOff x="0" y="0"/>
            <a:chExt cx="24384000" cy="1158278"/>
          </a:xfrm>
        </p:grpSpPr>
        <p:grpSp>
          <p:nvGrpSpPr>
            <p:cNvPr name="Group 33" id="33"/>
            <p:cNvGrpSpPr/>
            <p:nvPr/>
          </p:nvGrpSpPr>
          <p:grpSpPr>
            <a:xfrm rot="0">
              <a:off x="0" y="579139"/>
              <a:ext cx="24384000" cy="141901"/>
              <a:chOff x="0" y="0"/>
              <a:chExt cx="4816593" cy="28030"/>
            </a:xfrm>
          </p:grpSpPr>
          <p:sp>
            <p:nvSpPr>
              <p:cNvPr name="Freeform 34" id="34"/>
              <p:cNvSpPr/>
              <p:nvPr/>
            </p:nvSpPr>
            <p:spPr>
              <a:xfrm flipH="false" flipV="false" rot="0">
                <a:off x="0" y="0"/>
                <a:ext cx="4816592" cy="28030"/>
              </a:xfrm>
              <a:custGeom>
                <a:avLst/>
                <a:gdLst/>
                <a:ahLst/>
                <a:cxnLst/>
                <a:rect r="r" b="b" t="t" l="l"/>
                <a:pathLst>
                  <a:path h="28030" w="4816592">
                    <a:moveTo>
                      <a:pt x="14015" y="0"/>
                    </a:moveTo>
                    <a:lnTo>
                      <a:pt x="4802577" y="0"/>
                    </a:lnTo>
                    <a:cubicBezTo>
                      <a:pt x="4806295" y="0"/>
                      <a:pt x="4809859" y="1477"/>
                      <a:pt x="4812488" y="4105"/>
                    </a:cubicBezTo>
                    <a:cubicBezTo>
                      <a:pt x="4815116" y="6733"/>
                      <a:pt x="4816592" y="10298"/>
                      <a:pt x="4816592" y="14015"/>
                    </a:cubicBezTo>
                    <a:lnTo>
                      <a:pt x="4816592" y="14015"/>
                    </a:lnTo>
                    <a:cubicBezTo>
                      <a:pt x="4816592" y="21755"/>
                      <a:pt x="4810318" y="28030"/>
                      <a:pt x="4802577" y="28030"/>
                    </a:cubicBezTo>
                    <a:lnTo>
                      <a:pt x="14015" y="28030"/>
                    </a:lnTo>
                    <a:cubicBezTo>
                      <a:pt x="10298" y="28030"/>
                      <a:pt x="6733" y="26553"/>
                      <a:pt x="4105" y="23925"/>
                    </a:cubicBezTo>
                    <a:cubicBezTo>
                      <a:pt x="1477" y="21297"/>
                      <a:pt x="0" y="17732"/>
                      <a:pt x="0" y="14015"/>
                    </a:cubicBezTo>
                    <a:lnTo>
                      <a:pt x="0" y="14015"/>
                    </a:lnTo>
                    <a:cubicBezTo>
                      <a:pt x="0" y="10298"/>
                      <a:pt x="1477" y="6733"/>
                      <a:pt x="4105" y="4105"/>
                    </a:cubicBezTo>
                    <a:cubicBezTo>
                      <a:pt x="6733" y="1477"/>
                      <a:pt x="10298" y="0"/>
                      <a:pt x="14015" y="0"/>
                    </a:cubicBezTo>
                    <a:close/>
                  </a:path>
                </a:pathLst>
              </a:custGeom>
              <a:solidFill>
                <a:srgbClr val="7C3AED"/>
              </a:solidFill>
            </p:spPr>
          </p:sp>
          <p:sp>
            <p:nvSpPr>
              <p:cNvPr name="TextBox 35" id="35"/>
              <p:cNvSpPr txBox="true"/>
              <p:nvPr/>
            </p:nvSpPr>
            <p:spPr>
              <a:xfrm>
                <a:off x="0" y="-38100"/>
                <a:ext cx="4816593" cy="66130"/>
              </a:xfrm>
              <a:prstGeom prst="rect">
                <a:avLst/>
              </a:prstGeom>
            </p:spPr>
            <p:txBody>
              <a:bodyPr anchor="ctr" rtlCol="false" tIns="50800" lIns="50800" bIns="50800" rIns="50800"/>
              <a:lstStyle/>
              <a:p>
                <a:pPr algn="ctr">
                  <a:lnSpc>
                    <a:spcPts val="3079"/>
                  </a:lnSpc>
                </a:pPr>
              </a:p>
            </p:txBody>
          </p:sp>
        </p:grpSp>
        <p:grpSp>
          <p:nvGrpSpPr>
            <p:cNvPr name="Group 36" id="36"/>
            <p:cNvGrpSpPr/>
            <p:nvPr/>
          </p:nvGrpSpPr>
          <p:grpSpPr>
            <a:xfrm rot="0">
              <a:off x="11528547" y="0"/>
              <a:ext cx="1263530" cy="1158278"/>
              <a:chOff x="0" y="0"/>
              <a:chExt cx="229327" cy="210224"/>
            </a:xfrm>
          </p:grpSpPr>
          <p:sp>
            <p:nvSpPr>
              <p:cNvPr name="Freeform 37" id="37"/>
              <p:cNvSpPr/>
              <p:nvPr/>
            </p:nvSpPr>
            <p:spPr>
              <a:xfrm flipH="false" flipV="false" rot="0">
                <a:off x="0" y="0"/>
                <a:ext cx="229327" cy="210224"/>
              </a:xfrm>
              <a:custGeom>
                <a:avLst/>
                <a:gdLst/>
                <a:ahLst/>
                <a:cxnLst/>
                <a:rect r="r" b="b" t="t" l="l"/>
                <a:pathLst>
                  <a:path h="210224" w="229327">
                    <a:moveTo>
                      <a:pt x="114664" y="0"/>
                    </a:moveTo>
                    <a:cubicBezTo>
                      <a:pt x="51337" y="0"/>
                      <a:pt x="0" y="47060"/>
                      <a:pt x="0" y="105112"/>
                    </a:cubicBezTo>
                    <a:cubicBezTo>
                      <a:pt x="0" y="163164"/>
                      <a:pt x="51337" y="210224"/>
                      <a:pt x="114664" y="210224"/>
                    </a:cubicBezTo>
                    <a:cubicBezTo>
                      <a:pt x="177990" y="210224"/>
                      <a:pt x="229327" y="163164"/>
                      <a:pt x="229327" y="105112"/>
                    </a:cubicBezTo>
                    <a:cubicBezTo>
                      <a:pt x="229327" y="47060"/>
                      <a:pt x="177990" y="0"/>
                      <a:pt x="114664" y="0"/>
                    </a:cubicBezTo>
                    <a:close/>
                  </a:path>
                </a:pathLst>
              </a:custGeom>
              <a:solidFill>
                <a:srgbClr val="7C3AED"/>
              </a:solidFill>
            </p:spPr>
          </p:sp>
          <p:sp>
            <p:nvSpPr>
              <p:cNvPr name="TextBox 38" id="38"/>
              <p:cNvSpPr txBox="true"/>
              <p:nvPr/>
            </p:nvSpPr>
            <p:spPr>
              <a:xfrm>
                <a:off x="21499" y="-18391"/>
                <a:ext cx="186328" cy="208907"/>
              </a:xfrm>
              <a:prstGeom prst="rect">
                <a:avLst/>
              </a:prstGeom>
            </p:spPr>
            <p:txBody>
              <a:bodyPr anchor="ctr" rtlCol="false" tIns="50800" lIns="50800" bIns="50800" rIns="50800"/>
              <a:lstStyle/>
              <a:p>
                <a:pPr algn="ctr">
                  <a:lnSpc>
                    <a:spcPts val="3079"/>
                  </a:lnSpc>
                </a:pPr>
                <a:r>
                  <a:rPr lang="en-US" b="true" sz="2199">
                    <a:solidFill>
                      <a:srgbClr val="FFFFFF"/>
                    </a:solidFill>
                    <a:latin typeface="Open Sans Bold"/>
                    <a:ea typeface="Open Sans Bold"/>
                    <a:cs typeface="Open Sans Bold"/>
                    <a:sym typeface="Open Sans Bold"/>
                  </a:rPr>
                  <a:t>4</a:t>
                </a:r>
              </a:p>
            </p:txBody>
          </p:sp>
        </p:grpSp>
      </p:grpSp>
      <p:sp>
        <p:nvSpPr>
          <p:cNvPr name="AutoShape 39" id="39"/>
          <p:cNvSpPr/>
          <p:nvPr/>
        </p:nvSpPr>
        <p:spPr>
          <a:xfrm>
            <a:off x="4251997" y="732549"/>
            <a:ext cx="18098098" cy="0"/>
          </a:xfrm>
          <a:prstGeom prst="line">
            <a:avLst/>
          </a:prstGeom>
          <a:ln cap="flat" w="19050">
            <a:solidFill>
              <a:srgbClr val="000000"/>
            </a:solidFill>
            <a:prstDash val="solid"/>
            <a:headEnd type="none" len="sm" w="sm"/>
            <a:tailEnd type="none" len="sm" w="sm"/>
          </a:ln>
        </p:spPr>
      </p:sp>
    </p:spTree>
  </p:cSld>
  <p:clrMapOvr>
    <a:masterClrMapping/>
  </p:clrMapOvr>
  <p:transition spd="fast">
    <p:cover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2F2F7"/>
        </a:solidFill>
      </p:bgPr>
    </p:bg>
    <p:spTree>
      <p:nvGrpSpPr>
        <p:cNvPr id="1" name=""/>
        <p:cNvGrpSpPr/>
        <p:nvPr/>
      </p:nvGrpSpPr>
      <p:grpSpPr>
        <a:xfrm>
          <a:off x="0" y="0"/>
          <a:ext cx="0" cy="0"/>
          <a:chOff x="0" y="0"/>
          <a:chExt cx="0" cy="0"/>
        </a:xfrm>
      </p:grpSpPr>
      <p:sp>
        <p:nvSpPr>
          <p:cNvPr name="Freeform 2" id="2"/>
          <p:cNvSpPr/>
          <p:nvPr/>
        </p:nvSpPr>
        <p:spPr>
          <a:xfrm flipH="false" flipV="false" rot="0">
            <a:off x="0" y="160020"/>
            <a:ext cx="18288000" cy="10126980"/>
          </a:xfrm>
          <a:custGeom>
            <a:avLst/>
            <a:gdLst/>
            <a:ahLst/>
            <a:cxnLst/>
            <a:rect r="r" b="b" t="t" l="l"/>
            <a:pathLst>
              <a:path h="10126980" w="18288000">
                <a:moveTo>
                  <a:pt x="0" y="0"/>
                </a:moveTo>
                <a:lnTo>
                  <a:pt x="18288000" y="0"/>
                </a:lnTo>
                <a:lnTo>
                  <a:pt x="18288000" y="10126980"/>
                </a:lnTo>
                <a:lnTo>
                  <a:pt x="0" y="10126980"/>
                </a:lnTo>
                <a:lnTo>
                  <a:pt x="0" y="0"/>
                </a:lnTo>
                <a:close/>
              </a:path>
            </a:pathLst>
          </a:custGeom>
          <a:blipFill>
            <a:blip r:embed="rId2"/>
            <a:stretch>
              <a:fillRect l="0" t="0" r="0" b="0"/>
            </a:stretch>
          </a:blipFill>
        </p:spPr>
      </p:sp>
      <p:sp>
        <p:nvSpPr>
          <p:cNvPr name="TextBox 3" id="3"/>
          <p:cNvSpPr txBox="true"/>
          <p:nvPr/>
        </p:nvSpPr>
        <p:spPr>
          <a:xfrm rot="0">
            <a:off x="346951" y="390322"/>
            <a:ext cx="6437585" cy="2114550"/>
          </a:xfrm>
          <a:prstGeom prst="rect">
            <a:avLst/>
          </a:prstGeom>
        </p:spPr>
        <p:txBody>
          <a:bodyPr anchor="t" rtlCol="false" tIns="0" lIns="0" bIns="0" rIns="0">
            <a:spAutoFit/>
          </a:bodyPr>
          <a:lstStyle/>
          <a:p>
            <a:pPr algn="l">
              <a:lnSpc>
                <a:spcPts val="4200"/>
              </a:lnSpc>
            </a:pPr>
            <a:r>
              <a:rPr lang="en-US" sz="3000" b="true">
                <a:solidFill>
                  <a:srgbClr val="813DF9"/>
                </a:solidFill>
                <a:latin typeface="Open Sans Bold"/>
                <a:ea typeface="Open Sans Bold"/>
                <a:cs typeface="Open Sans Bold"/>
                <a:sym typeface="Open Sans Bold"/>
              </a:rPr>
              <a:t>8 Arquitectura</a:t>
            </a:r>
          </a:p>
          <a:p>
            <a:pPr algn="l">
              <a:lnSpc>
                <a:spcPts val="4200"/>
              </a:lnSpc>
            </a:pPr>
          </a:p>
          <a:p>
            <a:pPr algn="l">
              <a:lnSpc>
                <a:spcPts val="4200"/>
              </a:lnSpc>
            </a:pPr>
            <a:r>
              <a:rPr lang="en-US" sz="3000">
                <a:solidFill>
                  <a:srgbClr val="000000"/>
                </a:solidFill>
                <a:latin typeface="Open Sans"/>
                <a:ea typeface="Open Sans"/>
                <a:cs typeface="Open Sans"/>
                <a:sym typeface="Open Sans"/>
              </a:rPr>
              <a:t>‘’Flujo del Sistema e Infraestructura </a:t>
            </a:r>
          </a:p>
          <a:p>
            <a:pPr algn="l">
              <a:lnSpc>
                <a:spcPts val="4200"/>
              </a:lnSpc>
            </a:pPr>
            <a:r>
              <a:rPr lang="en-US" sz="3000" b="true">
                <a:solidFill>
                  <a:srgbClr val="000000"/>
                </a:solidFill>
                <a:latin typeface="Open Sans Bold"/>
                <a:ea typeface="Open Sans Bold"/>
                <a:cs typeface="Open Sans Bold"/>
                <a:sym typeface="Open Sans Bold"/>
              </a:rPr>
              <a:t>Kyo</a:t>
            </a:r>
            <a:r>
              <a:rPr lang="en-US" sz="3000" b="true">
                <a:solidFill>
                  <a:srgbClr val="FFFFFF"/>
                </a:solidFill>
                <a:latin typeface="Open Sans Bold"/>
                <a:ea typeface="Open Sans Bold"/>
                <a:cs typeface="Open Sans Bold"/>
                <a:sym typeface="Open Sans Bold"/>
              </a:rPr>
              <a:t> </a:t>
            </a:r>
            <a:r>
              <a:rPr lang="en-US" sz="3000" b="true">
                <a:solidFill>
                  <a:srgbClr val="813DF9"/>
                </a:solidFill>
                <a:latin typeface="Open Sans Bold"/>
                <a:ea typeface="Open Sans Bold"/>
                <a:cs typeface="Open Sans Bold"/>
                <a:sym typeface="Open Sans Bold"/>
              </a:rPr>
              <a:t>Vantage</a:t>
            </a:r>
            <a:r>
              <a:rPr lang="en-US" sz="3000">
                <a:solidFill>
                  <a:srgbClr val="000000"/>
                </a:solidFill>
                <a:latin typeface="Open Sans"/>
                <a:ea typeface="Open Sans"/>
                <a:cs typeface="Open Sans"/>
                <a:sym typeface="Open Sans"/>
              </a:rPr>
              <a:t>’’</a:t>
            </a:r>
          </a:p>
        </p:txBody>
      </p:sp>
    </p:spTree>
  </p:cSld>
  <p:clrMapOvr>
    <a:masterClrMapping/>
  </p:clrMapOvr>
  <p:transition spd="fast">
    <p:cover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2F2F7"/>
        </a:solidFill>
      </p:bgPr>
    </p:bg>
    <p:spTree>
      <p:nvGrpSpPr>
        <p:cNvPr id="1" name=""/>
        <p:cNvGrpSpPr/>
        <p:nvPr/>
      </p:nvGrpSpPr>
      <p:grpSpPr>
        <a:xfrm>
          <a:off x="0" y="0"/>
          <a:ext cx="0" cy="0"/>
          <a:chOff x="0" y="0"/>
          <a:chExt cx="0" cy="0"/>
        </a:xfrm>
      </p:grpSpPr>
      <p:sp>
        <p:nvSpPr>
          <p:cNvPr name="Freeform 2" id="2"/>
          <p:cNvSpPr/>
          <p:nvPr/>
        </p:nvSpPr>
        <p:spPr>
          <a:xfrm flipH="false" flipV="false" rot="0">
            <a:off x="6359230" y="2414426"/>
            <a:ext cx="5569540" cy="5458149"/>
          </a:xfrm>
          <a:custGeom>
            <a:avLst/>
            <a:gdLst/>
            <a:ahLst/>
            <a:cxnLst/>
            <a:rect r="r" b="b" t="t" l="l"/>
            <a:pathLst>
              <a:path h="5458149" w="5569540">
                <a:moveTo>
                  <a:pt x="0" y="0"/>
                </a:moveTo>
                <a:lnTo>
                  <a:pt x="5569540" y="0"/>
                </a:lnTo>
                <a:lnTo>
                  <a:pt x="5569540" y="5458148"/>
                </a:lnTo>
                <a:lnTo>
                  <a:pt x="0" y="54581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7028045" y="714867"/>
            <a:ext cx="18098098" cy="0"/>
          </a:xfrm>
          <a:prstGeom prst="line">
            <a:avLst/>
          </a:prstGeom>
          <a:ln cap="flat" w="19050">
            <a:solidFill>
              <a:srgbClr val="000000"/>
            </a:solidFill>
            <a:prstDash val="solid"/>
            <a:headEnd type="none" len="sm" w="sm"/>
            <a:tailEnd type="none" len="sm" w="sm"/>
          </a:ln>
        </p:spPr>
      </p:sp>
      <p:sp>
        <p:nvSpPr>
          <p:cNvPr name="Freeform 4" id="4"/>
          <p:cNvSpPr/>
          <p:nvPr/>
        </p:nvSpPr>
        <p:spPr>
          <a:xfrm flipH="false" flipV="false" rot="0">
            <a:off x="7536758" y="3156036"/>
            <a:ext cx="714375" cy="642938"/>
          </a:xfrm>
          <a:custGeom>
            <a:avLst/>
            <a:gdLst/>
            <a:ahLst/>
            <a:cxnLst/>
            <a:rect r="r" b="b" t="t" l="l"/>
            <a:pathLst>
              <a:path h="642938" w="714375">
                <a:moveTo>
                  <a:pt x="0" y="0"/>
                </a:moveTo>
                <a:lnTo>
                  <a:pt x="714375" y="0"/>
                </a:lnTo>
                <a:lnTo>
                  <a:pt x="714375" y="642938"/>
                </a:lnTo>
                <a:lnTo>
                  <a:pt x="0" y="6429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899906" y="3077941"/>
            <a:ext cx="714375" cy="710803"/>
          </a:xfrm>
          <a:custGeom>
            <a:avLst/>
            <a:gdLst/>
            <a:ahLst/>
            <a:cxnLst/>
            <a:rect r="r" b="b" t="t" l="l"/>
            <a:pathLst>
              <a:path h="710803" w="714375">
                <a:moveTo>
                  <a:pt x="0" y="0"/>
                </a:moveTo>
                <a:lnTo>
                  <a:pt x="714375" y="0"/>
                </a:lnTo>
                <a:lnTo>
                  <a:pt x="714375" y="710803"/>
                </a:lnTo>
                <a:lnTo>
                  <a:pt x="0" y="7108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644358" y="5425807"/>
            <a:ext cx="714375" cy="740285"/>
          </a:xfrm>
          <a:custGeom>
            <a:avLst/>
            <a:gdLst/>
            <a:ahLst/>
            <a:cxnLst/>
            <a:rect r="r" b="b" t="t" l="l"/>
            <a:pathLst>
              <a:path h="740285" w="714375">
                <a:moveTo>
                  <a:pt x="0" y="0"/>
                </a:moveTo>
                <a:lnTo>
                  <a:pt x="714375" y="0"/>
                </a:lnTo>
                <a:lnTo>
                  <a:pt x="714375" y="740285"/>
                </a:lnTo>
                <a:lnTo>
                  <a:pt x="0" y="7402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8755196" y="6709524"/>
            <a:ext cx="714375" cy="748037"/>
          </a:xfrm>
          <a:custGeom>
            <a:avLst/>
            <a:gdLst/>
            <a:ahLst/>
            <a:cxnLst/>
            <a:rect r="r" b="b" t="t" l="l"/>
            <a:pathLst>
              <a:path h="748037" w="714375">
                <a:moveTo>
                  <a:pt x="0" y="0"/>
                </a:moveTo>
                <a:lnTo>
                  <a:pt x="714375" y="0"/>
                </a:lnTo>
                <a:lnTo>
                  <a:pt x="714375" y="748037"/>
                </a:lnTo>
                <a:lnTo>
                  <a:pt x="0" y="74803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6854918" y="5290212"/>
            <a:ext cx="714375" cy="736469"/>
          </a:xfrm>
          <a:custGeom>
            <a:avLst/>
            <a:gdLst/>
            <a:ahLst/>
            <a:cxnLst/>
            <a:rect r="r" b="b" t="t" l="l"/>
            <a:pathLst>
              <a:path h="736469" w="714375">
                <a:moveTo>
                  <a:pt x="0" y="0"/>
                </a:moveTo>
                <a:lnTo>
                  <a:pt x="714375" y="0"/>
                </a:lnTo>
                <a:lnTo>
                  <a:pt x="714375" y="736469"/>
                </a:lnTo>
                <a:lnTo>
                  <a:pt x="0" y="7364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11440035" y="419592"/>
            <a:ext cx="6643517" cy="514350"/>
          </a:xfrm>
          <a:prstGeom prst="rect">
            <a:avLst/>
          </a:prstGeom>
        </p:spPr>
        <p:txBody>
          <a:bodyPr anchor="t" rtlCol="false" tIns="0" lIns="0" bIns="0" rIns="0">
            <a:spAutoFit/>
          </a:bodyPr>
          <a:lstStyle/>
          <a:p>
            <a:pPr algn="l">
              <a:lnSpc>
                <a:spcPts val="4200"/>
              </a:lnSpc>
            </a:pPr>
            <a:r>
              <a:rPr lang="en-US" sz="3000" b="true">
                <a:solidFill>
                  <a:srgbClr val="813DF9"/>
                </a:solidFill>
                <a:latin typeface="Open Sans Bold"/>
                <a:ea typeface="Open Sans Bold"/>
                <a:cs typeface="Open Sans Bold"/>
                <a:sym typeface="Open Sans Bold"/>
              </a:rPr>
              <a:t>9 Metodología de desarrollo Scrum</a:t>
            </a:r>
          </a:p>
        </p:txBody>
      </p:sp>
      <p:sp>
        <p:nvSpPr>
          <p:cNvPr name="TextBox 10" id="10"/>
          <p:cNvSpPr txBox="true"/>
          <p:nvPr/>
        </p:nvSpPr>
        <p:spPr>
          <a:xfrm rot="0">
            <a:off x="1028700" y="2492681"/>
            <a:ext cx="3181128" cy="495300"/>
          </a:xfrm>
          <a:prstGeom prst="rect">
            <a:avLst/>
          </a:prstGeom>
        </p:spPr>
        <p:txBody>
          <a:bodyPr anchor="t" rtlCol="false" tIns="0" lIns="0" bIns="0" rIns="0">
            <a:spAutoFit/>
          </a:bodyPr>
          <a:lstStyle/>
          <a:p>
            <a:pPr algn="ctr">
              <a:lnSpc>
                <a:spcPts val="4199"/>
              </a:lnSpc>
            </a:pPr>
            <a:r>
              <a:rPr lang="en-US" b="true" sz="2999">
                <a:solidFill>
                  <a:srgbClr val="813DF9"/>
                </a:solidFill>
                <a:latin typeface="Open Sans Bold"/>
                <a:ea typeface="Open Sans Bold"/>
                <a:cs typeface="Open Sans Bold"/>
                <a:sym typeface="Open Sans Bold"/>
              </a:rPr>
              <a:t>Product Backlog</a:t>
            </a:r>
          </a:p>
        </p:txBody>
      </p:sp>
      <p:sp>
        <p:nvSpPr>
          <p:cNvPr name="TextBox 11" id="11"/>
          <p:cNvSpPr txBox="true"/>
          <p:nvPr/>
        </p:nvSpPr>
        <p:spPr>
          <a:xfrm rot="0">
            <a:off x="1028700" y="3164194"/>
            <a:ext cx="4762500" cy="1736725"/>
          </a:xfrm>
          <a:prstGeom prst="rect">
            <a:avLst/>
          </a:prstGeom>
        </p:spPr>
        <p:txBody>
          <a:bodyPr anchor="t" rtlCol="false" tIns="0" lIns="0" bIns="0" rIns="0">
            <a:spAutoFit/>
          </a:bodyPr>
          <a:lstStyle/>
          <a:p>
            <a:pPr algn="l">
              <a:lnSpc>
                <a:spcPts val="3499"/>
              </a:lnSpc>
            </a:pPr>
            <a:r>
              <a:rPr lang="en-US" sz="2499">
                <a:solidFill>
                  <a:srgbClr val="000000"/>
                </a:solidFill>
                <a:latin typeface="Open Sans"/>
                <a:ea typeface="Open Sans"/>
                <a:cs typeface="Open Sans"/>
                <a:sym typeface="Open Sans"/>
              </a:rPr>
              <a:t>Historias de usuario enfocadas en la gestión financiera, modelos de IA y optimización SPA/PWA.</a:t>
            </a:r>
          </a:p>
        </p:txBody>
      </p:sp>
      <p:sp>
        <p:nvSpPr>
          <p:cNvPr name="TextBox 12" id="12"/>
          <p:cNvSpPr txBox="true"/>
          <p:nvPr/>
        </p:nvSpPr>
        <p:spPr>
          <a:xfrm rot="0">
            <a:off x="12496800" y="1919125"/>
            <a:ext cx="4762500" cy="495300"/>
          </a:xfrm>
          <a:prstGeom prst="rect">
            <a:avLst/>
          </a:prstGeom>
        </p:spPr>
        <p:txBody>
          <a:bodyPr anchor="t" rtlCol="false" tIns="0" lIns="0" bIns="0" rIns="0">
            <a:spAutoFit/>
          </a:bodyPr>
          <a:lstStyle/>
          <a:p>
            <a:pPr algn="r">
              <a:lnSpc>
                <a:spcPts val="4199"/>
              </a:lnSpc>
            </a:pPr>
            <a:r>
              <a:rPr lang="en-US" b="true" sz="2999">
                <a:solidFill>
                  <a:srgbClr val="813DF9"/>
                </a:solidFill>
                <a:latin typeface="Open Sans Bold"/>
                <a:ea typeface="Open Sans Bold"/>
                <a:cs typeface="Open Sans Bold"/>
                <a:sym typeface="Open Sans Bold"/>
              </a:rPr>
              <a:t>Sprint Planning</a:t>
            </a:r>
          </a:p>
        </p:txBody>
      </p:sp>
      <p:sp>
        <p:nvSpPr>
          <p:cNvPr name="TextBox 13" id="13"/>
          <p:cNvSpPr txBox="true"/>
          <p:nvPr/>
        </p:nvSpPr>
        <p:spPr>
          <a:xfrm rot="0">
            <a:off x="12254870" y="2572242"/>
            <a:ext cx="5004430" cy="1298575"/>
          </a:xfrm>
          <a:prstGeom prst="rect">
            <a:avLst/>
          </a:prstGeom>
        </p:spPr>
        <p:txBody>
          <a:bodyPr anchor="t" rtlCol="false" tIns="0" lIns="0" bIns="0" rIns="0">
            <a:spAutoFit/>
          </a:bodyPr>
          <a:lstStyle/>
          <a:p>
            <a:pPr algn="r">
              <a:lnSpc>
                <a:spcPts val="3499"/>
              </a:lnSpc>
            </a:pPr>
            <a:r>
              <a:rPr lang="en-US" sz="2499">
                <a:solidFill>
                  <a:srgbClr val="000000"/>
                </a:solidFill>
                <a:latin typeface="Open Sans"/>
                <a:ea typeface="Open Sans"/>
                <a:cs typeface="Open Sans"/>
                <a:sym typeface="Open Sans"/>
              </a:rPr>
              <a:t>Definir objetivos de refactorización UX/UI, modelos de IA e infraestructura por sprint.</a:t>
            </a:r>
          </a:p>
        </p:txBody>
      </p:sp>
      <p:sp>
        <p:nvSpPr>
          <p:cNvPr name="TextBox 14" id="14"/>
          <p:cNvSpPr txBox="true"/>
          <p:nvPr/>
        </p:nvSpPr>
        <p:spPr>
          <a:xfrm rot="0">
            <a:off x="12496800" y="4362450"/>
            <a:ext cx="4762500" cy="495300"/>
          </a:xfrm>
          <a:prstGeom prst="rect">
            <a:avLst/>
          </a:prstGeom>
        </p:spPr>
        <p:txBody>
          <a:bodyPr anchor="t" rtlCol="false" tIns="0" lIns="0" bIns="0" rIns="0">
            <a:spAutoFit/>
          </a:bodyPr>
          <a:lstStyle/>
          <a:p>
            <a:pPr algn="r">
              <a:lnSpc>
                <a:spcPts val="4199"/>
              </a:lnSpc>
            </a:pPr>
            <a:r>
              <a:rPr lang="en-US" b="true" sz="2999">
                <a:solidFill>
                  <a:srgbClr val="813DF9"/>
                </a:solidFill>
                <a:latin typeface="Open Sans Bold"/>
                <a:ea typeface="Open Sans Bold"/>
                <a:cs typeface="Open Sans Bold"/>
                <a:sym typeface="Open Sans Bold"/>
              </a:rPr>
              <a:t>Daily Scrum</a:t>
            </a:r>
          </a:p>
        </p:txBody>
      </p:sp>
      <p:sp>
        <p:nvSpPr>
          <p:cNvPr name="TextBox 15" id="15"/>
          <p:cNvSpPr txBox="true"/>
          <p:nvPr/>
        </p:nvSpPr>
        <p:spPr>
          <a:xfrm rot="0">
            <a:off x="12608092" y="6773544"/>
            <a:ext cx="4762500" cy="495300"/>
          </a:xfrm>
          <a:prstGeom prst="rect">
            <a:avLst/>
          </a:prstGeom>
        </p:spPr>
        <p:txBody>
          <a:bodyPr anchor="t" rtlCol="false" tIns="0" lIns="0" bIns="0" rIns="0">
            <a:spAutoFit/>
          </a:bodyPr>
          <a:lstStyle/>
          <a:p>
            <a:pPr algn="r">
              <a:lnSpc>
                <a:spcPts val="4199"/>
              </a:lnSpc>
            </a:pPr>
            <a:r>
              <a:rPr lang="en-US" b="true" sz="2999">
                <a:solidFill>
                  <a:srgbClr val="813DF9"/>
                </a:solidFill>
                <a:latin typeface="Open Sans Bold"/>
                <a:ea typeface="Open Sans Bold"/>
                <a:cs typeface="Open Sans Bold"/>
                <a:sym typeface="Open Sans Bold"/>
              </a:rPr>
              <a:t>Sprint Review</a:t>
            </a:r>
          </a:p>
        </p:txBody>
      </p:sp>
      <p:sp>
        <p:nvSpPr>
          <p:cNvPr name="TextBox 16" id="16"/>
          <p:cNvSpPr txBox="true"/>
          <p:nvPr/>
        </p:nvSpPr>
        <p:spPr>
          <a:xfrm rot="0">
            <a:off x="1028700" y="5675214"/>
            <a:ext cx="4006555" cy="495300"/>
          </a:xfrm>
          <a:prstGeom prst="rect">
            <a:avLst/>
          </a:prstGeom>
        </p:spPr>
        <p:txBody>
          <a:bodyPr anchor="t" rtlCol="false" tIns="0" lIns="0" bIns="0" rIns="0">
            <a:spAutoFit/>
          </a:bodyPr>
          <a:lstStyle/>
          <a:p>
            <a:pPr algn="ctr">
              <a:lnSpc>
                <a:spcPts val="4199"/>
              </a:lnSpc>
            </a:pPr>
            <a:r>
              <a:rPr lang="en-US" b="true" sz="2999">
                <a:solidFill>
                  <a:srgbClr val="813DF9"/>
                </a:solidFill>
                <a:latin typeface="Open Sans Bold"/>
                <a:ea typeface="Open Sans Bold"/>
                <a:cs typeface="Open Sans Bold"/>
                <a:sym typeface="Open Sans Bold"/>
              </a:rPr>
              <a:t>Sprint Retrospective</a:t>
            </a:r>
          </a:p>
        </p:txBody>
      </p:sp>
      <p:sp>
        <p:nvSpPr>
          <p:cNvPr name="TextBox 17" id="17"/>
          <p:cNvSpPr txBox="true"/>
          <p:nvPr/>
        </p:nvSpPr>
        <p:spPr>
          <a:xfrm rot="0">
            <a:off x="13252745" y="5129705"/>
            <a:ext cx="4006555" cy="1298575"/>
          </a:xfrm>
          <a:prstGeom prst="rect">
            <a:avLst/>
          </a:prstGeom>
        </p:spPr>
        <p:txBody>
          <a:bodyPr anchor="t" rtlCol="false" tIns="0" lIns="0" bIns="0" rIns="0">
            <a:spAutoFit/>
          </a:bodyPr>
          <a:lstStyle/>
          <a:p>
            <a:pPr algn="r">
              <a:lnSpc>
                <a:spcPts val="3499"/>
              </a:lnSpc>
            </a:pPr>
            <a:r>
              <a:rPr lang="en-US" sz="2499">
                <a:solidFill>
                  <a:srgbClr val="000000"/>
                </a:solidFill>
                <a:latin typeface="Open Sans"/>
                <a:ea typeface="Open Sans"/>
                <a:cs typeface="Open Sans"/>
                <a:sym typeface="Open Sans"/>
              </a:rPr>
              <a:t>Sincronizar avances entre frontend SPA, API en FastAPI y base de datos.</a:t>
            </a:r>
          </a:p>
        </p:txBody>
      </p:sp>
      <p:sp>
        <p:nvSpPr>
          <p:cNvPr name="TextBox 18" id="18"/>
          <p:cNvSpPr txBox="true"/>
          <p:nvPr/>
        </p:nvSpPr>
        <p:spPr>
          <a:xfrm rot="0">
            <a:off x="11440035" y="7507952"/>
            <a:ext cx="5930557" cy="860425"/>
          </a:xfrm>
          <a:prstGeom prst="rect">
            <a:avLst/>
          </a:prstGeom>
        </p:spPr>
        <p:txBody>
          <a:bodyPr anchor="t" rtlCol="false" tIns="0" lIns="0" bIns="0" rIns="0">
            <a:spAutoFit/>
          </a:bodyPr>
          <a:lstStyle/>
          <a:p>
            <a:pPr algn="r">
              <a:lnSpc>
                <a:spcPts val="3499"/>
              </a:lnSpc>
            </a:pPr>
            <a:r>
              <a:rPr lang="en-US" sz="2499">
                <a:solidFill>
                  <a:srgbClr val="000000"/>
                </a:solidFill>
                <a:latin typeface="Open Sans"/>
                <a:ea typeface="Open Sans"/>
                <a:cs typeface="Open Sans"/>
                <a:sym typeface="Open Sans"/>
              </a:rPr>
              <a:t>Demostrar prototipos funcionales e incrementos del sistema en Staging.</a:t>
            </a:r>
          </a:p>
        </p:txBody>
      </p:sp>
      <p:sp>
        <p:nvSpPr>
          <p:cNvPr name="TextBox 19" id="19"/>
          <p:cNvSpPr txBox="true"/>
          <p:nvPr/>
        </p:nvSpPr>
        <p:spPr>
          <a:xfrm rot="0">
            <a:off x="1028700" y="6515779"/>
            <a:ext cx="4762500" cy="1298575"/>
          </a:xfrm>
          <a:prstGeom prst="rect">
            <a:avLst/>
          </a:prstGeom>
        </p:spPr>
        <p:txBody>
          <a:bodyPr anchor="t" rtlCol="false" tIns="0" lIns="0" bIns="0" rIns="0">
            <a:spAutoFit/>
          </a:bodyPr>
          <a:lstStyle/>
          <a:p>
            <a:pPr algn="l">
              <a:lnSpc>
                <a:spcPts val="3499"/>
              </a:lnSpc>
            </a:pPr>
            <a:r>
              <a:rPr lang="en-US" sz="2499">
                <a:solidFill>
                  <a:srgbClr val="000000"/>
                </a:solidFill>
                <a:latin typeface="Open Sans"/>
                <a:ea typeface="Open Sans"/>
                <a:cs typeface="Open Sans"/>
                <a:sym typeface="Open Sans"/>
              </a:rPr>
              <a:t>Evaluación e implementación de mejoras continuas en el flujo de desarrollo.</a:t>
            </a:r>
          </a:p>
        </p:txBody>
      </p:sp>
      <p:sp>
        <p:nvSpPr>
          <p:cNvPr name="TextBox 20" id="20"/>
          <p:cNvSpPr txBox="true"/>
          <p:nvPr/>
        </p:nvSpPr>
        <p:spPr>
          <a:xfrm rot="0">
            <a:off x="1028700" y="8977977"/>
            <a:ext cx="16230600" cy="763269"/>
          </a:xfrm>
          <a:prstGeom prst="rect">
            <a:avLst/>
          </a:prstGeom>
        </p:spPr>
        <p:txBody>
          <a:bodyPr anchor="t" rtlCol="false" tIns="0" lIns="0" bIns="0" rIns="0">
            <a:spAutoFit/>
          </a:bodyPr>
          <a:lstStyle/>
          <a:p>
            <a:pPr algn="ctr">
              <a:lnSpc>
                <a:spcPts val="3080"/>
              </a:lnSpc>
              <a:spcBef>
                <a:spcPct val="0"/>
              </a:spcBef>
            </a:pPr>
            <a:r>
              <a:rPr lang="en-US" sz="2200">
                <a:solidFill>
                  <a:srgbClr val="000000"/>
                </a:solidFill>
                <a:latin typeface="Open Sans"/>
                <a:ea typeface="Open Sans"/>
                <a:cs typeface="Open Sans"/>
                <a:sym typeface="Open Sans"/>
              </a:rPr>
              <a:t>‘’</a:t>
            </a:r>
            <a:r>
              <a:rPr lang="en-US" sz="2200">
                <a:solidFill>
                  <a:srgbClr val="000000"/>
                </a:solidFill>
                <a:latin typeface="Open Sans"/>
                <a:ea typeface="Open Sans"/>
                <a:cs typeface="Open Sans"/>
                <a:sym typeface="Open Sans"/>
              </a:rPr>
              <a:t>Nuestra aproximación ágil nos permite adaptarnos rápidamente a las necesidades de los usuarios y entregar valor financiero de forma incremental’’.</a:t>
            </a:r>
          </a:p>
        </p:txBody>
      </p:sp>
    </p:spTree>
  </p:cSld>
  <p:clrMapOvr>
    <a:masterClrMapping/>
  </p:clrMapOvr>
  <p:transition spd="fast">
    <p:cover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2F2F7"/>
        </a:solidFill>
      </p:bgPr>
    </p:bg>
    <p:spTree>
      <p:nvGrpSpPr>
        <p:cNvPr id="1" name=""/>
        <p:cNvGrpSpPr/>
        <p:nvPr/>
      </p:nvGrpSpPr>
      <p:grpSpPr>
        <a:xfrm>
          <a:off x="0" y="0"/>
          <a:ext cx="0" cy="0"/>
          <a:chOff x="0" y="0"/>
          <a:chExt cx="0" cy="0"/>
        </a:xfrm>
      </p:grpSpPr>
      <p:grpSp>
        <p:nvGrpSpPr>
          <p:cNvPr name="Group 2" id="2"/>
          <p:cNvGrpSpPr/>
          <p:nvPr/>
        </p:nvGrpSpPr>
        <p:grpSpPr>
          <a:xfrm rot="0">
            <a:off x="1981200" y="2882968"/>
            <a:ext cx="2857500" cy="2857500"/>
            <a:chOff x="0" y="0"/>
            <a:chExt cx="442702" cy="442702"/>
          </a:xfrm>
        </p:grpSpPr>
        <p:sp>
          <p:nvSpPr>
            <p:cNvPr name="Freeform 3" id="3"/>
            <p:cNvSpPr/>
            <p:nvPr/>
          </p:nvSpPr>
          <p:spPr>
            <a:xfrm flipH="false" flipV="false" rot="0">
              <a:off x="0" y="0"/>
              <a:ext cx="442702" cy="442702"/>
            </a:xfrm>
            <a:custGeom>
              <a:avLst/>
              <a:gdLst/>
              <a:ahLst/>
              <a:cxnLst/>
              <a:rect r="r" b="b" t="t" l="l"/>
              <a:pathLst>
                <a:path h="442702" w="442702">
                  <a:moveTo>
                    <a:pt x="62315" y="0"/>
                  </a:moveTo>
                  <a:lnTo>
                    <a:pt x="380387" y="0"/>
                  </a:lnTo>
                  <a:cubicBezTo>
                    <a:pt x="414802" y="0"/>
                    <a:pt x="442702" y="27899"/>
                    <a:pt x="442702" y="62315"/>
                  </a:cubicBezTo>
                  <a:lnTo>
                    <a:pt x="442702" y="380387"/>
                  </a:lnTo>
                  <a:cubicBezTo>
                    <a:pt x="442702" y="414802"/>
                    <a:pt x="414802" y="442702"/>
                    <a:pt x="380387" y="442702"/>
                  </a:cubicBezTo>
                  <a:lnTo>
                    <a:pt x="62315" y="442702"/>
                  </a:lnTo>
                  <a:cubicBezTo>
                    <a:pt x="27899" y="442702"/>
                    <a:pt x="0" y="414802"/>
                    <a:pt x="0" y="380387"/>
                  </a:cubicBezTo>
                  <a:lnTo>
                    <a:pt x="0" y="62315"/>
                  </a:lnTo>
                  <a:cubicBezTo>
                    <a:pt x="0" y="27899"/>
                    <a:pt x="27899" y="0"/>
                    <a:pt x="62315" y="0"/>
                  </a:cubicBezTo>
                  <a:close/>
                </a:path>
              </a:pathLst>
            </a:custGeom>
            <a:blipFill>
              <a:blip r:embed="rId2"/>
              <a:stretch>
                <a:fillRect l="0" t="0" r="0" b="-50244"/>
              </a:stretch>
            </a:blipFill>
          </p:spPr>
        </p:sp>
      </p:grpSp>
      <p:grpSp>
        <p:nvGrpSpPr>
          <p:cNvPr name="Group 4" id="4"/>
          <p:cNvGrpSpPr/>
          <p:nvPr/>
        </p:nvGrpSpPr>
        <p:grpSpPr>
          <a:xfrm rot="0">
            <a:off x="7715250" y="2882968"/>
            <a:ext cx="2857500" cy="2857500"/>
            <a:chOff x="0" y="0"/>
            <a:chExt cx="442702" cy="442702"/>
          </a:xfrm>
        </p:grpSpPr>
        <p:sp>
          <p:nvSpPr>
            <p:cNvPr name="Freeform 5" id="5"/>
            <p:cNvSpPr/>
            <p:nvPr/>
          </p:nvSpPr>
          <p:spPr>
            <a:xfrm flipH="false" flipV="false" rot="0">
              <a:off x="0" y="0"/>
              <a:ext cx="442702" cy="442702"/>
            </a:xfrm>
            <a:custGeom>
              <a:avLst/>
              <a:gdLst/>
              <a:ahLst/>
              <a:cxnLst/>
              <a:rect r="r" b="b" t="t" l="l"/>
              <a:pathLst>
                <a:path h="442702" w="442702">
                  <a:moveTo>
                    <a:pt x="62315" y="0"/>
                  </a:moveTo>
                  <a:lnTo>
                    <a:pt x="380387" y="0"/>
                  </a:lnTo>
                  <a:cubicBezTo>
                    <a:pt x="414802" y="0"/>
                    <a:pt x="442702" y="27899"/>
                    <a:pt x="442702" y="62315"/>
                  </a:cubicBezTo>
                  <a:lnTo>
                    <a:pt x="442702" y="380387"/>
                  </a:lnTo>
                  <a:cubicBezTo>
                    <a:pt x="442702" y="414802"/>
                    <a:pt x="414802" y="442702"/>
                    <a:pt x="380387" y="442702"/>
                  </a:cubicBezTo>
                  <a:lnTo>
                    <a:pt x="62315" y="442702"/>
                  </a:lnTo>
                  <a:cubicBezTo>
                    <a:pt x="27899" y="442702"/>
                    <a:pt x="0" y="414802"/>
                    <a:pt x="0" y="380387"/>
                  </a:cubicBezTo>
                  <a:lnTo>
                    <a:pt x="0" y="62315"/>
                  </a:lnTo>
                  <a:cubicBezTo>
                    <a:pt x="0" y="27899"/>
                    <a:pt x="27899" y="0"/>
                    <a:pt x="62315" y="0"/>
                  </a:cubicBezTo>
                  <a:close/>
                </a:path>
              </a:pathLst>
            </a:custGeom>
            <a:blipFill>
              <a:blip r:embed="rId3"/>
              <a:stretch>
                <a:fillRect l="-143765" t="0" r="-227365" b="-83600"/>
              </a:stretch>
            </a:blipFill>
          </p:spPr>
        </p:sp>
      </p:grpSp>
      <p:grpSp>
        <p:nvGrpSpPr>
          <p:cNvPr name="Group 6" id="6"/>
          <p:cNvGrpSpPr/>
          <p:nvPr/>
        </p:nvGrpSpPr>
        <p:grpSpPr>
          <a:xfrm rot="0">
            <a:off x="13449300" y="2882968"/>
            <a:ext cx="2857500" cy="2857500"/>
            <a:chOff x="0" y="0"/>
            <a:chExt cx="442702" cy="442702"/>
          </a:xfrm>
        </p:grpSpPr>
        <p:sp>
          <p:nvSpPr>
            <p:cNvPr name="Freeform 7" id="7"/>
            <p:cNvSpPr/>
            <p:nvPr/>
          </p:nvSpPr>
          <p:spPr>
            <a:xfrm flipH="false" flipV="false" rot="0">
              <a:off x="0" y="0"/>
              <a:ext cx="442702" cy="442702"/>
            </a:xfrm>
            <a:custGeom>
              <a:avLst/>
              <a:gdLst/>
              <a:ahLst/>
              <a:cxnLst/>
              <a:rect r="r" b="b" t="t" l="l"/>
              <a:pathLst>
                <a:path h="442702" w="442702">
                  <a:moveTo>
                    <a:pt x="62315" y="0"/>
                  </a:moveTo>
                  <a:lnTo>
                    <a:pt x="380387" y="0"/>
                  </a:lnTo>
                  <a:cubicBezTo>
                    <a:pt x="414802" y="0"/>
                    <a:pt x="442702" y="27899"/>
                    <a:pt x="442702" y="62315"/>
                  </a:cubicBezTo>
                  <a:lnTo>
                    <a:pt x="442702" y="380387"/>
                  </a:lnTo>
                  <a:cubicBezTo>
                    <a:pt x="442702" y="414802"/>
                    <a:pt x="414802" y="442702"/>
                    <a:pt x="380387" y="442702"/>
                  </a:cubicBezTo>
                  <a:lnTo>
                    <a:pt x="62315" y="442702"/>
                  </a:lnTo>
                  <a:cubicBezTo>
                    <a:pt x="27899" y="442702"/>
                    <a:pt x="0" y="414802"/>
                    <a:pt x="0" y="380387"/>
                  </a:cubicBezTo>
                  <a:lnTo>
                    <a:pt x="0" y="62315"/>
                  </a:lnTo>
                  <a:cubicBezTo>
                    <a:pt x="0" y="27899"/>
                    <a:pt x="27899" y="0"/>
                    <a:pt x="62315" y="0"/>
                  </a:cubicBezTo>
                  <a:close/>
                </a:path>
              </a:pathLst>
            </a:custGeom>
            <a:blipFill>
              <a:blip r:embed="rId4"/>
              <a:stretch>
                <a:fillRect l="-2324" t="0" r="-2324" b="0"/>
              </a:stretch>
            </a:blipFill>
          </p:spPr>
        </p:sp>
      </p:grpSp>
      <p:sp>
        <p:nvSpPr>
          <p:cNvPr name="AutoShape 8" id="8"/>
          <p:cNvSpPr/>
          <p:nvPr/>
        </p:nvSpPr>
        <p:spPr>
          <a:xfrm>
            <a:off x="2101390" y="680138"/>
            <a:ext cx="17877211" cy="0"/>
          </a:xfrm>
          <a:prstGeom prst="line">
            <a:avLst/>
          </a:prstGeom>
          <a:ln cap="flat" w="19050">
            <a:solidFill>
              <a:srgbClr val="000000"/>
            </a:solidFill>
            <a:prstDash val="solid"/>
            <a:headEnd type="none" len="sm" w="sm"/>
            <a:tailEnd type="none" len="sm" w="sm"/>
          </a:ln>
        </p:spPr>
      </p:sp>
      <p:sp>
        <p:nvSpPr>
          <p:cNvPr name="TextBox 9" id="9"/>
          <p:cNvSpPr txBox="true"/>
          <p:nvPr/>
        </p:nvSpPr>
        <p:spPr>
          <a:xfrm rot="0">
            <a:off x="183816" y="384863"/>
            <a:ext cx="2011072" cy="514350"/>
          </a:xfrm>
          <a:prstGeom prst="rect">
            <a:avLst/>
          </a:prstGeom>
        </p:spPr>
        <p:txBody>
          <a:bodyPr anchor="t" rtlCol="false" tIns="0" lIns="0" bIns="0" rIns="0">
            <a:spAutoFit/>
          </a:bodyPr>
          <a:lstStyle/>
          <a:p>
            <a:pPr algn="l">
              <a:lnSpc>
                <a:spcPts val="4200"/>
              </a:lnSpc>
            </a:pPr>
            <a:r>
              <a:rPr lang="en-US" sz="3000" b="true">
                <a:solidFill>
                  <a:srgbClr val="813DF9"/>
                </a:solidFill>
                <a:latin typeface="Open Sans Bold"/>
                <a:ea typeface="Open Sans Bold"/>
                <a:cs typeface="Open Sans Bold"/>
                <a:sym typeface="Open Sans Bold"/>
              </a:rPr>
              <a:t>10 Equipo</a:t>
            </a:r>
          </a:p>
        </p:txBody>
      </p:sp>
      <p:sp>
        <p:nvSpPr>
          <p:cNvPr name="TextBox 10" id="10"/>
          <p:cNvSpPr txBox="true"/>
          <p:nvPr/>
        </p:nvSpPr>
        <p:spPr>
          <a:xfrm rot="0">
            <a:off x="1799188" y="5883309"/>
            <a:ext cx="3221525" cy="1047750"/>
          </a:xfrm>
          <a:prstGeom prst="rect">
            <a:avLst/>
          </a:prstGeom>
        </p:spPr>
        <p:txBody>
          <a:bodyPr anchor="t" rtlCol="false" tIns="0" lIns="0" bIns="0" rIns="0">
            <a:spAutoFit/>
          </a:bodyPr>
          <a:lstStyle/>
          <a:p>
            <a:pPr algn="ctr">
              <a:lnSpc>
                <a:spcPts val="4200"/>
              </a:lnSpc>
            </a:pPr>
            <a:r>
              <a:rPr lang="en-US" sz="3000" b="true">
                <a:solidFill>
                  <a:srgbClr val="813DF9"/>
                </a:solidFill>
                <a:latin typeface="Open Sans Bold"/>
                <a:ea typeface="Open Sans Bold"/>
                <a:cs typeface="Open Sans Bold"/>
                <a:sym typeface="Open Sans Bold"/>
              </a:rPr>
              <a:t>Product Owner &amp; Scrum Master</a:t>
            </a:r>
          </a:p>
        </p:txBody>
      </p:sp>
      <p:sp>
        <p:nvSpPr>
          <p:cNvPr name="TextBox 11" id="11"/>
          <p:cNvSpPr txBox="true"/>
          <p:nvPr/>
        </p:nvSpPr>
        <p:spPr>
          <a:xfrm rot="0">
            <a:off x="7119937" y="6150009"/>
            <a:ext cx="4048125" cy="514350"/>
          </a:xfrm>
          <a:prstGeom prst="rect">
            <a:avLst/>
          </a:prstGeom>
        </p:spPr>
        <p:txBody>
          <a:bodyPr anchor="t" rtlCol="false" tIns="0" lIns="0" bIns="0" rIns="0">
            <a:spAutoFit/>
          </a:bodyPr>
          <a:lstStyle/>
          <a:p>
            <a:pPr algn="ctr">
              <a:lnSpc>
                <a:spcPts val="4200"/>
              </a:lnSpc>
            </a:pPr>
            <a:r>
              <a:rPr lang="en-US" b="true" sz="3000">
                <a:solidFill>
                  <a:srgbClr val="7C3AED"/>
                </a:solidFill>
                <a:latin typeface="Open Sans Bold"/>
                <a:ea typeface="Open Sans Bold"/>
                <a:cs typeface="Open Sans Bold"/>
                <a:sym typeface="Open Sans Bold"/>
              </a:rPr>
              <a:t>Dev. Team</a:t>
            </a:r>
          </a:p>
        </p:txBody>
      </p:sp>
      <p:sp>
        <p:nvSpPr>
          <p:cNvPr name="TextBox 12" id="12"/>
          <p:cNvSpPr txBox="true"/>
          <p:nvPr/>
        </p:nvSpPr>
        <p:spPr>
          <a:xfrm rot="0">
            <a:off x="12772182" y="6150009"/>
            <a:ext cx="4048125" cy="514350"/>
          </a:xfrm>
          <a:prstGeom prst="rect">
            <a:avLst/>
          </a:prstGeom>
        </p:spPr>
        <p:txBody>
          <a:bodyPr anchor="t" rtlCol="false" tIns="0" lIns="0" bIns="0" rIns="0">
            <a:spAutoFit/>
          </a:bodyPr>
          <a:lstStyle/>
          <a:p>
            <a:pPr algn="ctr">
              <a:lnSpc>
                <a:spcPts val="4200"/>
              </a:lnSpc>
            </a:pPr>
            <a:r>
              <a:rPr lang="en-US" b="true" sz="3000">
                <a:solidFill>
                  <a:srgbClr val="7C3AED"/>
                </a:solidFill>
                <a:latin typeface="Open Sans Bold"/>
                <a:ea typeface="Open Sans Bold"/>
                <a:cs typeface="Open Sans Bold"/>
                <a:sym typeface="Open Sans Bold"/>
              </a:rPr>
              <a:t>Dev. Team</a:t>
            </a:r>
          </a:p>
        </p:txBody>
      </p:sp>
      <p:sp>
        <p:nvSpPr>
          <p:cNvPr name="TextBox 13" id="13"/>
          <p:cNvSpPr txBox="true"/>
          <p:nvPr/>
        </p:nvSpPr>
        <p:spPr>
          <a:xfrm rot="0">
            <a:off x="12496800" y="7073934"/>
            <a:ext cx="4762500" cy="2184399"/>
          </a:xfrm>
          <a:prstGeom prst="rect">
            <a:avLst/>
          </a:prstGeom>
        </p:spPr>
        <p:txBody>
          <a:bodyPr anchor="t" rtlCol="false" tIns="0" lIns="0" bIns="0" rIns="0">
            <a:spAutoFit/>
          </a:bodyPr>
          <a:lstStyle/>
          <a:p>
            <a:pPr algn="ctr">
              <a:lnSpc>
                <a:spcPts val="3500"/>
              </a:lnSpc>
            </a:pPr>
            <a:r>
              <a:rPr lang="en-US" sz="2500">
                <a:solidFill>
                  <a:srgbClr val="000000"/>
                </a:solidFill>
                <a:latin typeface="Open Sans"/>
                <a:ea typeface="Open Sans"/>
                <a:cs typeface="Open Sans"/>
                <a:sym typeface="Open Sans"/>
              </a:rPr>
              <a:t>Diseño del plan de pruebas, ejecución de pruebas de calidad (QA) y gestión de la documentación integral del proyecto.</a:t>
            </a:r>
          </a:p>
        </p:txBody>
      </p:sp>
      <p:sp>
        <p:nvSpPr>
          <p:cNvPr name="TextBox 14" id="14"/>
          <p:cNvSpPr txBox="true"/>
          <p:nvPr/>
        </p:nvSpPr>
        <p:spPr>
          <a:xfrm rot="0">
            <a:off x="6871275" y="7073901"/>
            <a:ext cx="4762500" cy="1308099"/>
          </a:xfrm>
          <a:prstGeom prst="rect">
            <a:avLst/>
          </a:prstGeom>
        </p:spPr>
        <p:txBody>
          <a:bodyPr anchor="t" rtlCol="false" tIns="0" lIns="0" bIns="0" rIns="0">
            <a:spAutoFit/>
          </a:bodyPr>
          <a:lstStyle/>
          <a:p>
            <a:pPr algn="ctr">
              <a:lnSpc>
                <a:spcPts val="3500"/>
              </a:lnSpc>
            </a:pPr>
            <a:r>
              <a:rPr lang="en-US" sz="2500">
                <a:solidFill>
                  <a:srgbClr val="000000"/>
                </a:solidFill>
                <a:latin typeface="Open Sans"/>
                <a:ea typeface="Open Sans"/>
                <a:cs typeface="Open Sans"/>
                <a:sym typeface="Open Sans"/>
              </a:rPr>
              <a:t>Investigación, desarrollo, entrenamiento e integración de los modelos de IA</a:t>
            </a:r>
          </a:p>
        </p:txBody>
      </p:sp>
      <p:sp>
        <p:nvSpPr>
          <p:cNvPr name="TextBox 15" id="15"/>
          <p:cNvSpPr txBox="true"/>
          <p:nvPr/>
        </p:nvSpPr>
        <p:spPr>
          <a:xfrm rot="0">
            <a:off x="1028700" y="7073901"/>
            <a:ext cx="4762500" cy="3060699"/>
          </a:xfrm>
          <a:prstGeom prst="rect">
            <a:avLst/>
          </a:prstGeom>
        </p:spPr>
        <p:txBody>
          <a:bodyPr anchor="t" rtlCol="false" tIns="0" lIns="0" bIns="0" rIns="0">
            <a:spAutoFit/>
          </a:bodyPr>
          <a:lstStyle/>
          <a:p>
            <a:pPr algn="ctr">
              <a:lnSpc>
                <a:spcPts val="3500"/>
              </a:lnSpc>
            </a:pPr>
            <a:r>
              <a:rPr lang="en-US" sz="2500">
                <a:solidFill>
                  <a:srgbClr val="000000"/>
                </a:solidFill>
                <a:latin typeface="Open Sans"/>
                <a:ea typeface="Open Sans"/>
                <a:cs typeface="Open Sans"/>
                <a:sym typeface="Open Sans"/>
              </a:rPr>
              <a:t>Defini</a:t>
            </a:r>
            <a:r>
              <a:rPr lang="en-US" sz="2500">
                <a:solidFill>
                  <a:srgbClr val="000000"/>
                </a:solidFill>
                <a:latin typeface="Open Sans"/>
                <a:ea typeface="Open Sans"/>
                <a:cs typeface="Open Sans"/>
                <a:sym typeface="Open Sans"/>
              </a:rPr>
              <a:t>ción y priorización del Product Backlog representando las necesidades del usuario final (adultos jóvenes), facilitación del marco Scrum y arquitectura general del sistema.</a:t>
            </a:r>
          </a:p>
        </p:txBody>
      </p:sp>
      <p:sp>
        <p:nvSpPr>
          <p:cNvPr name="TextBox 16" id="16"/>
          <p:cNvSpPr txBox="true"/>
          <p:nvPr/>
        </p:nvSpPr>
        <p:spPr>
          <a:xfrm rot="0">
            <a:off x="3708806" y="1297675"/>
            <a:ext cx="11087439"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ns Bold"/>
                <a:ea typeface="Open Sans Bold"/>
                <a:cs typeface="Open Sans Bold"/>
                <a:sym typeface="Open Sans Bold"/>
              </a:rPr>
              <a:t>‘’La Fuerza Detrás de Kyo </a:t>
            </a:r>
            <a:r>
              <a:rPr lang="en-US" sz="5000" b="true">
                <a:solidFill>
                  <a:srgbClr val="813DF9"/>
                </a:solidFill>
                <a:latin typeface="Open Sans Bold"/>
                <a:ea typeface="Open Sans Bold"/>
                <a:cs typeface="Open Sans Bold"/>
                <a:sym typeface="Open Sans Bold"/>
              </a:rPr>
              <a:t>Vantage</a:t>
            </a:r>
            <a:r>
              <a:rPr lang="en-US" sz="5000" b="true">
                <a:solidFill>
                  <a:srgbClr val="000000"/>
                </a:solidFill>
                <a:latin typeface="Open Sans Bold"/>
                <a:ea typeface="Open Sans Bold"/>
                <a:cs typeface="Open Sans Bold"/>
                <a:sym typeface="Open Sans Bold"/>
              </a:rPr>
              <a:t>’’</a:t>
            </a:r>
          </a:p>
        </p:txBody>
      </p:sp>
    </p:spTree>
  </p:cSld>
  <p:clrMapOvr>
    <a:masterClrMapping/>
  </p:clrMapOvr>
  <p:transition spd="fast">
    <p:cover dir="l"/>
  </p:transition>
</p:sld>
</file>

<file path=ppt/slides/slide15.xml><?xml version="1.0" encoding="utf-8"?>
<p:sld xmlns:p="http://schemas.openxmlformats.org/presentationml/2006/main" xmlns:a="http://schemas.openxmlformats.org/drawingml/2006/main">
  <p:cSld>
    <p:bg>
      <p:bgPr>
        <a:solidFill>
          <a:srgbClr val="F2F2F7"/>
        </a:solidFill>
      </p:bgPr>
    </p:bg>
    <p:spTree>
      <p:nvGrpSpPr>
        <p:cNvPr id="1" name=""/>
        <p:cNvGrpSpPr/>
        <p:nvPr/>
      </p:nvGrpSpPr>
      <p:grpSpPr>
        <a:xfrm>
          <a:off x="0" y="0"/>
          <a:ext cx="0" cy="0"/>
          <a:chOff x="0" y="0"/>
          <a:chExt cx="0" cy="0"/>
        </a:xfrm>
      </p:grpSpPr>
      <p:grpSp>
        <p:nvGrpSpPr>
          <p:cNvPr name="Group 2" id="2"/>
          <p:cNvGrpSpPr/>
          <p:nvPr/>
        </p:nvGrpSpPr>
        <p:grpSpPr>
          <a:xfrm rot="0">
            <a:off x="883571" y="3395951"/>
            <a:ext cx="5334000" cy="857250"/>
            <a:chOff x="0" y="0"/>
            <a:chExt cx="1404840" cy="225778"/>
          </a:xfrm>
        </p:grpSpPr>
        <p:sp>
          <p:nvSpPr>
            <p:cNvPr name="Freeform 3" id="3"/>
            <p:cNvSpPr/>
            <p:nvPr/>
          </p:nvSpPr>
          <p:spPr>
            <a:xfrm flipH="false" flipV="false" rot="0">
              <a:off x="0" y="0"/>
              <a:ext cx="1404840" cy="225778"/>
            </a:xfrm>
            <a:custGeom>
              <a:avLst/>
              <a:gdLst/>
              <a:ahLst/>
              <a:cxnLst/>
              <a:rect r="r" b="b" t="t" l="l"/>
              <a:pathLst>
                <a:path h="225778" w="1404840">
                  <a:moveTo>
                    <a:pt x="74023" y="0"/>
                  </a:moveTo>
                  <a:lnTo>
                    <a:pt x="1330817" y="0"/>
                  </a:lnTo>
                  <a:cubicBezTo>
                    <a:pt x="1371698" y="0"/>
                    <a:pt x="1404840" y="33141"/>
                    <a:pt x="1404840" y="74023"/>
                  </a:cubicBezTo>
                  <a:lnTo>
                    <a:pt x="1404840" y="151755"/>
                  </a:lnTo>
                  <a:cubicBezTo>
                    <a:pt x="1404840" y="171387"/>
                    <a:pt x="1397041" y="190215"/>
                    <a:pt x="1383159" y="204097"/>
                  </a:cubicBezTo>
                  <a:cubicBezTo>
                    <a:pt x="1369277" y="217979"/>
                    <a:pt x="1350449" y="225778"/>
                    <a:pt x="1330817" y="225778"/>
                  </a:cubicBezTo>
                  <a:lnTo>
                    <a:pt x="74023" y="225778"/>
                  </a:lnTo>
                  <a:cubicBezTo>
                    <a:pt x="33141" y="225778"/>
                    <a:pt x="0" y="192637"/>
                    <a:pt x="0" y="151755"/>
                  </a:cubicBezTo>
                  <a:lnTo>
                    <a:pt x="0" y="74023"/>
                  </a:lnTo>
                  <a:cubicBezTo>
                    <a:pt x="0" y="33141"/>
                    <a:pt x="33141" y="0"/>
                    <a:pt x="74023" y="0"/>
                  </a:cubicBezTo>
                  <a:close/>
                </a:path>
              </a:pathLst>
            </a:custGeom>
            <a:solidFill>
              <a:srgbClr val="9887DA"/>
            </a:solidFill>
          </p:spPr>
        </p:sp>
        <p:sp>
          <p:nvSpPr>
            <p:cNvPr name="TextBox 4" id="4"/>
            <p:cNvSpPr txBox="true"/>
            <p:nvPr/>
          </p:nvSpPr>
          <p:spPr>
            <a:xfrm>
              <a:off x="0" y="-47625"/>
              <a:ext cx="1404840" cy="273403"/>
            </a:xfrm>
            <a:prstGeom prst="rect">
              <a:avLst/>
            </a:prstGeom>
          </p:spPr>
          <p:txBody>
            <a:bodyPr anchor="ctr" rtlCol="false" tIns="50800" lIns="50800" bIns="50800" rIns="50800"/>
            <a:lstStyle/>
            <a:p>
              <a:pPr algn="ctr">
                <a:lnSpc>
                  <a:spcPts val="4199"/>
                </a:lnSpc>
              </a:pPr>
              <a:r>
                <a:rPr lang="en-US" b="true" sz="2999">
                  <a:solidFill>
                    <a:srgbClr val="FFFFFF"/>
                  </a:solidFill>
                  <a:latin typeface="Open Sans Bold"/>
                  <a:ea typeface="Open Sans Bold"/>
                  <a:cs typeface="Open Sans Bold"/>
                  <a:sym typeface="Open Sans Bold"/>
                </a:rPr>
                <a:t>Product Backlog</a:t>
              </a:r>
            </a:p>
          </p:txBody>
        </p:sp>
      </p:grpSp>
      <p:sp>
        <p:nvSpPr>
          <p:cNvPr name="TextBox 5" id="5"/>
          <p:cNvSpPr txBox="true"/>
          <p:nvPr/>
        </p:nvSpPr>
        <p:spPr>
          <a:xfrm rot="0">
            <a:off x="13057503" y="514350"/>
            <a:ext cx="5065196" cy="514350"/>
          </a:xfrm>
          <a:prstGeom prst="rect">
            <a:avLst/>
          </a:prstGeom>
        </p:spPr>
        <p:txBody>
          <a:bodyPr anchor="t" rtlCol="false" tIns="0" lIns="0" bIns="0" rIns="0">
            <a:spAutoFit/>
          </a:bodyPr>
          <a:lstStyle/>
          <a:p>
            <a:pPr algn="l">
              <a:lnSpc>
                <a:spcPts val="4200"/>
              </a:lnSpc>
            </a:pPr>
            <a:r>
              <a:rPr lang="en-US" sz="3000" b="true">
                <a:solidFill>
                  <a:srgbClr val="7C3AED"/>
                </a:solidFill>
                <a:latin typeface="Open Sans Bold"/>
                <a:ea typeface="Open Sans Bold"/>
                <a:cs typeface="Open Sans Bold"/>
                <a:sym typeface="Open Sans Bold"/>
              </a:rPr>
              <a:t>11 </a:t>
            </a:r>
            <a:r>
              <a:rPr lang="en-US" sz="3000" b="true">
                <a:solidFill>
                  <a:srgbClr val="7C3AED"/>
                </a:solidFill>
                <a:latin typeface="Open Sans Bold"/>
                <a:ea typeface="Open Sans Bold"/>
                <a:cs typeface="Open Sans Bold"/>
                <a:sym typeface="Open Sans Bold"/>
              </a:rPr>
              <a:t>Evidencias del proyecto</a:t>
            </a:r>
          </a:p>
        </p:txBody>
      </p:sp>
      <p:grpSp>
        <p:nvGrpSpPr>
          <p:cNvPr name="Group 6" id="6"/>
          <p:cNvGrpSpPr/>
          <p:nvPr/>
        </p:nvGrpSpPr>
        <p:grpSpPr>
          <a:xfrm rot="0">
            <a:off x="6433559" y="3395951"/>
            <a:ext cx="5334000" cy="857250"/>
            <a:chOff x="0" y="0"/>
            <a:chExt cx="1404840" cy="225778"/>
          </a:xfrm>
        </p:grpSpPr>
        <p:sp>
          <p:nvSpPr>
            <p:cNvPr name="Freeform 7" id="7"/>
            <p:cNvSpPr/>
            <p:nvPr/>
          </p:nvSpPr>
          <p:spPr>
            <a:xfrm flipH="false" flipV="false" rot="0">
              <a:off x="0" y="0"/>
              <a:ext cx="1404840" cy="225778"/>
            </a:xfrm>
            <a:custGeom>
              <a:avLst/>
              <a:gdLst/>
              <a:ahLst/>
              <a:cxnLst/>
              <a:rect r="r" b="b" t="t" l="l"/>
              <a:pathLst>
                <a:path h="225778" w="1404840">
                  <a:moveTo>
                    <a:pt x="74023" y="0"/>
                  </a:moveTo>
                  <a:lnTo>
                    <a:pt x="1330817" y="0"/>
                  </a:lnTo>
                  <a:cubicBezTo>
                    <a:pt x="1371698" y="0"/>
                    <a:pt x="1404840" y="33141"/>
                    <a:pt x="1404840" y="74023"/>
                  </a:cubicBezTo>
                  <a:lnTo>
                    <a:pt x="1404840" y="151755"/>
                  </a:lnTo>
                  <a:cubicBezTo>
                    <a:pt x="1404840" y="171387"/>
                    <a:pt x="1397041" y="190215"/>
                    <a:pt x="1383159" y="204097"/>
                  </a:cubicBezTo>
                  <a:cubicBezTo>
                    <a:pt x="1369277" y="217979"/>
                    <a:pt x="1350449" y="225778"/>
                    <a:pt x="1330817" y="225778"/>
                  </a:cubicBezTo>
                  <a:lnTo>
                    <a:pt x="74023" y="225778"/>
                  </a:lnTo>
                  <a:cubicBezTo>
                    <a:pt x="33141" y="225778"/>
                    <a:pt x="0" y="192637"/>
                    <a:pt x="0" y="151755"/>
                  </a:cubicBezTo>
                  <a:lnTo>
                    <a:pt x="0" y="74023"/>
                  </a:lnTo>
                  <a:cubicBezTo>
                    <a:pt x="0" y="33141"/>
                    <a:pt x="33141" y="0"/>
                    <a:pt x="74023" y="0"/>
                  </a:cubicBezTo>
                  <a:close/>
                </a:path>
              </a:pathLst>
            </a:custGeom>
            <a:solidFill>
              <a:srgbClr val="9887DA"/>
            </a:solidFill>
          </p:spPr>
        </p:sp>
        <p:sp>
          <p:nvSpPr>
            <p:cNvPr name="TextBox 8" id="8"/>
            <p:cNvSpPr txBox="true"/>
            <p:nvPr/>
          </p:nvSpPr>
          <p:spPr>
            <a:xfrm>
              <a:off x="0" y="-47625"/>
              <a:ext cx="1404840" cy="273403"/>
            </a:xfrm>
            <a:prstGeom prst="rect">
              <a:avLst/>
            </a:prstGeom>
          </p:spPr>
          <p:txBody>
            <a:bodyPr anchor="ctr" rtlCol="false" tIns="50800" lIns="50800" bIns="50800" rIns="50800"/>
            <a:lstStyle/>
            <a:p>
              <a:pPr algn="ctr">
                <a:lnSpc>
                  <a:spcPts val="4199"/>
                </a:lnSpc>
              </a:pPr>
              <a:r>
                <a:rPr lang="en-US" b="true" sz="2999">
                  <a:solidFill>
                    <a:srgbClr val="FFFFFF"/>
                  </a:solidFill>
                  <a:latin typeface="Open Sans Bold"/>
                  <a:ea typeface="Open Sans Bold"/>
                  <a:cs typeface="Open Sans Bold"/>
                  <a:sym typeface="Open Sans Bold"/>
                </a:rPr>
                <a:t>Plan de Pruebas y QA</a:t>
              </a:r>
            </a:p>
          </p:txBody>
        </p:sp>
      </p:grpSp>
      <p:grpSp>
        <p:nvGrpSpPr>
          <p:cNvPr name="Group 9" id="9"/>
          <p:cNvGrpSpPr/>
          <p:nvPr/>
        </p:nvGrpSpPr>
        <p:grpSpPr>
          <a:xfrm rot="0">
            <a:off x="11986634" y="3395951"/>
            <a:ext cx="5334000" cy="857250"/>
            <a:chOff x="0" y="0"/>
            <a:chExt cx="1404840" cy="225778"/>
          </a:xfrm>
        </p:grpSpPr>
        <p:sp>
          <p:nvSpPr>
            <p:cNvPr name="Freeform 10" id="10"/>
            <p:cNvSpPr/>
            <p:nvPr/>
          </p:nvSpPr>
          <p:spPr>
            <a:xfrm flipH="false" flipV="false" rot="0">
              <a:off x="0" y="0"/>
              <a:ext cx="1404840" cy="225778"/>
            </a:xfrm>
            <a:custGeom>
              <a:avLst/>
              <a:gdLst/>
              <a:ahLst/>
              <a:cxnLst/>
              <a:rect r="r" b="b" t="t" l="l"/>
              <a:pathLst>
                <a:path h="225778" w="1404840">
                  <a:moveTo>
                    <a:pt x="74023" y="0"/>
                  </a:moveTo>
                  <a:lnTo>
                    <a:pt x="1330817" y="0"/>
                  </a:lnTo>
                  <a:cubicBezTo>
                    <a:pt x="1371698" y="0"/>
                    <a:pt x="1404840" y="33141"/>
                    <a:pt x="1404840" y="74023"/>
                  </a:cubicBezTo>
                  <a:lnTo>
                    <a:pt x="1404840" y="151755"/>
                  </a:lnTo>
                  <a:cubicBezTo>
                    <a:pt x="1404840" y="171387"/>
                    <a:pt x="1397041" y="190215"/>
                    <a:pt x="1383159" y="204097"/>
                  </a:cubicBezTo>
                  <a:cubicBezTo>
                    <a:pt x="1369277" y="217979"/>
                    <a:pt x="1350449" y="225778"/>
                    <a:pt x="1330817" y="225778"/>
                  </a:cubicBezTo>
                  <a:lnTo>
                    <a:pt x="74023" y="225778"/>
                  </a:lnTo>
                  <a:cubicBezTo>
                    <a:pt x="33141" y="225778"/>
                    <a:pt x="0" y="192637"/>
                    <a:pt x="0" y="151755"/>
                  </a:cubicBezTo>
                  <a:lnTo>
                    <a:pt x="0" y="74023"/>
                  </a:lnTo>
                  <a:cubicBezTo>
                    <a:pt x="0" y="33141"/>
                    <a:pt x="33141" y="0"/>
                    <a:pt x="74023" y="0"/>
                  </a:cubicBezTo>
                  <a:close/>
                </a:path>
              </a:pathLst>
            </a:custGeom>
            <a:solidFill>
              <a:srgbClr val="9887DA"/>
            </a:solidFill>
          </p:spPr>
        </p:sp>
        <p:sp>
          <p:nvSpPr>
            <p:cNvPr name="TextBox 11" id="11"/>
            <p:cNvSpPr txBox="true"/>
            <p:nvPr/>
          </p:nvSpPr>
          <p:spPr>
            <a:xfrm>
              <a:off x="0" y="-47625"/>
              <a:ext cx="1404840" cy="273403"/>
            </a:xfrm>
            <a:prstGeom prst="rect">
              <a:avLst/>
            </a:prstGeom>
          </p:spPr>
          <p:txBody>
            <a:bodyPr anchor="ctr" rtlCol="false" tIns="50800" lIns="50800" bIns="50800" rIns="50800"/>
            <a:lstStyle/>
            <a:p>
              <a:pPr algn="ctr">
                <a:lnSpc>
                  <a:spcPts val="4199"/>
                </a:lnSpc>
              </a:pPr>
              <a:r>
                <a:rPr lang="en-US" b="true" sz="2999">
                  <a:solidFill>
                    <a:srgbClr val="FFFFFF"/>
                  </a:solidFill>
                  <a:latin typeface="Open Sans Bold"/>
                  <a:ea typeface="Open Sans Bold"/>
                  <a:cs typeface="Open Sans Bold"/>
                  <a:sym typeface="Open Sans Bold"/>
                </a:rPr>
                <a:t>Arquitectura </a:t>
              </a:r>
            </a:p>
          </p:txBody>
        </p:sp>
      </p:grpSp>
      <p:grpSp>
        <p:nvGrpSpPr>
          <p:cNvPr name="Group 12" id="12"/>
          <p:cNvGrpSpPr/>
          <p:nvPr/>
        </p:nvGrpSpPr>
        <p:grpSpPr>
          <a:xfrm rot="0">
            <a:off x="883571" y="4958639"/>
            <a:ext cx="5334000" cy="857250"/>
            <a:chOff x="0" y="0"/>
            <a:chExt cx="1404840" cy="225778"/>
          </a:xfrm>
        </p:grpSpPr>
        <p:sp>
          <p:nvSpPr>
            <p:cNvPr name="Freeform 13" id="13"/>
            <p:cNvSpPr/>
            <p:nvPr/>
          </p:nvSpPr>
          <p:spPr>
            <a:xfrm flipH="false" flipV="false" rot="0">
              <a:off x="0" y="0"/>
              <a:ext cx="1404840" cy="225778"/>
            </a:xfrm>
            <a:custGeom>
              <a:avLst/>
              <a:gdLst/>
              <a:ahLst/>
              <a:cxnLst/>
              <a:rect r="r" b="b" t="t" l="l"/>
              <a:pathLst>
                <a:path h="225778" w="1404840">
                  <a:moveTo>
                    <a:pt x="74023" y="0"/>
                  </a:moveTo>
                  <a:lnTo>
                    <a:pt x="1330817" y="0"/>
                  </a:lnTo>
                  <a:cubicBezTo>
                    <a:pt x="1371698" y="0"/>
                    <a:pt x="1404840" y="33141"/>
                    <a:pt x="1404840" y="74023"/>
                  </a:cubicBezTo>
                  <a:lnTo>
                    <a:pt x="1404840" y="151755"/>
                  </a:lnTo>
                  <a:cubicBezTo>
                    <a:pt x="1404840" y="171387"/>
                    <a:pt x="1397041" y="190215"/>
                    <a:pt x="1383159" y="204097"/>
                  </a:cubicBezTo>
                  <a:cubicBezTo>
                    <a:pt x="1369277" y="217979"/>
                    <a:pt x="1350449" y="225778"/>
                    <a:pt x="1330817" y="225778"/>
                  </a:cubicBezTo>
                  <a:lnTo>
                    <a:pt x="74023" y="225778"/>
                  </a:lnTo>
                  <a:cubicBezTo>
                    <a:pt x="33141" y="225778"/>
                    <a:pt x="0" y="192637"/>
                    <a:pt x="0" y="151755"/>
                  </a:cubicBezTo>
                  <a:lnTo>
                    <a:pt x="0" y="74023"/>
                  </a:lnTo>
                  <a:cubicBezTo>
                    <a:pt x="0" y="33141"/>
                    <a:pt x="33141" y="0"/>
                    <a:pt x="74023" y="0"/>
                  </a:cubicBezTo>
                  <a:close/>
                </a:path>
              </a:pathLst>
            </a:custGeom>
            <a:solidFill>
              <a:srgbClr val="8A6ABE"/>
            </a:solidFill>
          </p:spPr>
        </p:sp>
        <p:sp>
          <p:nvSpPr>
            <p:cNvPr name="TextBox 14" id="14"/>
            <p:cNvSpPr txBox="true"/>
            <p:nvPr/>
          </p:nvSpPr>
          <p:spPr>
            <a:xfrm>
              <a:off x="0" y="-47625"/>
              <a:ext cx="1404840" cy="273403"/>
            </a:xfrm>
            <a:prstGeom prst="rect">
              <a:avLst/>
            </a:prstGeom>
          </p:spPr>
          <p:txBody>
            <a:bodyPr anchor="ctr" rtlCol="false" tIns="50800" lIns="50800" bIns="50800" rIns="50800"/>
            <a:lstStyle/>
            <a:p>
              <a:pPr algn="ctr">
                <a:lnSpc>
                  <a:spcPts val="4199"/>
                </a:lnSpc>
              </a:pPr>
              <a:r>
                <a:rPr lang="en-US" b="true" sz="2999">
                  <a:solidFill>
                    <a:srgbClr val="FFFFFF"/>
                  </a:solidFill>
                  <a:latin typeface="Open Sans Bold"/>
                  <a:ea typeface="Open Sans Bold"/>
                  <a:cs typeface="Open Sans Bold"/>
                  <a:sym typeface="Open Sans Bold"/>
                </a:rPr>
                <a:t>Modelo de Base de Datos</a:t>
              </a:r>
            </a:p>
          </p:txBody>
        </p:sp>
      </p:grpSp>
      <p:grpSp>
        <p:nvGrpSpPr>
          <p:cNvPr name="Group 15" id="15"/>
          <p:cNvGrpSpPr/>
          <p:nvPr/>
        </p:nvGrpSpPr>
        <p:grpSpPr>
          <a:xfrm rot="0">
            <a:off x="6479254" y="4958639"/>
            <a:ext cx="5334000" cy="857250"/>
            <a:chOff x="0" y="0"/>
            <a:chExt cx="1404840" cy="225778"/>
          </a:xfrm>
        </p:grpSpPr>
        <p:sp>
          <p:nvSpPr>
            <p:cNvPr name="Freeform 16" id="16"/>
            <p:cNvSpPr/>
            <p:nvPr/>
          </p:nvSpPr>
          <p:spPr>
            <a:xfrm flipH="false" flipV="false" rot="0">
              <a:off x="0" y="0"/>
              <a:ext cx="1404840" cy="225778"/>
            </a:xfrm>
            <a:custGeom>
              <a:avLst/>
              <a:gdLst/>
              <a:ahLst/>
              <a:cxnLst/>
              <a:rect r="r" b="b" t="t" l="l"/>
              <a:pathLst>
                <a:path h="225778" w="1404840">
                  <a:moveTo>
                    <a:pt x="74023" y="0"/>
                  </a:moveTo>
                  <a:lnTo>
                    <a:pt x="1330817" y="0"/>
                  </a:lnTo>
                  <a:cubicBezTo>
                    <a:pt x="1371698" y="0"/>
                    <a:pt x="1404840" y="33141"/>
                    <a:pt x="1404840" y="74023"/>
                  </a:cubicBezTo>
                  <a:lnTo>
                    <a:pt x="1404840" y="151755"/>
                  </a:lnTo>
                  <a:cubicBezTo>
                    <a:pt x="1404840" y="171387"/>
                    <a:pt x="1397041" y="190215"/>
                    <a:pt x="1383159" y="204097"/>
                  </a:cubicBezTo>
                  <a:cubicBezTo>
                    <a:pt x="1369277" y="217979"/>
                    <a:pt x="1350449" y="225778"/>
                    <a:pt x="1330817" y="225778"/>
                  </a:cubicBezTo>
                  <a:lnTo>
                    <a:pt x="74023" y="225778"/>
                  </a:lnTo>
                  <a:cubicBezTo>
                    <a:pt x="33141" y="225778"/>
                    <a:pt x="0" y="192637"/>
                    <a:pt x="0" y="151755"/>
                  </a:cubicBezTo>
                  <a:lnTo>
                    <a:pt x="0" y="74023"/>
                  </a:lnTo>
                  <a:cubicBezTo>
                    <a:pt x="0" y="33141"/>
                    <a:pt x="33141" y="0"/>
                    <a:pt x="74023" y="0"/>
                  </a:cubicBezTo>
                  <a:close/>
                </a:path>
              </a:pathLst>
            </a:custGeom>
            <a:solidFill>
              <a:srgbClr val="8A6ABE"/>
            </a:solidFill>
          </p:spPr>
        </p:sp>
        <p:sp>
          <p:nvSpPr>
            <p:cNvPr name="TextBox 17" id="17"/>
            <p:cNvSpPr txBox="true"/>
            <p:nvPr/>
          </p:nvSpPr>
          <p:spPr>
            <a:xfrm>
              <a:off x="0" y="-47625"/>
              <a:ext cx="1404840" cy="273403"/>
            </a:xfrm>
            <a:prstGeom prst="rect">
              <a:avLst/>
            </a:prstGeom>
          </p:spPr>
          <p:txBody>
            <a:bodyPr anchor="ctr" rtlCol="false" tIns="50800" lIns="50800" bIns="50800" rIns="50800"/>
            <a:lstStyle/>
            <a:p>
              <a:pPr algn="ctr">
                <a:lnSpc>
                  <a:spcPts val="4199"/>
                </a:lnSpc>
              </a:pPr>
              <a:r>
                <a:rPr lang="en-US" b="true" sz="2999">
                  <a:solidFill>
                    <a:srgbClr val="FFFFFF"/>
                  </a:solidFill>
                  <a:latin typeface="Open Sans Bold"/>
                  <a:ea typeface="Open Sans Bold"/>
                  <a:cs typeface="Open Sans Bold"/>
                  <a:sym typeface="Open Sans Bold"/>
                </a:rPr>
                <a:t>Carta Gantt del Proyecto</a:t>
              </a:r>
            </a:p>
          </p:txBody>
        </p:sp>
      </p:grpSp>
      <p:grpSp>
        <p:nvGrpSpPr>
          <p:cNvPr name="Group 18" id="18"/>
          <p:cNvGrpSpPr/>
          <p:nvPr/>
        </p:nvGrpSpPr>
        <p:grpSpPr>
          <a:xfrm rot="0">
            <a:off x="12070429" y="4958639"/>
            <a:ext cx="5334000" cy="857250"/>
            <a:chOff x="0" y="0"/>
            <a:chExt cx="1404840" cy="225778"/>
          </a:xfrm>
        </p:grpSpPr>
        <p:sp>
          <p:nvSpPr>
            <p:cNvPr name="Freeform 19" id="19"/>
            <p:cNvSpPr/>
            <p:nvPr/>
          </p:nvSpPr>
          <p:spPr>
            <a:xfrm flipH="false" flipV="false" rot="0">
              <a:off x="0" y="0"/>
              <a:ext cx="1404840" cy="225778"/>
            </a:xfrm>
            <a:custGeom>
              <a:avLst/>
              <a:gdLst/>
              <a:ahLst/>
              <a:cxnLst/>
              <a:rect r="r" b="b" t="t" l="l"/>
              <a:pathLst>
                <a:path h="225778" w="1404840">
                  <a:moveTo>
                    <a:pt x="74023" y="0"/>
                  </a:moveTo>
                  <a:lnTo>
                    <a:pt x="1330817" y="0"/>
                  </a:lnTo>
                  <a:cubicBezTo>
                    <a:pt x="1371698" y="0"/>
                    <a:pt x="1404840" y="33141"/>
                    <a:pt x="1404840" y="74023"/>
                  </a:cubicBezTo>
                  <a:lnTo>
                    <a:pt x="1404840" y="151755"/>
                  </a:lnTo>
                  <a:cubicBezTo>
                    <a:pt x="1404840" y="171387"/>
                    <a:pt x="1397041" y="190215"/>
                    <a:pt x="1383159" y="204097"/>
                  </a:cubicBezTo>
                  <a:cubicBezTo>
                    <a:pt x="1369277" y="217979"/>
                    <a:pt x="1350449" y="225778"/>
                    <a:pt x="1330817" y="225778"/>
                  </a:cubicBezTo>
                  <a:lnTo>
                    <a:pt x="74023" y="225778"/>
                  </a:lnTo>
                  <a:cubicBezTo>
                    <a:pt x="33141" y="225778"/>
                    <a:pt x="0" y="192637"/>
                    <a:pt x="0" y="151755"/>
                  </a:cubicBezTo>
                  <a:lnTo>
                    <a:pt x="0" y="74023"/>
                  </a:lnTo>
                  <a:cubicBezTo>
                    <a:pt x="0" y="33141"/>
                    <a:pt x="33141" y="0"/>
                    <a:pt x="74023" y="0"/>
                  </a:cubicBezTo>
                  <a:close/>
                </a:path>
              </a:pathLst>
            </a:custGeom>
            <a:solidFill>
              <a:srgbClr val="8A6ABE"/>
            </a:solidFill>
          </p:spPr>
        </p:sp>
        <p:sp>
          <p:nvSpPr>
            <p:cNvPr name="TextBox 20" id="20"/>
            <p:cNvSpPr txBox="true"/>
            <p:nvPr/>
          </p:nvSpPr>
          <p:spPr>
            <a:xfrm>
              <a:off x="0" y="-47625"/>
              <a:ext cx="1404840" cy="273403"/>
            </a:xfrm>
            <a:prstGeom prst="rect">
              <a:avLst/>
            </a:prstGeom>
          </p:spPr>
          <p:txBody>
            <a:bodyPr anchor="ctr" rtlCol="false" tIns="50800" lIns="50800" bIns="50800" rIns="50800"/>
            <a:lstStyle/>
            <a:p>
              <a:pPr algn="ctr">
                <a:lnSpc>
                  <a:spcPts val="4199"/>
                </a:lnSpc>
              </a:pPr>
              <a:r>
                <a:rPr lang="en-US" b="true" sz="2999">
                  <a:solidFill>
                    <a:srgbClr val="FFFFFF"/>
                  </a:solidFill>
                  <a:latin typeface="Open Sans Bold"/>
                  <a:ea typeface="Open Sans Bold"/>
                  <a:cs typeface="Open Sans Bold"/>
                  <a:sym typeface="Open Sans Bold"/>
                </a:rPr>
                <a:t>Matriz de Requerimientos</a:t>
              </a:r>
            </a:p>
          </p:txBody>
        </p:sp>
      </p:grpSp>
      <p:grpSp>
        <p:nvGrpSpPr>
          <p:cNvPr name="Group 21" id="21"/>
          <p:cNvGrpSpPr/>
          <p:nvPr/>
        </p:nvGrpSpPr>
        <p:grpSpPr>
          <a:xfrm rot="0">
            <a:off x="2325537" y="6520739"/>
            <a:ext cx="6191250" cy="857250"/>
            <a:chOff x="0" y="0"/>
            <a:chExt cx="1630617" cy="225778"/>
          </a:xfrm>
        </p:grpSpPr>
        <p:sp>
          <p:nvSpPr>
            <p:cNvPr name="Freeform 22" id="22"/>
            <p:cNvSpPr/>
            <p:nvPr/>
          </p:nvSpPr>
          <p:spPr>
            <a:xfrm flipH="false" flipV="false" rot="0">
              <a:off x="0" y="0"/>
              <a:ext cx="1630617" cy="225778"/>
            </a:xfrm>
            <a:custGeom>
              <a:avLst/>
              <a:gdLst/>
              <a:ahLst/>
              <a:cxnLst/>
              <a:rect r="r" b="b" t="t" l="l"/>
              <a:pathLst>
                <a:path h="225778" w="1630617">
                  <a:moveTo>
                    <a:pt x="63774" y="0"/>
                  </a:moveTo>
                  <a:lnTo>
                    <a:pt x="1566844" y="0"/>
                  </a:lnTo>
                  <a:cubicBezTo>
                    <a:pt x="1583758" y="0"/>
                    <a:pt x="1599979" y="6719"/>
                    <a:pt x="1611939" y="18679"/>
                  </a:cubicBezTo>
                  <a:cubicBezTo>
                    <a:pt x="1623898" y="30639"/>
                    <a:pt x="1630617" y="46860"/>
                    <a:pt x="1630617" y="63774"/>
                  </a:cubicBezTo>
                  <a:lnTo>
                    <a:pt x="1630617" y="162004"/>
                  </a:lnTo>
                  <a:cubicBezTo>
                    <a:pt x="1630617" y="178918"/>
                    <a:pt x="1623898" y="195139"/>
                    <a:pt x="1611939" y="207099"/>
                  </a:cubicBezTo>
                  <a:cubicBezTo>
                    <a:pt x="1599979" y="219059"/>
                    <a:pt x="1583758" y="225778"/>
                    <a:pt x="1566844" y="225778"/>
                  </a:cubicBezTo>
                  <a:lnTo>
                    <a:pt x="63774" y="225778"/>
                  </a:lnTo>
                  <a:cubicBezTo>
                    <a:pt x="46860" y="225778"/>
                    <a:pt x="30639" y="219059"/>
                    <a:pt x="18679" y="207099"/>
                  </a:cubicBezTo>
                  <a:cubicBezTo>
                    <a:pt x="6719" y="195139"/>
                    <a:pt x="0" y="178918"/>
                    <a:pt x="0" y="162004"/>
                  </a:cubicBezTo>
                  <a:lnTo>
                    <a:pt x="0" y="63774"/>
                  </a:lnTo>
                  <a:cubicBezTo>
                    <a:pt x="0" y="46860"/>
                    <a:pt x="6719" y="30639"/>
                    <a:pt x="18679" y="18679"/>
                  </a:cubicBezTo>
                  <a:cubicBezTo>
                    <a:pt x="30639" y="6719"/>
                    <a:pt x="46860" y="0"/>
                    <a:pt x="63774" y="0"/>
                  </a:cubicBezTo>
                  <a:close/>
                </a:path>
              </a:pathLst>
            </a:custGeom>
            <a:solidFill>
              <a:srgbClr val="813DF9"/>
            </a:solidFill>
          </p:spPr>
        </p:sp>
        <p:sp>
          <p:nvSpPr>
            <p:cNvPr name="TextBox 23" id="23"/>
            <p:cNvSpPr txBox="true"/>
            <p:nvPr/>
          </p:nvSpPr>
          <p:spPr>
            <a:xfrm>
              <a:off x="0" y="-47625"/>
              <a:ext cx="1630617" cy="273403"/>
            </a:xfrm>
            <a:prstGeom prst="rect">
              <a:avLst/>
            </a:prstGeom>
          </p:spPr>
          <p:txBody>
            <a:bodyPr anchor="ctr" rtlCol="false" tIns="50800" lIns="50800" bIns="50800" rIns="50800"/>
            <a:lstStyle/>
            <a:p>
              <a:pPr algn="ctr">
                <a:lnSpc>
                  <a:spcPts val="4199"/>
                </a:lnSpc>
              </a:pPr>
              <a:r>
                <a:rPr lang="en-US" b="true" sz="2999">
                  <a:solidFill>
                    <a:srgbClr val="FFFFFF"/>
                  </a:solidFill>
                  <a:latin typeface="Open Sans Bold"/>
                  <a:ea typeface="Open Sans Bold"/>
                  <a:cs typeface="Open Sans Bold"/>
                  <a:sym typeface="Open Sans Bold"/>
                </a:rPr>
                <a:t>Planilla de Gestión de Riesgos </a:t>
              </a:r>
            </a:p>
          </p:txBody>
        </p:sp>
      </p:grpSp>
      <p:grpSp>
        <p:nvGrpSpPr>
          <p:cNvPr name="Group 24" id="24"/>
          <p:cNvGrpSpPr/>
          <p:nvPr/>
        </p:nvGrpSpPr>
        <p:grpSpPr>
          <a:xfrm rot="0">
            <a:off x="9678128" y="6520739"/>
            <a:ext cx="6191250" cy="857250"/>
            <a:chOff x="0" y="0"/>
            <a:chExt cx="1630617" cy="225778"/>
          </a:xfrm>
        </p:grpSpPr>
        <p:sp>
          <p:nvSpPr>
            <p:cNvPr name="Freeform 25" id="25"/>
            <p:cNvSpPr/>
            <p:nvPr/>
          </p:nvSpPr>
          <p:spPr>
            <a:xfrm flipH="false" flipV="false" rot="0">
              <a:off x="0" y="0"/>
              <a:ext cx="1630617" cy="225778"/>
            </a:xfrm>
            <a:custGeom>
              <a:avLst/>
              <a:gdLst/>
              <a:ahLst/>
              <a:cxnLst/>
              <a:rect r="r" b="b" t="t" l="l"/>
              <a:pathLst>
                <a:path h="225778" w="1630617">
                  <a:moveTo>
                    <a:pt x="63774" y="0"/>
                  </a:moveTo>
                  <a:lnTo>
                    <a:pt x="1566844" y="0"/>
                  </a:lnTo>
                  <a:cubicBezTo>
                    <a:pt x="1583758" y="0"/>
                    <a:pt x="1599979" y="6719"/>
                    <a:pt x="1611939" y="18679"/>
                  </a:cubicBezTo>
                  <a:cubicBezTo>
                    <a:pt x="1623898" y="30639"/>
                    <a:pt x="1630617" y="46860"/>
                    <a:pt x="1630617" y="63774"/>
                  </a:cubicBezTo>
                  <a:lnTo>
                    <a:pt x="1630617" y="162004"/>
                  </a:lnTo>
                  <a:cubicBezTo>
                    <a:pt x="1630617" y="178918"/>
                    <a:pt x="1623898" y="195139"/>
                    <a:pt x="1611939" y="207099"/>
                  </a:cubicBezTo>
                  <a:cubicBezTo>
                    <a:pt x="1599979" y="219059"/>
                    <a:pt x="1583758" y="225778"/>
                    <a:pt x="1566844" y="225778"/>
                  </a:cubicBezTo>
                  <a:lnTo>
                    <a:pt x="63774" y="225778"/>
                  </a:lnTo>
                  <a:cubicBezTo>
                    <a:pt x="46860" y="225778"/>
                    <a:pt x="30639" y="219059"/>
                    <a:pt x="18679" y="207099"/>
                  </a:cubicBezTo>
                  <a:cubicBezTo>
                    <a:pt x="6719" y="195139"/>
                    <a:pt x="0" y="178918"/>
                    <a:pt x="0" y="162004"/>
                  </a:cubicBezTo>
                  <a:lnTo>
                    <a:pt x="0" y="63774"/>
                  </a:lnTo>
                  <a:cubicBezTo>
                    <a:pt x="0" y="46860"/>
                    <a:pt x="6719" y="30639"/>
                    <a:pt x="18679" y="18679"/>
                  </a:cubicBezTo>
                  <a:cubicBezTo>
                    <a:pt x="30639" y="6719"/>
                    <a:pt x="46860" y="0"/>
                    <a:pt x="63774" y="0"/>
                  </a:cubicBezTo>
                  <a:close/>
                </a:path>
              </a:pathLst>
            </a:custGeom>
            <a:solidFill>
              <a:srgbClr val="813DF9"/>
            </a:solidFill>
          </p:spPr>
        </p:sp>
        <p:sp>
          <p:nvSpPr>
            <p:cNvPr name="TextBox 26" id="26"/>
            <p:cNvSpPr txBox="true"/>
            <p:nvPr/>
          </p:nvSpPr>
          <p:spPr>
            <a:xfrm>
              <a:off x="0" y="-47625"/>
              <a:ext cx="1630617" cy="273403"/>
            </a:xfrm>
            <a:prstGeom prst="rect">
              <a:avLst/>
            </a:prstGeom>
          </p:spPr>
          <p:txBody>
            <a:bodyPr anchor="ctr" rtlCol="false" tIns="50800" lIns="50800" bIns="50800" rIns="50800"/>
            <a:lstStyle/>
            <a:p>
              <a:pPr algn="ctr">
                <a:lnSpc>
                  <a:spcPts val="4199"/>
                </a:lnSpc>
              </a:pPr>
              <a:r>
                <a:rPr lang="en-US" b="true" sz="2999">
                  <a:solidFill>
                    <a:srgbClr val="FFFFFF"/>
                  </a:solidFill>
                  <a:latin typeface="Open Sans Bold"/>
                  <a:ea typeface="Open Sans Bold"/>
                  <a:cs typeface="Open Sans Bold"/>
                  <a:sym typeface="Open Sans Bold"/>
                </a:rPr>
                <a:t>Documentación de APIs</a:t>
              </a:r>
            </a:p>
          </p:txBody>
        </p:sp>
      </p:grpSp>
      <p:sp>
        <p:nvSpPr>
          <p:cNvPr name="AutoShape 27" id="27"/>
          <p:cNvSpPr/>
          <p:nvPr/>
        </p:nvSpPr>
        <p:spPr>
          <a:xfrm>
            <a:off x="-5280904" y="809625"/>
            <a:ext cx="18098098" cy="0"/>
          </a:xfrm>
          <a:prstGeom prst="line">
            <a:avLst/>
          </a:prstGeom>
          <a:ln cap="flat" w="19050">
            <a:solidFill>
              <a:srgbClr val="000000"/>
            </a:solidFill>
            <a:prstDash val="solid"/>
            <a:headEnd type="none" len="sm" w="sm"/>
            <a:tailEnd type="none" len="sm" w="sm"/>
          </a:ln>
        </p:spPr>
      </p:sp>
    </p:spTree>
  </p:cSld>
  <p:clrMapOvr>
    <a:masterClrMapping/>
  </p:clrMapOvr>
  <p:transition spd="fast">
    <p:cover dir="l"/>
  </p:transition>
</p:sld>
</file>

<file path=ppt/slides/slide16.xml><?xml version="1.0" encoding="utf-8"?>
<p:sld xmlns:p="http://schemas.openxmlformats.org/presentationml/2006/main" xmlns:a="http://schemas.openxmlformats.org/drawingml/2006/main">
  <p:cSld>
    <p:bg>
      <p:bgPr>
        <a:solidFill>
          <a:srgbClr val="F2F2F7"/>
        </a:solidFill>
      </p:bgPr>
    </p:bg>
    <p:spTree>
      <p:nvGrpSpPr>
        <p:cNvPr id="1" name=""/>
        <p:cNvGrpSpPr/>
        <p:nvPr/>
      </p:nvGrpSpPr>
      <p:grpSpPr>
        <a:xfrm>
          <a:off x="0" y="0"/>
          <a:ext cx="0" cy="0"/>
          <a:chOff x="0" y="0"/>
          <a:chExt cx="0" cy="0"/>
        </a:xfrm>
      </p:grpSpPr>
      <p:sp>
        <p:nvSpPr>
          <p:cNvPr name="TextBox 2" id="2"/>
          <p:cNvSpPr txBox="true"/>
          <p:nvPr/>
        </p:nvSpPr>
        <p:spPr>
          <a:xfrm rot="0">
            <a:off x="13431614" y="514350"/>
            <a:ext cx="4656441" cy="514350"/>
          </a:xfrm>
          <a:prstGeom prst="rect">
            <a:avLst/>
          </a:prstGeom>
        </p:spPr>
        <p:txBody>
          <a:bodyPr anchor="t" rtlCol="false" tIns="0" lIns="0" bIns="0" rIns="0">
            <a:spAutoFit/>
          </a:bodyPr>
          <a:lstStyle/>
          <a:p>
            <a:pPr algn="l">
              <a:lnSpc>
                <a:spcPts val="4200"/>
              </a:lnSpc>
            </a:pPr>
            <a:r>
              <a:rPr lang="en-US" sz="3000" b="true">
                <a:solidFill>
                  <a:srgbClr val="7C3AED"/>
                </a:solidFill>
                <a:latin typeface="Open Sans Bold"/>
                <a:ea typeface="Open Sans Bold"/>
                <a:cs typeface="Open Sans Bold"/>
                <a:sym typeface="Open Sans Bold"/>
              </a:rPr>
              <a:t>12 </a:t>
            </a:r>
            <a:r>
              <a:rPr lang="en-US" sz="3000" b="true">
                <a:solidFill>
                  <a:srgbClr val="7C3AED"/>
                </a:solidFill>
                <a:latin typeface="Open Sans Bold"/>
                <a:ea typeface="Open Sans Bold"/>
                <a:cs typeface="Open Sans Bold"/>
                <a:sym typeface="Open Sans Bold"/>
              </a:rPr>
              <a:t>Evidencias por Sprint</a:t>
            </a:r>
          </a:p>
        </p:txBody>
      </p:sp>
      <p:grpSp>
        <p:nvGrpSpPr>
          <p:cNvPr name="Group 3" id="3"/>
          <p:cNvGrpSpPr/>
          <p:nvPr/>
        </p:nvGrpSpPr>
        <p:grpSpPr>
          <a:xfrm rot="0">
            <a:off x="2814414" y="2811874"/>
            <a:ext cx="5334000" cy="857250"/>
            <a:chOff x="0" y="0"/>
            <a:chExt cx="1404840" cy="225778"/>
          </a:xfrm>
        </p:grpSpPr>
        <p:sp>
          <p:nvSpPr>
            <p:cNvPr name="Freeform 4" id="4"/>
            <p:cNvSpPr/>
            <p:nvPr/>
          </p:nvSpPr>
          <p:spPr>
            <a:xfrm flipH="false" flipV="false" rot="0">
              <a:off x="0" y="0"/>
              <a:ext cx="1404840" cy="225778"/>
            </a:xfrm>
            <a:custGeom>
              <a:avLst/>
              <a:gdLst/>
              <a:ahLst/>
              <a:cxnLst/>
              <a:rect r="r" b="b" t="t" l="l"/>
              <a:pathLst>
                <a:path h="225778" w="1404840">
                  <a:moveTo>
                    <a:pt x="74023" y="0"/>
                  </a:moveTo>
                  <a:lnTo>
                    <a:pt x="1330817" y="0"/>
                  </a:lnTo>
                  <a:cubicBezTo>
                    <a:pt x="1371698" y="0"/>
                    <a:pt x="1404840" y="33141"/>
                    <a:pt x="1404840" y="74023"/>
                  </a:cubicBezTo>
                  <a:lnTo>
                    <a:pt x="1404840" y="151755"/>
                  </a:lnTo>
                  <a:cubicBezTo>
                    <a:pt x="1404840" y="171387"/>
                    <a:pt x="1397041" y="190215"/>
                    <a:pt x="1383159" y="204097"/>
                  </a:cubicBezTo>
                  <a:cubicBezTo>
                    <a:pt x="1369277" y="217979"/>
                    <a:pt x="1350449" y="225778"/>
                    <a:pt x="1330817" y="225778"/>
                  </a:cubicBezTo>
                  <a:lnTo>
                    <a:pt x="74023" y="225778"/>
                  </a:lnTo>
                  <a:cubicBezTo>
                    <a:pt x="33141" y="225778"/>
                    <a:pt x="0" y="192637"/>
                    <a:pt x="0" y="151755"/>
                  </a:cubicBezTo>
                  <a:lnTo>
                    <a:pt x="0" y="74023"/>
                  </a:lnTo>
                  <a:cubicBezTo>
                    <a:pt x="0" y="33141"/>
                    <a:pt x="33141" y="0"/>
                    <a:pt x="74023" y="0"/>
                  </a:cubicBezTo>
                  <a:close/>
                </a:path>
              </a:pathLst>
            </a:custGeom>
            <a:solidFill>
              <a:srgbClr val="A3A3F2"/>
            </a:solidFill>
          </p:spPr>
        </p:sp>
        <p:sp>
          <p:nvSpPr>
            <p:cNvPr name="TextBox 5" id="5"/>
            <p:cNvSpPr txBox="true"/>
            <p:nvPr/>
          </p:nvSpPr>
          <p:spPr>
            <a:xfrm>
              <a:off x="0" y="-47625"/>
              <a:ext cx="1404840" cy="273403"/>
            </a:xfrm>
            <a:prstGeom prst="rect">
              <a:avLst/>
            </a:prstGeom>
          </p:spPr>
          <p:txBody>
            <a:bodyPr anchor="ctr" rtlCol="false" tIns="50800" lIns="50800" bIns="50800" rIns="50800"/>
            <a:lstStyle/>
            <a:p>
              <a:pPr algn="ctr">
                <a:lnSpc>
                  <a:spcPts val="4199"/>
                </a:lnSpc>
              </a:pPr>
              <a:r>
                <a:rPr lang="en-US" b="true" sz="2999">
                  <a:solidFill>
                    <a:srgbClr val="FFFFFF"/>
                  </a:solidFill>
                  <a:latin typeface="Open Sans Bold"/>
                  <a:ea typeface="Open Sans Bold"/>
                  <a:cs typeface="Open Sans Bold"/>
                  <a:sym typeface="Open Sans Bold"/>
                </a:rPr>
                <a:t>Kanban Board</a:t>
              </a:r>
            </a:p>
          </p:txBody>
        </p:sp>
      </p:grpSp>
      <p:grpSp>
        <p:nvGrpSpPr>
          <p:cNvPr name="Group 6" id="6"/>
          <p:cNvGrpSpPr/>
          <p:nvPr/>
        </p:nvGrpSpPr>
        <p:grpSpPr>
          <a:xfrm rot="0">
            <a:off x="2814414" y="4080541"/>
            <a:ext cx="5334000" cy="857250"/>
            <a:chOff x="0" y="0"/>
            <a:chExt cx="1404840" cy="225778"/>
          </a:xfrm>
        </p:grpSpPr>
        <p:sp>
          <p:nvSpPr>
            <p:cNvPr name="Freeform 7" id="7"/>
            <p:cNvSpPr/>
            <p:nvPr/>
          </p:nvSpPr>
          <p:spPr>
            <a:xfrm flipH="false" flipV="false" rot="0">
              <a:off x="0" y="0"/>
              <a:ext cx="1404840" cy="225778"/>
            </a:xfrm>
            <a:custGeom>
              <a:avLst/>
              <a:gdLst/>
              <a:ahLst/>
              <a:cxnLst/>
              <a:rect r="r" b="b" t="t" l="l"/>
              <a:pathLst>
                <a:path h="225778" w="1404840">
                  <a:moveTo>
                    <a:pt x="74023" y="0"/>
                  </a:moveTo>
                  <a:lnTo>
                    <a:pt x="1330817" y="0"/>
                  </a:lnTo>
                  <a:cubicBezTo>
                    <a:pt x="1371698" y="0"/>
                    <a:pt x="1404840" y="33141"/>
                    <a:pt x="1404840" y="74023"/>
                  </a:cubicBezTo>
                  <a:lnTo>
                    <a:pt x="1404840" y="151755"/>
                  </a:lnTo>
                  <a:cubicBezTo>
                    <a:pt x="1404840" y="171387"/>
                    <a:pt x="1397041" y="190215"/>
                    <a:pt x="1383159" y="204097"/>
                  </a:cubicBezTo>
                  <a:cubicBezTo>
                    <a:pt x="1369277" y="217979"/>
                    <a:pt x="1350449" y="225778"/>
                    <a:pt x="1330817" y="225778"/>
                  </a:cubicBezTo>
                  <a:lnTo>
                    <a:pt x="74023" y="225778"/>
                  </a:lnTo>
                  <a:cubicBezTo>
                    <a:pt x="33141" y="225778"/>
                    <a:pt x="0" y="192637"/>
                    <a:pt x="0" y="151755"/>
                  </a:cubicBezTo>
                  <a:lnTo>
                    <a:pt x="0" y="74023"/>
                  </a:lnTo>
                  <a:cubicBezTo>
                    <a:pt x="0" y="33141"/>
                    <a:pt x="33141" y="0"/>
                    <a:pt x="74023" y="0"/>
                  </a:cubicBezTo>
                  <a:close/>
                </a:path>
              </a:pathLst>
            </a:custGeom>
            <a:solidFill>
              <a:srgbClr val="A3A3F2"/>
            </a:solidFill>
          </p:spPr>
        </p:sp>
        <p:sp>
          <p:nvSpPr>
            <p:cNvPr name="TextBox 8" id="8"/>
            <p:cNvSpPr txBox="true"/>
            <p:nvPr/>
          </p:nvSpPr>
          <p:spPr>
            <a:xfrm>
              <a:off x="0" y="-47625"/>
              <a:ext cx="1404840" cy="273403"/>
            </a:xfrm>
            <a:prstGeom prst="rect">
              <a:avLst/>
            </a:prstGeom>
          </p:spPr>
          <p:txBody>
            <a:bodyPr anchor="ctr" rtlCol="false" tIns="50800" lIns="50800" bIns="50800" rIns="50800"/>
            <a:lstStyle/>
            <a:p>
              <a:pPr algn="ctr">
                <a:lnSpc>
                  <a:spcPts val="4199"/>
                </a:lnSpc>
              </a:pPr>
              <a:r>
                <a:rPr lang="en-US" b="true" sz="2999">
                  <a:solidFill>
                    <a:srgbClr val="FFFFFF"/>
                  </a:solidFill>
                  <a:latin typeface="Open Sans Bold"/>
                  <a:ea typeface="Open Sans Bold"/>
                  <a:cs typeface="Open Sans Bold"/>
                  <a:sym typeface="Open Sans Bold"/>
                </a:rPr>
                <a:t>Registro de Daily Meetings</a:t>
              </a:r>
            </a:p>
          </p:txBody>
        </p:sp>
      </p:grpSp>
      <p:grpSp>
        <p:nvGrpSpPr>
          <p:cNvPr name="Group 9" id="9"/>
          <p:cNvGrpSpPr/>
          <p:nvPr/>
        </p:nvGrpSpPr>
        <p:grpSpPr>
          <a:xfrm rot="0">
            <a:off x="10339058" y="2811874"/>
            <a:ext cx="5334000" cy="857250"/>
            <a:chOff x="0" y="0"/>
            <a:chExt cx="1404840" cy="225778"/>
          </a:xfrm>
        </p:grpSpPr>
        <p:sp>
          <p:nvSpPr>
            <p:cNvPr name="Freeform 10" id="10"/>
            <p:cNvSpPr/>
            <p:nvPr/>
          </p:nvSpPr>
          <p:spPr>
            <a:xfrm flipH="false" flipV="false" rot="0">
              <a:off x="0" y="0"/>
              <a:ext cx="1404840" cy="225778"/>
            </a:xfrm>
            <a:custGeom>
              <a:avLst/>
              <a:gdLst/>
              <a:ahLst/>
              <a:cxnLst/>
              <a:rect r="r" b="b" t="t" l="l"/>
              <a:pathLst>
                <a:path h="225778" w="1404840">
                  <a:moveTo>
                    <a:pt x="74023" y="0"/>
                  </a:moveTo>
                  <a:lnTo>
                    <a:pt x="1330817" y="0"/>
                  </a:lnTo>
                  <a:cubicBezTo>
                    <a:pt x="1371698" y="0"/>
                    <a:pt x="1404840" y="33141"/>
                    <a:pt x="1404840" y="74023"/>
                  </a:cubicBezTo>
                  <a:lnTo>
                    <a:pt x="1404840" y="151755"/>
                  </a:lnTo>
                  <a:cubicBezTo>
                    <a:pt x="1404840" y="171387"/>
                    <a:pt x="1397041" y="190215"/>
                    <a:pt x="1383159" y="204097"/>
                  </a:cubicBezTo>
                  <a:cubicBezTo>
                    <a:pt x="1369277" y="217979"/>
                    <a:pt x="1350449" y="225778"/>
                    <a:pt x="1330817" y="225778"/>
                  </a:cubicBezTo>
                  <a:lnTo>
                    <a:pt x="74023" y="225778"/>
                  </a:lnTo>
                  <a:cubicBezTo>
                    <a:pt x="33141" y="225778"/>
                    <a:pt x="0" y="192637"/>
                    <a:pt x="0" y="151755"/>
                  </a:cubicBezTo>
                  <a:lnTo>
                    <a:pt x="0" y="74023"/>
                  </a:lnTo>
                  <a:cubicBezTo>
                    <a:pt x="0" y="33141"/>
                    <a:pt x="33141" y="0"/>
                    <a:pt x="74023" y="0"/>
                  </a:cubicBezTo>
                  <a:close/>
                </a:path>
              </a:pathLst>
            </a:custGeom>
            <a:solidFill>
              <a:srgbClr val="A3A3F2"/>
            </a:solidFill>
          </p:spPr>
        </p:sp>
        <p:sp>
          <p:nvSpPr>
            <p:cNvPr name="TextBox 11" id="11"/>
            <p:cNvSpPr txBox="true"/>
            <p:nvPr/>
          </p:nvSpPr>
          <p:spPr>
            <a:xfrm>
              <a:off x="0" y="-47625"/>
              <a:ext cx="1404840" cy="273403"/>
            </a:xfrm>
            <a:prstGeom prst="rect">
              <a:avLst/>
            </a:prstGeom>
          </p:spPr>
          <p:txBody>
            <a:bodyPr anchor="ctr" rtlCol="false" tIns="50800" lIns="50800" bIns="50800" rIns="50800"/>
            <a:lstStyle/>
            <a:p>
              <a:pPr algn="ctr">
                <a:lnSpc>
                  <a:spcPts val="4199"/>
                </a:lnSpc>
              </a:pPr>
              <a:r>
                <a:rPr lang="en-US" b="true" sz="2999">
                  <a:solidFill>
                    <a:srgbClr val="FFFFFF"/>
                  </a:solidFill>
                  <a:latin typeface="Open Sans Bold"/>
                  <a:ea typeface="Open Sans Bold"/>
                  <a:cs typeface="Open Sans Bold"/>
                  <a:sym typeface="Open Sans Bold"/>
                </a:rPr>
                <a:t>Sprint Backlog</a:t>
              </a:r>
            </a:p>
          </p:txBody>
        </p:sp>
      </p:grpSp>
      <p:grpSp>
        <p:nvGrpSpPr>
          <p:cNvPr name="Group 12" id="12"/>
          <p:cNvGrpSpPr/>
          <p:nvPr/>
        </p:nvGrpSpPr>
        <p:grpSpPr>
          <a:xfrm rot="0">
            <a:off x="10339058" y="4080541"/>
            <a:ext cx="5334000" cy="857250"/>
            <a:chOff x="0" y="0"/>
            <a:chExt cx="1404840" cy="225778"/>
          </a:xfrm>
        </p:grpSpPr>
        <p:sp>
          <p:nvSpPr>
            <p:cNvPr name="Freeform 13" id="13"/>
            <p:cNvSpPr/>
            <p:nvPr/>
          </p:nvSpPr>
          <p:spPr>
            <a:xfrm flipH="false" flipV="false" rot="0">
              <a:off x="0" y="0"/>
              <a:ext cx="1404840" cy="225778"/>
            </a:xfrm>
            <a:custGeom>
              <a:avLst/>
              <a:gdLst/>
              <a:ahLst/>
              <a:cxnLst/>
              <a:rect r="r" b="b" t="t" l="l"/>
              <a:pathLst>
                <a:path h="225778" w="1404840">
                  <a:moveTo>
                    <a:pt x="74023" y="0"/>
                  </a:moveTo>
                  <a:lnTo>
                    <a:pt x="1330817" y="0"/>
                  </a:lnTo>
                  <a:cubicBezTo>
                    <a:pt x="1371698" y="0"/>
                    <a:pt x="1404840" y="33141"/>
                    <a:pt x="1404840" y="74023"/>
                  </a:cubicBezTo>
                  <a:lnTo>
                    <a:pt x="1404840" y="151755"/>
                  </a:lnTo>
                  <a:cubicBezTo>
                    <a:pt x="1404840" y="171387"/>
                    <a:pt x="1397041" y="190215"/>
                    <a:pt x="1383159" y="204097"/>
                  </a:cubicBezTo>
                  <a:cubicBezTo>
                    <a:pt x="1369277" y="217979"/>
                    <a:pt x="1350449" y="225778"/>
                    <a:pt x="1330817" y="225778"/>
                  </a:cubicBezTo>
                  <a:lnTo>
                    <a:pt x="74023" y="225778"/>
                  </a:lnTo>
                  <a:cubicBezTo>
                    <a:pt x="33141" y="225778"/>
                    <a:pt x="0" y="192637"/>
                    <a:pt x="0" y="151755"/>
                  </a:cubicBezTo>
                  <a:lnTo>
                    <a:pt x="0" y="74023"/>
                  </a:lnTo>
                  <a:cubicBezTo>
                    <a:pt x="0" y="33141"/>
                    <a:pt x="33141" y="0"/>
                    <a:pt x="74023" y="0"/>
                  </a:cubicBezTo>
                  <a:close/>
                </a:path>
              </a:pathLst>
            </a:custGeom>
            <a:solidFill>
              <a:srgbClr val="8A6ABE"/>
            </a:solidFill>
          </p:spPr>
        </p:sp>
        <p:sp>
          <p:nvSpPr>
            <p:cNvPr name="TextBox 14" id="14"/>
            <p:cNvSpPr txBox="true"/>
            <p:nvPr/>
          </p:nvSpPr>
          <p:spPr>
            <a:xfrm>
              <a:off x="0" y="-47625"/>
              <a:ext cx="1404840" cy="273403"/>
            </a:xfrm>
            <a:prstGeom prst="rect">
              <a:avLst/>
            </a:prstGeom>
          </p:spPr>
          <p:txBody>
            <a:bodyPr anchor="ctr" rtlCol="false" tIns="50800" lIns="50800" bIns="50800" rIns="50800"/>
            <a:lstStyle/>
            <a:p>
              <a:pPr algn="ctr">
                <a:lnSpc>
                  <a:spcPts val="4199"/>
                </a:lnSpc>
              </a:pPr>
              <a:r>
                <a:rPr lang="en-US" b="true" sz="2999">
                  <a:solidFill>
                    <a:srgbClr val="FFFFFF"/>
                  </a:solidFill>
                  <a:latin typeface="Open Sans Bold"/>
                  <a:ea typeface="Open Sans Bold"/>
                  <a:cs typeface="Open Sans Bold"/>
                  <a:sym typeface="Open Sans Bold"/>
                </a:rPr>
                <a:t>Sprint Review &amp; Demos</a:t>
              </a:r>
            </a:p>
          </p:txBody>
        </p:sp>
      </p:grpSp>
      <p:grpSp>
        <p:nvGrpSpPr>
          <p:cNvPr name="Group 15" id="15"/>
          <p:cNvGrpSpPr/>
          <p:nvPr/>
        </p:nvGrpSpPr>
        <p:grpSpPr>
          <a:xfrm rot="0">
            <a:off x="10339058" y="6617876"/>
            <a:ext cx="5334000" cy="857250"/>
            <a:chOff x="0" y="0"/>
            <a:chExt cx="1404840" cy="225778"/>
          </a:xfrm>
        </p:grpSpPr>
        <p:sp>
          <p:nvSpPr>
            <p:cNvPr name="Freeform 16" id="16"/>
            <p:cNvSpPr/>
            <p:nvPr/>
          </p:nvSpPr>
          <p:spPr>
            <a:xfrm flipH="false" flipV="false" rot="0">
              <a:off x="0" y="0"/>
              <a:ext cx="1404840" cy="225778"/>
            </a:xfrm>
            <a:custGeom>
              <a:avLst/>
              <a:gdLst/>
              <a:ahLst/>
              <a:cxnLst/>
              <a:rect r="r" b="b" t="t" l="l"/>
              <a:pathLst>
                <a:path h="225778" w="1404840">
                  <a:moveTo>
                    <a:pt x="74023" y="0"/>
                  </a:moveTo>
                  <a:lnTo>
                    <a:pt x="1330817" y="0"/>
                  </a:lnTo>
                  <a:cubicBezTo>
                    <a:pt x="1371698" y="0"/>
                    <a:pt x="1404840" y="33141"/>
                    <a:pt x="1404840" y="74023"/>
                  </a:cubicBezTo>
                  <a:lnTo>
                    <a:pt x="1404840" y="151755"/>
                  </a:lnTo>
                  <a:cubicBezTo>
                    <a:pt x="1404840" y="171387"/>
                    <a:pt x="1397041" y="190215"/>
                    <a:pt x="1383159" y="204097"/>
                  </a:cubicBezTo>
                  <a:cubicBezTo>
                    <a:pt x="1369277" y="217979"/>
                    <a:pt x="1350449" y="225778"/>
                    <a:pt x="1330817" y="225778"/>
                  </a:cubicBezTo>
                  <a:lnTo>
                    <a:pt x="74023" y="225778"/>
                  </a:lnTo>
                  <a:cubicBezTo>
                    <a:pt x="33141" y="225778"/>
                    <a:pt x="0" y="192637"/>
                    <a:pt x="0" y="151755"/>
                  </a:cubicBezTo>
                  <a:lnTo>
                    <a:pt x="0" y="74023"/>
                  </a:lnTo>
                  <a:cubicBezTo>
                    <a:pt x="0" y="33141"/>
                    <a:pt x="33141" y="0"/>
                    <a:pt x="74023" y="0"/>
                  </a:cubicBezTo>
                  <a:close/>
                </a:path>
              </a:pathLst>
            </a:custGeom>
            <a:solidFill>
              <a:srgbClr val="813DF9"/>
            </a:solidFill>
          </p:spPr>
        </p:sp>
        <p:sp>
          <p:nvSpPr>
            <p:cNvPr name="TextBox 17" id="17"/>
            <p:cNvSpPr txBox="true"/>
            <p:nvPr/>
          </p:nvSpPr>
          <p:spPr>
            <a:xfrm>
              <a:off x="0" y="-47625"/>
              <a:ext cx="1404840" cy="273403"/>
            </a:xfrm>
            <a:prstGeom prst="rect">
              <a:avLst/>
            </a:prstGeom>
          </p:spPr>
          <p:txBody>
            <a:bodyPr anchor="ctr" rtlCol="false" tIns="50800" lIns="50800" bIns="50800" rIns="50800"/>
            <a:lstStyle/>
            <a:p>
              <a:pPr algn="ctr">
                <a:lnSpc>
                  <a:spcPts val="4199"/>
                </a:lnSpc>
              </a:pPr>
              <a:r>
                <a:rPr lang="en-US" b="true" sz="2999">
                  <a:solidFill>
                    <a:srgbClr val="FFFFFF"/>
                  </a:solidFill>
                  <a:latin typeface="Open Sans Bold"/>
                  <a:ea typeface="Open Sans Bold"/>
                  <a:cs typeface="Open Sans Bold"/>
                  <a:sym typeface="Open Sans Bold"/>
                </a:rPr>
                <a:t>Burndown Chart</a:t>
              </a:r>
            </a:p>
          </p:txBody>
        </p:sp>
      </p:grpSp>
      <p:grpSp>
        <p:nvGrpSpPr>
          <p:cNvPr name="Group 18" id="18"/>
          <p:cNvGrpSpPr/>
          <p:nvPr/>
        </p:nvGrpSpPr>
        <p:grpSpPr>
          <a:xfrm rot="0">
            <a:off x="2814414" y="6617876"/>
            <a:ext cx="5334000" cy="857250"/>
            <a:chOff x="0" y="0"/>
            <a:chExt cx="1404840" cy="225778"/>
          </a:xfrm>
        </p:grpSpPr>
        <p:sp>
          <p:nvSpPr>
            <p:cNvPr name="Freeform 19" id="19"/>
            <p:cNvSpPr/>
            <p:nvPr/>
          </p:nvSpPr>
          <p:spPr>
            <a:xfrm flipH="false" flipV="false" rot="0">
              <a:off x="0" y="0"/>
              <a:ext cx="1404840" cy="225778"/>
            </a:xfrm>
            <a:custGeom>
              <a:avLst/>
              <a:gdLst/>
              <a:ahLst/>
              <a:cxnLst/>
              <a:rect r="r" b="b" t="t" l="l"/>
              <a:pathLst>
                <a:path h="225778" w="1404840">
                  <a:moveTo>
                    <a:pt x="74023" y="0"/>
                  </a:moveTo>
                  <a:lnTo>
                    <a:pt x="1330817" y="0"/>
                  </a:lnTo>
                  <a:cubicBezTo>
                    <a:pt x="1371698" y="0"/>
                    <a:pt x="1404840" y="33141"/>
                    <a:pt x="1404840" y="74023"/>
                  </a:cubicBezTo>
                  <a:lnTo>
                    <a:pt x="1404840" y="151755"/>
                  </a:lnTo>
                  <a:cubicBezTo>
                    <a:pt x="1404840" y="171387"/>
                    <a:pt x="1397041" y="190215"/>
                    <a:pt x="1383159" y="204097"/>
                  </a:cubicBezTo>
                  <a:cubicBezTo>
                    <a:pt x="1369277" y="217979"/>
                    <a:pt x="1350449" y="225778"/>
                    <a:pt x="1330817" y="225778"/>
                  </a:cubicBezTo>
                  <a:lnTo>
                    <a:pt x="74023" y="225778"/>
                  </a:lnTo>
                  <a:cubicBezTo>
                    <a:pt x="33141" y="225778"/>
                    <a:pt x="0" y="192637"/>
                    <a:pt x="0" y="151755"/>
                  </a:cubicBezTo>
                  <a:lnTo>
                    <a:pt x="0" y="74023"/>
                  </a:lnTo>
                  <a:cubicBezTo>
                    <a:pt x="0" y="33141"/>
                    <a:pt x="33141" y="0"/>
                    <a:pt x="74023" y="0"/>
                  </a:cubicBezTo>
                  <a:close/>
                </a:path>
              </a:pathLst>
            </a:custGeom>
            <a:solidFill>
              <a:srgbClr val="813DF9"/>
            </a:solidFill>
          </p:spPr>
        </p:sp>
        <p:sp>
          <p:nvSpPr>
            <p:cNvPr name="TextBox 20" id="20"/>
            <p:cNvSpPr txBox="true"/>
            <p:nvPr/>
          </p:nvSpPr>
          <p:spPr>
            <a:xfrm>
              <a:off x="0" y="-47625"/>
              <a:ext cx="1404840" cy="273403"/>
            </a:xfrm>
            <a:prstGeom prst="rect">
              <a:avLst/>
            </a:prstGeom>
          </p:spPr>
          <p:txBody>
            <a:bodyPr anchor="ctr" rtlCol="false" tIns="50800" lIns="50800" bIns="50800" rIns="50800"/>
            <a:lstStyle/>
            <a:p>
              <a:pPr algn="ctr">
                <a:lnSpc>
                  <a:spcPts val="4199"/>
                </a:lnSpc>
              </a:pPr>
              <a:r>
                <a:rPr lang="en-US" b="true" sz="2999">
                  <a:solidFill>
                    <a:srgbClr val="FFFFFF"/>
                  </a:solidFill>
                  <a:latin typeface="Open Sans Bold"/>
                  <a:ea typeface="Open Sans Bold"/>
                  <a:cs typeface="Open Sans Bold"/>
                  <a:sym typeface="Open Sans Bold"/>
                </a:rPr>
                <a:t>Log de Impedimentos</a:t>
              </a:r>
            </a:p>
          </p:txBody>
        </p:sp>
      </p:grpSp>
      <p:grpSp>
        <p:nvGrpSpPr>
          <p:cNvPr name="Group 21" id="21"/>
          <p:cNvGrpSpPr/>
          <p:nvPr/>
        </p:nvGrpSpPr>
        <p:grpSpPr>
          <a:xfrm rot="0">
            <a:off x="2814414" y="5349209"/>
            <a:ext cx="5334000" cy="857250"/>
            <a:chOff x="0" y="0"/>
            <a:chExt cx="1404840" cy="225778"/>
          </a:xfrm>
        </p:grpSpPr>
        <p:sp>
          <p:nvSpPr>
            <p:cNvPr name="Freeform 22" id="22"/>
            <p:cNvSpPr/>
            <p:nvPr/>
          </p:nvSpPr>
          <p:spPr>
            <a:xfrm flipH="false" flipV="false" rot="0">
              <a:off x="0" y="0"/>
              <a:ext cx="1404840" cy="225778"/>
            </a:xfrm>
            <a:custGeom>
              <a:avLst/>
              <a:gdLst/>
              <a:ahLst/>
              <a:cxnLst/>
              <a:rect r="r" b="b" t="t" l="l"/>
              <a:pathLst>
                <a:path h="225778" w="1404840">
                  <a:moveTo>
                    <a:pt x="74023" y="0"/>
                  </a:moveTo>
                  <a:lnTo>
                    <a:pt x="1330817" y="0"/>
                  </a:lnTo>
                  <a:cubicBezTo>
                    <a:pt x="1371698" y="0"/>
                    <a:pt x="1404840" y="33141"/>
                    <a:pt x="1404840" y="74023"/>
                  </a:cubicBezTo>
                  <a:lnTo>
                    <a:pt x="1404840" y="151755"/>
                  </a:lnTo>
                  <a:cubicBezTo>
                    <a:pt x="1404840" y="171387"/>
                    <a:pt x="1397041" y="190215"/>
                    <a:pt x="1383159" y="204097"/>
                  </a:cubicBezTo>
                  <a:cubicBezTo>
                    <a:pt x="1369277" y="217979"/>
                    <a:pt x="1350449" y="225778"/>
                    <a:pt x="1330817" y="225778"/>
                  </a:cubicBezTo>
                  <a:lnTo>
                    <a:pt x="74023" y="225778"/>
                  </a:lnTo>
                  <a:cubicBezTo>
                    <a:pt x="33141" y="225778"/>
                    <a:pt x="0" y="192637"/>
                    <a:pt x="0" y="151755"/>
                  </a:cubicBezTo>
                  <a:lnTo>
                    <a:pt x="0" y="74023"/>
                  </a:lnTo>
                  <a:cubicBezTo>
                    <a:pt x="0" y="33141"/>
                    <a:pt x="33141" y="0"/>
                    <a:pt x="74023" y="0"/>
                  </a:cubicBezTo>
                  <a:close/>
                </a:path>
              </a:pathLst>
            </a:custGeom>
            <a:solidFill>
              <a:srgbClr val="8A6ABE"/>
            </a:solidFill>
          </p:spPr>
        </p:sp>
        <p:sp>
          <p:nvSpPr>
            <p:cNvPr name="TextBox 23" id="23"/>
            <p:cNvSpPr txBox="true"/>
            <p:nvPr/>
          </p:nvSpPr>
          <p:spPr>
            <a:xfrm>
              <a:off x="0" y="-47625"/>
              <a:ext cx="1404840" cy="273403"/>
            </a:xfrm>
            <a:prstGeom prst="rect">
              <a:avLst/>
            </a:prstGeom>
          </p:spPr>
          <p:txBody>
            <a:bodyPr anchor="ctr" rtlCol="false" tIns="50800" lIns="50800" bIns="50800" rIns="50800"/>
            <a:lstStyle/>
            <a:p>
              <a:pPr algn="ctr">
                <a:lnSpc>
                  <a:spcPts val="4199"/>
                </a:lnSpc>
              </a:pPr>
              <a:r>
                <a:rPr lang="en-US" b="true" sz="2999">
                  <a:solidFill>
                    <a:srgbClr val="FFFFFF"/>
                  </a:solidFill>
                  <a:latin typeface="Open Sans Bold"/>
                  <a:ea typeface="Open Sans Bold"/>
                  <a:cs typeface="Open Sans Bold"/>
                  <a:sym typeface="Open Sans Bold"/>
                </a:rPr>
                <a:t>Sprint Retrospective</a:t>
              </a:r>
            </a:p>
          </p:txBody>
        </p:sp>
      </p:grpSp>
      <p:grpSp>
        <p:nvGrpSpPr>
          <p:cNvPr name="Group 24" id="24"/>
          <p:cNvGrpSpPr/>
          <p:nvPr/>
        </p:nvGrpSpPr>
        <p:grpSpPr>
          <a:xfrm rot="0">
            <a:off x="10339058" y="5349209"/>
            <a:ext cx="5334000" cy="857250"/>
            <a:chOff x="0" y="0"/>
            <a:chExt cx="1404840" cy="225778"/>
          </a:xfrm>
        </p:grpSpPr>
        <p:sp>
          <p:nvSpPr>
            <p:cNvPr name="Freeform 25" id="25"/>
            <p:cNvSpPr/>
            <p:nvPr/>
          </p:nvSpPr>
          <p:spPr>
            <a:xfrm flipH="false" flipV="false" rot="0">
              <a:off x="0" y="0"/>
              <a:ext cx="1404840" cy="225778"/>
            </a:xfrm>
            <a:custGeom>
              <a:avLst/>
              <a:gdLst/>
              <a:ahLst/>
              <a:cxnLst/>
              <a:rect r="r" b="b" t="t" l="l"/>
              <a:pathLst>
                <a:path h="225778" w="1404840">
                  <a:moveTo>
                    <a:pt x="74023" y="0"/>
                  </a:moveTo>
                  <a:lnTo>
                    <a:pt x="1330817" y="0"/>
                  </a:lnTo>
                  <a:cubicBezTo>
                    <a:pt x="1371698" y="0"/>
                    <a:pt x="1404840" y="33141"/>
                    <a:pt x="1404840" y="74023"/>
                  </a:cubicBezTo>
                  <a:lnTo>
                    <a:pt x="1404840" y="151755"/>
                  </a:lnTo>
                  <a:cubicBezTo>
                    <a:pt x="1404840" y="171387"/>
                    <a:pt x="1397041" y="190215"/>
                    <a:pt x="1383159" y="204097"/>
                  </a:cubicBezTo>
                  <a:cubicBezTo>
                    <a:pt x="1369277" y="217979"/>
                    <a:pt x="1350449" y="225778"/>
                    <a:pt x="1330817" y="225778"/>
                  </a:cubicBezTo>
                  <a:lnTo>
                    <a:pt x="74023" y="225778"/>
                  </a:lnTo>
                  <a:cubicBezTo>
                    <a:pt x="33141" y="225778"/>
                    <a:pt x="0" y="192637"/>
                    <a:pt x="0" y="151755"/>
                  </a:cubicBezTo>
                  <a:lnTo>
                    <a:pt x="0" y="74023"/>
                  </a:lnTo>
                  <a:cubicBezTo>
                    <a:pt x="0" y="33141"/>
                    <a:pt x="33141" y="0"/>
                    <a:pt x="74023" y="0"/>
                  </a:cubicBezTo>
                  <a:close/>
                </a:path>
              </a:pathLst>
            </a:custGeom>
            <a:solidFill>
              <a:srgbClr val="7D58B2"/>
            </a:solidFill>
          </p:spPr>
        </p:sp>
        <p:sp>
          <p:nvSpPr>
            <p:cNvPr name="TextBox 26" id="26"/>
            <p:cNvSpPr txBox="true"/>
            <p:nvPr/>
          </p:nvSpPr>
          <p:spPr>
            <a:xfrm>
              <a:off x="0" y="-47625"/>
              <a:ext cx="1404840" cy="273403"/>
            </a:xfrm>
            <a:prstGeom prst="rect">
              <a:avLst/>
            </a:prstGeom>
          </p:spPr>
          <p:txBody>
            <a:bodyPr anchor="ctr" rtlCol="false" tIns="50800" lIns="50800" bIns="50800" rIns="50800"/>
            <a:lstStyle/>
            <a:p>
              <a:pPr algn="ctr">
                <a:lnSpc>
                  <a:spcPts val="4199"/>
                </a:lnSpc>
              </a:pPr>
              <a:r>
                <a:rPr lang="en-US" b="true" sz="2999">
                  <a:solidFill>
                    <a:srgbClr val="FFFFFF"/>
                  </a:solidFill>
                  <a:latin typeface="Open Sans Bold"/>
                  <a:ea typeface="Open Sans Bold"/>
                  <a:cs typeface="Open Sans Bold"/>
                  <a:sym typeface="Open Sans Bold"/>
                </a:rPr>
                <a:t>Incremento de Software</a:t>
              </a:r>
            </a:p>
          </p:txBody>
        </p:sp>
      </p:grpSp>
      <p:sp>
        <p:nvSpPr>
          <p:cNvPr name="AutoShape 27" id="27"/>
          <p:cNvSpPr/>
          <p:nvPr/>
        </p:nvSpPr>
        <p:spPr>
          <a:xfrm>
            <a:off x="-4956097" y="790575"/>
            <a:ext cx="18098098" cy="0"/>
          </a:xfrm>
          <a:prstGeom prst="line">
            <a:avLst/>
          </a:prstGeom>
          <a:ln cap="flat" w="19050">
            <a:solidFill>
              <a:srgbClr val="000000"/>
            </a:solidFill>
            <a:prstDash val="solid"/>
            <a:headEnd type="none" len="sm" w="sm"/>
            <a:tailEnd type="none" len="sm" w="sm"/>
          </a:ln>
        </p:spPr>
      </p:sp>
    </p:spTree>
  </p:cSld>
  <p:clrMapOvr>
    <a:masterClrMapping/>
  </p:clrMapOvr>
  <p:transition spd="fast">
    <p:cover dir="l"/>
  </p:transition>
</p:sld>
</file>

<file path=ppt/slides/slide17.xml><?xml version="1.0" encoding="utf-8"?>
<p:sld xmlns:p="http://schemas.openxmlformats.org/presentationml/2006/main" xmlns:a="http://schemas.openxmlformats.org/drawingml/2006/main">
  <p:cSld>
    <p:bg>
      <p:bgPr>
        <a:solidFill>
          <a:srgbClr val="F2F2F7"/>
        </a:solidFill>
      </p:bgPr>
    </p:bg>
    <p:spTree>
      <p:nvGrpSpPr>
        <p:cNvPr id="1" name=""/>
        <p:cNvGrpSpPr/>
        <p:nvPr/>
      </p:nvGrpSpPr>
      <p:grpSpPr>
        <a:xfrm>
          <a:off x="0" y="0"/>
          <a:ext cx="0" cy="0"/>
          <a:chOff x="0" y="0"/>
          <a:chExt cx="0" cy="0"/>
        </a:xfrm>
      </p:grpSpPr>
      <p:grpSp>
        <p:nvGrpSpPr>
          <p:cNvPr name="Group 2" id="2"/>
          <p:cNvGrpSpPr/>
          <p:nvPr/>
        </p:nvGrpSpPr>
        <p:grpSpPr>
          <a:xfrm rot="0">
            <a:off x="747816" y="3674106"/>
            <a:ext cx="5625941" cy="1428750"/>
            <a:chOff x="0" y="0"/>
            <a:chExt cx="1481729" cy="376296"/>
          </a:xfrm>
        </p:grpSpPr>
        <p:sp>
          <p:nvSpPr>
            <p:cNvPr name="Freeform 3" id="3"/>
            <p:cNvSpPr/>
            <p:nvPr/>
          </p:nvSpPr>
          <p:spPr>
            <a:xfrm flipH="false" flipV="false" rot="0">
              <a:off x="0" y="0"/>
              <a:ext cx="1481729" cy="376296"/>
            </a:xfrm>
            <a:custGeom>
              <a:avLst/>
              <a:gdLst/>
              <a:ahLst/>
              <a:cxnLst/>
              <a:rect r="r" b="b" t="t" l="l"/>
              <a:pathLst>
                <a:path h="376296" w="1481729">
                  <a:moveTo>
                    <a:pt x="70182" y="0"/>
                  </a:moveTo>
                  <a:lnTo>
                    <a:pt x="1411548" y="0"/>
                  </a:lnTo>
                  <a:cubicBezTo>
                    <a:pt x="1450308" y="0"/>
                    <a:pt x="1481729" y="31421"/>
                    <a:pt x="1481729" y="70182"/>
                  </a:cubicBezTo>
                  <a:lnTo>
                    <a:pt x="1481729" y="306115"/>
                  </a:lnTo>
                  <a:cubicBezTo>
                    <a:pt x="1481729" y="344875"/>
                    <a:pt x="1450308" y="376296"/>
                    <a:pt x="1411548" y="376296"/>
                  </a:cubicBezTo>
                  <a:lnTo>
                    <a:pt x="70182" y="376296"/>
                  </a:lnTo>
                  <a:cubicBezTo>
                    <a:pt x="31421" y="376296"/>
                    <a:pt x="0" y="344875"/>
                    <a:pt x="0" y="306115"/>
                  </a:cubicBezTo>
                  <a:lnTo>
                    <a:pt x="0" y="70182"/>
                  </a:lnTo>
                  <a:cubicBezTo>
                    <a:pt x="0" y="31421"/>
                    <a:pt x="31421" y="0"/>
                    <a:pt x="70182" y="0"/>
                  </a:cubicBezTo>
                  <a:close/>
                </a:path>
              </a:pathLst>
            </a:custGeom>
            <a:solidFill>
              <a:srgbClr val="FFFFFF"/>
            </a:solidFill>
            <a:ln w="9525" cap="rnd">
              <a:solidFill>
                <a:srgbClr val="000000"/>
              </a:solidFill>
              <a:prstDash val="solid"/>
              <a:round/>
            </a:ln>
          </p:spPr>
        </p:sp>
        <p:sp>
          <p:nvSpPr>
            <p:cNvPr name="TextBox 4" id="4"/>
            <p:cNvSpPr txBox="true"/>
            <p:nvPr/>
          </p:nvSpPr>
          <p:spPr>
            <a:xfrm>
              <a:off x="0" y="-47625"/>
              <a:ext cx="1481729" cy="423921"/>
            </a:xfrm>
            <a:prstGeom prst="rect">
              <a:avLst/>
            </a:prstGeom>
          </p:spPr>
          <p:txBody>
            <a:bodyPr anchor="ctr" rtlCol="false" tIns="50800" lIns="50800" bIns="50800" rIns="50800"/>
            <a:lstStyle/>
            <a:p>
              <a:pPr algn="ctr">
                <a:lnSpc>
                  <a:spcPts val="3499"/>
                </a:lnSpc>
              </a:pPr>
              <a:r>
                <a:rPr lang="en-US" sz="2499">
                  <a:solidFill>
                    <a:srgbClr val="000000"/>
                  </a:solidFill>
                  <a:latin typeface="Open Sans"/>
                  <a:ea typeface="Open Sans"/>
                  <a:cs typeface="Open Sans"/>
                  <a:sym typeface="Open Sans"/>
                </a:rPr>
                <a:t>Desacoplamiento de infraestructura y subdominios en Vercel</a:t>
              </a:r>
            </a:p>
          </p:txBody>
        </p:sp>
      </p:grpSp>
      <p:grpSp>
        <p:nvGrpSpPr>
          <p:cNvPr name="Group 5" id="5"/>
          <p:cNvGrpSpPr/>
          <p:nvPr/>
        </p:nvGrpSpPr>
        <p:grpSpPr>
          <a:xfrm rot="0">
            <a:off x="6791589" y="3714750"/>
            <a:ext cx="5715000" cy="1428750"/>
            <a:chOff x="0" y="0"/>
            <a:chExt cx="1505185" cy="376296"/>
          </a:xfrm>
        </p:grpSpPr>
        <p:sp>
          <p:nvSpPr>
            <p:cNvPr name="Freeform 6" id="6"/>
            <p:cNvSpPr/>
            <p:nvPr/>
          </p:nvSpPr>
          <p:spPr>
            <a:xfrm flipH="false" flipV="false" rot="0">
              <a:off x="0" y="0"/>
              <a:ext cx="1505185" cy="376296"/>
            </a:xfrm>
            <a:custGeom>
              <a:avLst/>
              <a:gdLst/>
              <a:ahLst/>
              <a:cxnLst/>
              <a:rect r="r" b="b" t="t" l="l"/>
              <a:pathLst>
                <a:path h="376296" w="1505185">
                  <a:moveTo>
                    <a:pt x="69088" y="0"/>
                  </a:moveTo>
                  <a:lnTo>
                    <a:pt x="1436097" y="0"/>
                  </a:lnTo>
                  <a:cubicBezTo>
                    <a:pt x="1474253" y="0"/>
                    <a:pt x="1505185" y="30932"/>
                    <a:pt x="1505185" y="69088"/>
                  </a:cubicBezTo>
                  <a:lnTo>
                    <a:pt x="1505185" y="307208"/>
                  </a:lnTo>
                  <a:cubicBezTo>
                    <a:pt x="1505185" y="325532"/>
                    <a:pt x="1497906" y="343104"/>
                    <a:pt x="1484950" y="356061"/>
                  </a:cubicBezTo>
                  <a:cubicBezTo>
                    <a:pt x="1471993" y="369017"/>
                    <a:pt x="1454420" y="376296"/>
                    <a:pt x="1436097" y="376296"/>
                  </a:cubicBezTo>
                  <a:lnTo>
                    <a:pt x="69088" y="376296"/>
                  </a:lnTo>
                  <a:cubicBezTo>
                    <a:pt x="30932" y="376296"/>
                    <a:pt x="0" y="345365"/>
                    <a:pt x="0" y="307208"/>
                  </a:cubicBezTo>
                  <a:lnTo>
                    <a:pt x="0" y="69088"/>
                  </a:lnTo>
                  <a:cubicBezTo>
                    <a:pt x="0" y="30932"/>
                    <a:pt x="30932" y="0"/>
                    <a:pt x="69088" y="0"/>
                  </a:cubicBezTo>
                  <a:close/>
                </a:path>
              </a:pathLst>
            </a:custGeom>
            <a:solidFill>
              <a:srgbClr val="FFFFFF"/>
            </a:solidFill>
            <a:ln w="9525" cap="rnd">
              <a:solidFill>
                <a:srgbClr val="000000"/>
              </a:solidFill>
              <a:prstDash val="solid"/>
              <a:round/>
            </a:ln>
          </p:spPr>
        </p:sp>
        <p:sp>
          <p:nvSpPr>
            <p:cNvPr name="TextBox 7" id="7"/>
            <p:cNvSpPr txBox="true"/>
            <p:nvPr/>
          </p:nvSpPr>
          <p:spPr>
            <a:xfrm>
              <a:off x="0" y="-47625"/>
              <a:ext cx="1505185" cy="423921"/>
            </a:xfrm>
            <a:prstGeom prst="rect">
              <a:avLst/>
            </a:prstGeom>
          </p:spPr>
          <p:txBody>
            <a:bodyPr anchor="ctr" rtlCol="false" tIns="50800" lIns="50800" bIns="50800" rIns="50800"/>
            <a:lstStyle/>
            <a:p>
              <a:pPr algn="ctr">
                <a:lnSpc>
                  <a:spcPts val="3499"/>
                </a:lnSpc>
              </a:pPr>
              <a:r>
                <a:rPr lang="en-US" sz="2499">
                  <a:solidFill>
                    <a:srgbClr val="000000"/>
                  </a:solidFill>
                  <a:latin typeface="Open Sans"/>
                  <a:ea typeface="Open Sans"/>
                  <a:cs typeface="Open Sans"/>
                  <a:sym typeface="Open Sans"/>
                </a:rPr>
                <a:t>Aislamiento de entornos de desarrollo (Staging vs. Producción).</a:t>
              </a:r>
            </a:p>
          </p:txBody>
        </p:sp>
      </p:grpSp>
      <p:grpSp>
        <p:nvGrpSpPr>
          <p:cNvPr name="Group 8" id="8"/>
          <p:cNvGrpSpPr/>
          <p:nvPr/>
        </p:nvGrpSpPr>
        <p:grpSpPr>
          <a:xfrm rot="0">
            <a:off x="12924422" y="3674106"/>
            <a:ext cx="3745539" cy="1428750"/>
            <a:chOff x="0" y="0"/>
            <a:chExt cx="986479" cy="376296"/>
          </a:xfrm>
        </p:grpSpPr>
        <p:sp>
          <p:nvSpPr>
            <p:cNvPr name="Freeform 9" id="9"/>
            <p:cNvSpPr/>
            <p:nvPr/>
          </p:nvSpPr>
          <p:spPr>
            <a:xfrm flipH="false" flipV="false" rot="0">
              <a:off x="0" y="0"/>
              <a:ext cx="986480" cy="376296"/>
            </a:xfrm>
            <a:custGeom>
              <a:avLst/>
              <a:gdLst/>
              <a:ahLst/>
              <a:cxnLst/>
              <a:rect r="r" b="b" t="t" l="l"/>
              <a:pathLst>
                <a:path h="376296" w="986480">
                  <a:moveTo>
                    <a:pt x="105416" y="0"/>
                  </a:moveTo>
                  <a:lnTo>
                    <a:pt x="881064" y="0"/>
                  </a:lnTo>
                  <a:cubicBezTo>
                    <a:pt x="909022" y="0"/>
                    <a:pt x="935835" y="11106"/>
                    <a:pt x="955604" y="30875"/>
                  </a:cubicBezTo>
                  <a:cubicBezTo>
                    <a:pt x="975373" y="50645"/>
                    <a:pt x="986480" y="77458"/>
                    <a:pt x="986480" y="105416"/>
                  </a:cubicBezTo>
                  <a:lnTo>
                    <a:pt x="986480" y="270881"/>
                  </a:lnTo>
                  <a:cubicBezTo>
                    <a:pt x="986480" y="298839"/>
                    <a:pt x="975373" y="325652"/>
                    <a:pt x="955604" y="345421"/>
                  </a:cubicBezTo>
                  <a:cubicBezTo>
                    <a:pt x="935835" y="365190"/>
                    <a:pt x="909022" y="376296"/>
                    <a:pt x="881064" y="376296"/>
                  </a:cubicBezTo>
                  <a:lnTo>
                    <a:pt x="105416" y="376296"/>
                  </a:lnTo>
                  <a:cubicBezTo>
                    <a:pt x="77458" y="376296"/>
                    <a:pt x="50645" y="365190"/>
                    <a:pt x="30875" y="345421"/>
                  </a:cubicBezTo>
                  <a:cubicBezTo>
                    <a:pt x="11106" y="325652"/>
                    <a:pt x="0" y="298839"/>
                    <a:pt x="0" y="270881"/>
                  </a:cubicBezTo>
                  <a:lnTo>
                    <a:pt x="0" y="105416"/>
                  </a:lnTo>
                  <a:cubicBezTo>
                    <a:pt x="0" y="77458"/>
                    <a:pt x="11106" y="50645"/>
                    <a:pt x="30875" y="30875"/>
                  </a:cubicBezTo>
                  <a:cubicBezTo>
                    <a:pt x="50645" y="11106"/>
                    <a:pt x="77458" y="0"/>
                    <a:pt x="105416" y="0"/>
                  </a:cubicBezTo>
                  <a:close/>
                </a:path>
              </a:pathLst>
            </a:custGeom>
            <a:solidFill>
              <a:srgbClr val="FFFFFF"/>
            </a:solidFill>
            <a:ln w="9525" cap="rnd">
              <a:solidFill>
                <a:srgbClr val="000000"/>
              </a:solidFill>
              <a:prstDash val="solid"/>
              <a:round/>
            </a:ln>
          </p:spPr>
        </p:sp>
        <p:sp>
          <p:nvSpPr>
            <p:cNvPr name="TextBox 10" id="10"/>
            <p:cNvSpPr txBox="true"/>
            <p:nvPr/>
          </p:nvSpPr>
          <p:spPr>
            <a:xfrm>
              <a:off x="0" y="-47625"/>
              <a:ext cx="986479" cy="423921"/>
            </a:xfrm>
            <a:prstGeom prst="rect">
              <a:avLst/>
            </a:prstGeom>
          </p:spPr>
          <p:txBody>
            <a:bodyPr anchor="ctr" rtlCol="false" tIns="50800" lIns="50800" bIns="50800" rIns="50800"/>
            <a:lstStyle/>
            <a:p>
              <a:pPr algn="ctr">
                <a:lnSpc>
                  <a:spcPts val="3499"/>
                </a:lnSpc>
              </a:pPr>
              <a:r>
                <a:rPr lang="en-US" sz="2499">
                  <a:solidFill>
                    <a:srgbClr val="000000"/>
                  </a:solidFill>
                  <a:latin typeface="Open Sans"/>
                  <a:ea typeface="Open Sans"/>
                  <a:cs typeface="Open Sans"/>
                  <a:sym typeface="Open Sans"/>
                </a:rPr>
                <a:t>Reestructuración de la Base de Datos</a:t>
              </a:r>
            </a:p>
          </p:txBody>
        </p:sp>
      </p:grpSp>
      <p:grpSp>
        <p:nvGrpSpPr>
          <p:cNvPr name="Group 11" id="11"/>
          <p:cNvGrpSpPr/>
          <p:nvPr/>
        </p:nvGrpSpPr>
        <p:grpSpPr>
          <a:xfrm rot="0">
            <a:off x="590550" y="7496175"/>
            <a:ext cx="5238750" cy="1428750"/>
            <a:chOff x="0" y="0"/>
            <a:chExt cx="1379753" cy="376296"/>
          </a:xfrm>
        </p:grpSpPr>
        <p:sp>
          <p:nvSpPr>
            <p:cNvPr name="Freeform 12" id="12"/>
            <p:cNvSpPr/>
            <p:nvPr/>
          </p:nvSpPr>
          <p:spPr>
            <a:xfrm flipH="false" flipV="false" rot="0">
              <a:off x="0" y="0"/>
              <a:ext cx="1379753" cy="376296"/>
            </a:xfrm>
            <a:custGeom>
              <a:avLst/>
              <a:gdLst/>
              <a:ahLst/>
              <a:cxnLst/>
              <a:rect r="r" b="b" t="t" l="l"/>
              <a:pathLst>
                <a:path h="376296" w="1379753">
                  <a:moveTo>
                    <a:pt x="75369" y="0"/>
                  </a:moveTo>
                  <a:lnTo>
                    <a:pt x="1304384" y="0"/>
                  </a:lnTo>
                  <a:cubicBezTo>
                    <a:pt x="1324373" y="0"/>
                    <a:pt x="1343544" y="7941"/>
                    <a:pt x="1357678" y="22075"/>
                  </a:cubicBezTo>
                  <a:cubicBezTo>
                    <a:pt x="1371812" y="36209"/>
                    <a:pt x="1379753" y="55380"/>
                    <a:pt x="1379753" y="75369"/>
                  </a:cubicBezTo>
                  <a:lnTo>
                    <a:pt x="1379753" y="300928"/>
                  </a:lnTo>
                  <a:cubicBezTo>
                    <a:pt x="1379753" y="320917"/>
                    <a:pt x="1371812" y="340087"/>
                    <a:pt x="1357678" y="354221"/>
                  </a:cubicBezTo>
                  <a:cubicBezTo>
                    <a:pt x="1343544" y="368356"/>
                    <a:pt x="1324373" y="376296"/>
                    <a:pt x="1304384" y="376296"/>
                  </a:cubicBezTo>
                  <a:lnTo>
                    <a:pt x="75369" y="376296"/>
                  </a:lnTo>
                  <a:cubicBezTo>
                    <a:pt x="55380" y="376296"/>
                    <a:pt x="36209" y="368356"/>
                    <a:pt x="22075" y="354221"/>
                  </a:cubicBezTo>
                  <a:cubicBezTo>
                    <a:pt x="7941" y="340087"/>
                    <a:pt x="0" y="320917"/>
                    <a:pt x="0" y="300928"/>
                  </a:cubicBezTo>
                  <a:lnTo>
                    <a:pt x="0" y="75369"/>
                  </a:lnTo>
                  <a:cubicBezTo>
                    <a:pt x="0" y="55380"/>
                    <a:pt x="7941" y="36209"/>
                    <a:pt x="22075" y="22075"/>
                  </a:cubicBezTo>
                  <a:cubicBezTo>
                    <a:pt x="36209" y="7941"/>
                    <a:pt x="55380" y="0"/>
                    <a:pt x="75369" y="0"/>
                  </a:cubicBezTo>
                  <a:close/>
                </a:path>
              </a:pathLst>
            </a:custGeom>
            <a:solidFill>
              <a:srgbClr val="FFFFFF"/>
            </a:solidFill>
            <a:ln w="9525" cap="rnd">
              <a:solidFill>
                <a:srgbClr val="000000"/>
              </a:solidFill>
              <a:prstDash val="solid"/>
              <a:round/>
            </a:ln>
          </p:spPr>
        </p:sp>
        <p:sp>
          <p:nvSpPr>
            <p:cNvPr name="TextBox 13" id="13"/>
            <p:cNvSpPr txBox="true"/>
            <p:nvPr/>
          </p:nvSpPr>
          <p:spPr>
            <a:xfrm>
              <a:off x="0" y="-47625"/>
              <a:ext cx="1379753" cy="423921"/>
            </a:xfrm>
            <a:prstGeom prst="rect">
              <a:avLst/>
            </a:prstGeom>
          </p:spPr>
          <p:txBody>
            <a:bodyPr anchor="ctr" rtlCol="false" tIns="50800" lIns="50800" bIns="50800" rIns="50800"/>
            <a:lstStyle/>
            <a:p>
              <a:pPr algn="ctr">
                <a:lnSpc>
                  <a:spcPts val="3499"/>
                </a:lnSpc>
              </a:pPr>
              <a:r>
                <a:rPr lang="en-US" sz="2499">
                  <a:solidFill>
                    <a:srgbClr val="000000"/>
                  </a:solidFill>
                  <a:latin typeface="Open Sans"/>
                  <a:ea typeface="Open Sans"/>
                  <a:cs typeface="Open Sans"/>
                  <a:sym typeface="Open Sans"/>
                </a:rPr>
                <a:t>Unificación del módulo de Billetera &amp; Tarjetas de Crédito </a:t>
              </a:r>
            </a:p>
          </p:txBody>
        </p:sp>
      </p:grpSp>
      <p:sp>
        <p:nvSpPr>
          <p:cNvPr name="TextBox 14" id="14"/>
          <p:cNvSpPr txBox="true"/>
          <p:nvPr/>
        </p:nvSpPr>
        <p:spPr>
          <a:xfrm rot="0">
            <a:off x="13561425" y="444885"/>
            <a:ext cx="4634113" cy="514350"/>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7C3AED"/>
                </a:solidFill>
                <a:latin typeface="Open Sans Bold"/>
                <a:ea typeface="Open Sans Bold"/>
                <a:cs typeface="Open Sans Bold"/>
                <a:sym typeface="Open Sans Bold"/>
              </a:rPr>
              <a:t>13 </a:t>
            </a:r>
            <a:r>
              <a:rPr lang="en-US" b="true" sz="3000" strike="noStrike" u="none">
                <a:solidFill>
                  <a:srgbClr val="7C3AED"/>
                </a:solidFill>
                <a:latin typeface="Open Sans Bold"/>
                <a:ea typeface="Open Sans Bold"/>
                <a:cs typeface="Open Sans Bold"/>
                <a:sym typeface="Open Sans Bold"/>
              </a:rPr>
              <a:t>Definición de Sprints</a:t>
            </a:r>
          </a:p>
        </p:txBody>
      </p:sp>
      <p:sp>
        <p:nvSpPr>
          <p:cNvPr name="TextBox 15" id="15"/>
          <p:cNvSpPr txBox="true"/>
          <p:nvPr/>
        </p:nvSpPr>
        <p:spPr>
          <a:xfrm rot="0">
            <a:off x="2021952" y="1965043"/>
            <a:ext cx="13682329" cy="1047750"/>
          </a:xfrm>
          <a:prstGeom prst="rect">
            <a:avLst/>
          </a:prstGeom>
        </p:spPr>
        <p:txBody>
          <a:bodyPr anchor="t" rtlCol="false" tIns="0" lIns="0" bIns="0" rIns="0">
            <a:spAutoFit/>
          </a:bodyPr>
          <a:lstStyle/>
          <a:p>
            <a:pPr algn="ctr">
              <a:lnSpc>
                <a:spcPts val="4200"/>
              </a:lnSpc>
            </a:pPr>
            <a:r>
              <a:rPr lang="en-US" sz="3000" b="true">
                <a:solidFill>
                  <a:srgbClr val="813DF9"/>
                </a:solidFill>
                <a:latin typeface="Open Sans Bold"/>
                <a:ea typeface="Open Sans Bold"/>
                <a:cs typeface="Open Sans Bold"/>
                <a:sym typeface="Open Sans Bold"/>
              </a:rPr>
              <a:t>Sprint 0</a:t>
            </a:r>
            <a:r>
              <a:rPr lang="en-US" sz="3000" b="true">
                <a:solidFill>
                  <a:srgbClr val="FFFFFF"/>
                </a:solidFill>
                <a:latin typeface="Open Sans Bold"/>
                <a:ea typeface="Open Sans Bold"/>
                <a:cs typeface="Open Sans Bold"/>
                <a:sym typeface="Open Sans Bold"/>
              </a:rPr>
              <a:t> </a:t>
            </a:r>
          </a:p>
          <a:p>
            <a:pPr algn="ctr">
              <a:lnSpc>
                <a:spcPts val="4200"/>
              </a:lnSpc>
            </a:pPr>
            <a:r>
              <a:rPr lang="en-US" sz="3000" b="true">
                <a:solidFill>
                  <a:srgbClr val="000000"/>
                </a:solidFill>
                <a:latin typeface="Open Sans Bold"/>
                <a:ea typeface="Open Sans Bold"/>
                <a:cs typeface="Open Sans Bold"/>
                <a:sym typeface="Open Sans Bold"/>
              </a:rPr>
              <a:t>‘’Cimientos Técnicos &amp; Reestructuración BD (S1 – S2 / S3 – S4)’’</a:t>
            </a:r>
          </a:p>
        </p:txBody>
      </p:sp>
      <p:sp>
        <p:nvSpPr>
          <p:cNvPr name="TextBox 16" id="16"/>
          <p:cNvSpPr txBox="true"/>
          <p:nvPr/>
        </p:nvSpPr>
        <p:spPr>
          <a:xfrm rot="0">
            <a:off x="2145569" y="5743575"/>
            <a:ext cx="13558711" cy="1047750"/>
          </a:xfrm>
          <a:prstGeom prst="rect">
            <a:avLst/>
          </a:prstGeom>
        </p:spPr>
        <p:txBody>
          <a:bodyPr anchor="t" rtlCol="false" tIns="0" lIns="0" bIns="0" rIns="0">
            <a:spAutoFit/>
          </a:bodyPr>
          <a:lstStyle/>
          <a:p>
            <a:pPr algn="ctr" marL="0" indent="0" lvl="0">
              <a:lnSpc>
                <a:spcPts val="4200"/>
              </a:lnSpc>
              <a:spcBef>
                <a:spcPct val="0"/>
              </a:spcBef>
            </a:pPr>
            <a:r>
              <a:rPr lang="en-US" b="true" sz="3000" strike="noStrike" u="none">
                <a:solidFill>
                  <a:srgbClr val="7C3AED"/>
                </a:solidFill>
                <a:latin typeface="Open Sans Bold"/>
                <a:ea typeface="Open Sans Bold"/>
                <a:cs typeface="Open Sans Bold"/>
                <a:sym typeface="Open Sans Bold"/>
              </a:rPr>
              <a:t>Sprint 1 </a:t>
            </a:r>
          </a:p>
          <a:p>
            <a:pPr algn="ctr" marL="0" indent="0" lvl="0">
              <a:lnSpc>
                <a:spcPts val="4200"/>
              </a:lnSpc>
              <a:spcBef>
                <a:spcPct val="0"/>
              </a:spcBef>
            </a:pPr>
            <a:r>
              <a:rPr lang="en-US" b="true" sz="3000" strike="noStrike" u="none">
                <a:solidFill>
                  <a:srgbClr val="000000"/>
                </a:solidFill>
                <a:latin typeface="Open Sans Bold"/>
                <a:ea typeface="Open Sans Bold"/>
                <a:cs typeface="Open Sans Bold"/>
                <a:sym typeface="Open Sans Bold"/>
              </a:rPr>
              <a:t>‘’</a:t>
            </a:r>
            <a:r>
              <a:rPr lang="en-US" b="true" sz="3000" strike="noStrike" u="none">
                <a:solidFill>
                  <a:srgbClr val="000000"/>
                </a:solidFill>
                <a:latin typeface="Open Sans Bold"/>
                <a:ea typeface="Open Sans Bold"/>
                <a:cs typeface="Open Sans Bold"/>
                <a:sym typeface="Open Sans Bold"/>
              </a:rPr>
              <a:t>Unificación de Módulos &amp; Navegación SPA (S5 – S7)’’</a:t>
            </a:r>
          </a:p>
        </p:txBody>
      </p:sp>
      <p:grpSp>
        <p:nvGrpSpPr>
          <p:cNvPr name="Group 17" id="17"/>
          <p:cNvGrpSpPr/>
          <p:nvPr/>
        </p:nvGrpSpPr>
        <p:grpSpPr>
          <a:xfrm rot="0">
            <a:off x="6305550" y="7496175"/>
            <a:ext cx="5238750" cy="1428750"/>
            <a:chOff x="0" y="0"/>
            <a:chExt cx="1379753" cy="376296"/>
          </a:xfrm>
        </p:grpSpPr>
        <p:sp>
          <p:nvSpPr>
            <p:cNvPr name="Freeform 18" id="18"/>
            <p:cNvSpPr/>
            <p:nvPr/>
          </p:nvSpPr>
          <p:spPr>
            <a:xfrm flipH="false" flipV="false" rot="0">
              <a:off x="0" y="0"/>
              <a:ext cx="1379753" cy="376296"/>
            </a:xfrm>
            <a:custGeom>
              <a:avLst/>
              <a:gdLst/>
              <a:ahLst/>
              <a:cxnLst/>
              <a:rect r="r" b="b" t="t" l="l"/>
              <a:pathLst>
                <a:path h="376296" w="1379753">
                  <a:moveTo>
                    <a:pt x="75369" y="0"/>
                  </a:moveTo>
                  <a:lnTo>
                    <a:pt x="1304384" y="0"/>
                  </a:lnTo>
                  <a:cubicBezTo>
                    <a:pt x="1324373" y="0"/>
                    <a:pt x="1343544" y="7941"/>
                    <a:pt x="1357678" y="22075"/>
                  </a:cubicBezTo>
                  <a:cubicBezTo>
                    <a:pt x="1371812" y="36209"/>
                    <a:pt x="1379753" y="55380"/>
                    <a:pt x="1379753" y="75369"/>
                  </a:cubicBezTo>
                  <a:lnTo>
                    <a:pt x="1379753" y="300928"/>
                  </a:lnTo>
                  <a:cubicBezTo>
                    <a:pt x="1379753" y="320917"/>
                    <a:pt x="1371812" y="340087"/>
                    <a:pt x="1357678" y="354221"/>
                  </a:cubicBezTo>
                  <a:cubicBezTo>
                    <a:pt x="1343544" y="368356"/>
                    <a:pt x="1324373" y="376296"/>
                    <a:pt x="1304384" y="376296"/>
                  </a:cubicBezTo>
                  <a:lnTo>
                    <a:pt x="75369" y="376296"/>
                  </a:lnTo>
                  <a:cubicBezTo>
                    <a:pt x="55380" y="376296"/>
                    <a:pt x="36209" y="368356"/>
                    <a:pt x="22075" y="354221"/>
                  </a:cubicBezTo>
                  <a:cubicBezTo>
                    <a:pt x="7941" y="340087"/>
                    <a:pt x="0" y="320917"/>
                    <a:pt x="0" y="300928"/>
                  </a:cubicBezTo>
                  <a:lnTo>
                    <a:pt x="0" y="75369"/>
                  </a:lnTo>
                  <a:cubicBezTo>
                    <a:pt x="0" y="55380"/>
                    <a:pt x="7941" y="36209"/>
                    <a:pt x="22075" y="22075"/>
                  </a:cubicBezTo>
                  <a:cubicBezTo>
                    <a:pt x="36209" y="7941"/>
                    <a:pt x="55380" y="0"/>
                    <a:pt x="75369" y="0"/>
                  </a:cubicBezTo>
                  <a:close/>
                </a:path>
              </a:pathLst>
            </a:custGeom>
            <a:solidFill>
              <a:srgbClr val="FFFFFF"/>
            </a:solidFill>
            <a:ln w="9525" cap="rnd">
              <a:solidFill>
                <a:srgbClr val="000000"/>
              </a:solidFill>
              <a:prstDash val="solid"/>
              <a:round/>
            </a:ln>
          </p:spPr>
        </p:sp>
        <p:sp>
          <p:nvSpPr>
            <p:cNvPr name="TextBox 19" id="19"/>
            <p:cNvSpPr txBox="true"/>
            <p:nvPr/>
          </p:nvSpPr>
          <p:spPr>
            <a:xfrm>
              <a:off x="0" y="-47625"/>
              <a:ext cx="1379753" cy="423921"/>
            </a:xfrm>
            <a:prstGeom prst="rect">
              <a:avLst/>
            </a:prstGeom>
          </p:spPr>
          <p:txBody>
            <a:bodyPr anchor="ctr" rtlCol="false" tIns="50800" lIns="50800" bIns="50800" rIns="50800"/>
            <a:lstStyle/>
            <a:p>
              <a:pPr algn="ctr">
                <a:lnSpc>
                  <a:spcPts val="3499"/>
                </a:lnSpc>
              </a:pPr>
              <a:r>
                <a:rPr lang="en-US" sz="2499">
                  <a:solidFill>
                    <a:srgbClr val="000000"/>
                  </a:solidFill>
                  <a:latin typeface="Open Sans"/>
                  <a:ea typeface="Open Sans"/>
                  <a:cs typeface="Open Sans"/>
                  <a:sym typeface="Open Sans"/>
                </a:rPr>
                <a:t>Unificación del módulo de Planificación</a:t>
              </a:r>
            </a:p>
          </p:txBody>
        </p:sp>
      </p:grpSp>
      <p:grpSp>
        <p:nvGrpSpPr>
          <p:cNvPr name="Group 20" id="20"/>
          <p:cNvGrpSpPr/>
          <p:nvPr/>
        </p:nvGrpSpPr>
        <p:grpSpPr>
          <a:xfrm rot="0">
            <a:off x="12020550" y="7496175"/>
            <a:ext cx="5238750" cy="1486501"/>
            <a:chOff x="0" y="0"/>
            <a:chExt cx="1379753" cy="391506"/>
          </a:xfrm>
        </p:grpSpPr>
        <p:sp>
          <p:nvSpPr>
            <p:cNvPr name="Freeform 21" id="21"/>
            <p:cNvSpPr/>
            <p:nvPr/>
          </p:nvSpPr>
          <p:spPr>
            <a:xfrm flipH="false" flipV="false" rot="0">
              <a:off x="0" y="0"/>
              <a:ext cx="1379753" cy="391506"/>
            </a:xfrm>
            <a:custGeom>
              <a:avLst/>
              <a:gdLst/>
              <a:ahLst/>
              <a:cxnLst/>
              <a:rect r="r" b="b" t="t" l="l"/>
              <a:pathLst>
                <a:path h="391506" w="1379753">
                  <a:moveTo>
                    <a:pt x="75369" y="0"/>
                  </a:moveTo>
                  <a:lnTo>
                    <a:pt x="1304384" y="0"/>
                  </a:lnTo>
                  <a:cubicBezTo>
                    <a:pt x="1324373" y="0"/>
                    <a:pt x="1343544" y="7941"/>
                    <a:pt x="1357678" y="22075"/>
                  </a:cubicBezTo>
                  <a:cubicBezTo>
                    <a:pt x="1371812" y="36209"/>
                    <a:pt x="1379753" y="55380"/>
                    <a:pt x="1379753" y="75369"/>
                  </a:cubicBezTo>
                  <a:lnTo>
                    <a:pt x="1379753" y="316138"/>
                  </a:lnTo>
                  <a:cubicBezTo>
                    <a:pt x="1379753" y="336127"/>
                    <a:pt x="1371812" y="355297"/>
                    <a:pt x="1357678" y="369431"/>
                  </a:cubicBezTo>
                  <a:cubicBezTo>
                    <a:pt x="1343544" y="383566"/>
                    <a:pt x="1324373" y="391506"/>
                    <a:pt x="1304384" y="391506"/>
                  </a:cubicBezTo>
                  <a:lnTo>
                    <a:pt x="75369" y="391506"/>
                  </a:lnTo>
                  <a:cubicBezTo>
                    <a:pt x="55380" y="391506"/>
                    <a:pt x="36209" y="383566"/>
                    <a:pt x="22075" y="369431"/>
                  </a:cubicBezTo>
                  <a:cubicBezTo>
                    <a:pt x="7941" y="355297"/>
                    <a:pt x="0" y="336127"/>
                    <a:pt x="0" y="316138"/>
                  </a:cubicBezTo>
                  <a:lnTo>
                    <a:pt x="0" y="75369"/>
                  </a:lnTo>
                  <a:cubicBezTo>
                    <a:pt x="0" y="55380"/>
                    <a:pt x="7941" y="36209"/>
                    <a:pt x="22075" y="22075"/>
                  </a:cubicBezTo>
                  <a:cubicBezTo>
                    <a:pt x="36209" y="7941"/>
                    <a:pt x="55380" y="0"/>
                    <a:pt x="75369" y="0"/>
                  </a:cubicBezTo>
                  <a:close/>
                </a:path>
              </a:pathLst>
            </a:custGeom>
            <a:solidFill>
              <a:srgbClr val="FFFFFF"/>
            </a:solidFill>
            <a:ln w="9525" cap="rnd">
              <a:solidFill>
                <a:srgbClr val="000000"/>
              </a:solidFill>
              <a:prstDash val="solid"/>
              <a:round/>
            </a:ln>
          </p:spPr>
        </p:sp>
        <p:sp>
          <p:nvSpPr>
            <p:cNvPr name="TextBox 22" id="22"/>
            <p:cNvSpPr txBox="true"/>
            <p:nvPr/>
          </p:nvSpPr>
          <p:spPr>
            <a:xfrm>
              <a:off x="0" y="-47625"/>
              <a:ext cx="1379753" cy="439131"/>
            </a:xfrm>
            <a:prstGeom prst="rect">
              <a:avLst/>
            </a:prstGeom>
          </p:spPr>
          <p:txBody>
            <a:bodyPr anchor="ctr" rtlCol="false" tIns="50800" lIns="50800" bIns="50800" rIns="50800"/>
            <a:lstStyle/>
            <a:p>
              <a:pPr algn="ctr">
                <a:lnSpc>
                  <a:spcPts val="3499"/>
                </a:lnSpc>
              </a:pPr>
              <a:r>
                <a:rPr lang="en-US" sz="2499">
                  <a:solidFill>
                    <a:srgbClr val="000000"/>
                  </a:solidFill>
                  <a:latin typeface="Open Sans"/>
                  <a:ea typeface="Open Sans"/>
                  <a:cs typeface="Open Sans"/>
                  <a:sym typeface="Open Sans"/>
                </a:rPr>
                <a:t>Refactorización de la navegación a SPA, adaptada al nuevo esquema relacional.</a:t>
              </a:r>
            </a:p>
          </p:txBody>
        </p:sp>
      </p:grpSp>
      <p:sp>
        <p:nvSpPr>
          <p:cNvPr name="AutoShape 23" id="23"/>
          <p:cNvSpPr/>
          <p:nvPr/>
        </p:nvSpPr>
        <p:spPr>
          <a:xfrm>
            <a:off x="-4622398" y="740160"/>
            <a:ext cx="18098098" cy="0"/>
          </a:xfrm>
          <a:prstGeom prst="line">
            <a:avLst/>
          </a:prstGeom>
          <a:ln cap="flat" w="19050">
            <a:solidFill>
              <a:srgbClr val="000000"/>
            </a:solidFill>
            <a:prstDash val="solid"/>
            <a:headEnd type="none" len="sm" w="sm"/>
            <a:tailEnd type="none" len="sm" w="sm"/>
          </a:ln>
        </p:spPr>
      </p:sp>
    </p:spTree>
  </p:cSld>
  <p:clrMapOvr>
    <a:masterClrMapping/>
  </p:clrMapOvr>
  <p:transition spd="fast">
    <p:cover dir="l"/>
  </p:transition>
</p:sld>
</file>

<file path=ppt/slides/slide18.xml><?xml version="1.0" encoding="utf-8"?>
<p:sld xmlns:p="http://schemas.openxmlformats.org/presentationml/2006/main" xmlns:a="http://schemas.openxmlformats.org/drawingml/2006/main">
  <p:cSld>
    <p:bg>
      <p:bgPr>
        <a:solidFill>
          <a:srgbClr val="F2F2F7"/>
        </a:solidFill>
      </p:bgPr>
    </p:bg>
    <p:spTree>
      <p:nvGrpSpPr>
        <p:cNvPr id="1" name=""/>
        <p:cNvGrpSpPr/>
        <p:nvPr/>
      </p:nvGrpSpPr>
      <p:grpSpPr>
        <a:xfrm>
          <a:off x="0" y="0"/>
          <a:ext cx="0" cy="0"/>
          <a:chOff x="0" y="0"/>
          <a:chExt cx="0" cy="0"/>
        </a:xfrm>
      </p:grpSpPr>
      <p:sp>
        <p:nvSpPr>
          <p:cNvPr name="TextBox 2" id="2"/>
          <p:cNvSpPr txBox="true"/>
          <p:nvPr/>
        </p:nvSpPr>
        <p:spPr>
          <a:xfrm rot="0">
            <a:off x="3053303" y="1461424"/>
            <a:ext cx="11400755" cy="1047750"/>
          </a:xfrm>
          <a:prstGeom prst="rect">
            <a:avLst/>
          </a:prstGeom>
        </p:spPr>
        <p:txBody>
          <a:bodyPr anchor="t" rtlCol="false" tIns="0" lIns="0" bIns="0" rIns="0">
            <a:spAutoFit/>
          </a:bodyPr>
          <a:lstStyle/>
          <a:p>
            <a:pPr algn="ctr">
              <a:lnSpc>
                <a:spcPts val="4200"/>
              </a:lnSpc>
            </a:pPr>
            <a:r>
              <a:rPr lang="en-US" sz="3000" b="true">
                <a:solidFill>
                  <a:srgbClr val="813DF9"/>
                </a:solidFill>
                <a:latin typeface="Open Sans Bold"/>
                <a:ea typeface="Open Sans Bold"/>
                <a:cs typeface="Open Sans Bold"/>
                <a:sym typeface="Open Sans Bold"/>
              </a:rPr>
              <a:t>Sprint 2</a:t>
            </a:r>
            <a:r>
              <a:rPr lang="en-US" sz="3000" b="true">
                <a:solidFill>
                  <a:srgbClr val="FFFFFF"/>
                </a:solidFill>
                <a:latin typeface="Open Sans Bold"/>
                <a:ea typeface="Open Sans Bold"/>
                <a:cs typeface="Open Sans Bold"/>
                <a:sym typeface="Open Sans Bold"/>
              </a:rPr>
              <a:t> </a:t>
            </a:r>
          </a:p>
          <a:p>
            <a:pPr algn="ctr">
              <a:lnSpc>
                <a:spcPts val="4200"/>
              </a:lnSpc>
            </a:pPr>
            <a:r>
              <a:rPr lang="en-US" sz="3000" b="true">
                <a:solidFill>
                  <a:srgbClr val="000000"/>
                </a:solidFill>
                <a:latin typeface="Open Sans Bold"/>
                <a:ea typeface="Open Sans Bold"/>
                <a:cs typeface="Open Sans Bold"/>
                <a:sym typeface="Open Sans Bold"/>
              </a:rPr>
              <a:t>‘’Agenda Financiera, Dashboard &amp; Web Push (S8 – S10)’’</a:t>
            </a:r>
          </a:p>
        </p:txBody>
      </p:sp>
      <p:sp>
        <p:nvSpPr>
          <p:cNvPr name="TextBox 3" id="3"/>
          <p:cNvSpPr txBox="true"/>
          <p:nvPr/>
        </p:nvSpPr>
        <p:spPr>
          <a:xfrm rot="0">
            <a:off x="2659122" y="4967225"/>
            <a:ext cx="12189117" cy="1047750"/>
          </a:xfrm>
          <a:prstGeom prst="rect">
            <a:avLst/>
          </a:prstGeom>
        </p:spPr>
        <p:txBody>
          <a:bodyPr anchor="t" rtlCol="false" tIns="0" lIns="0" bIns="0" rIns="0">
            <a:spAutoFit/>
          </a:bodyPr>
          <a:lstStyle/>
          <a:p>
            <a:pPr algn="ctr">
              <a:lnSpc>
                <a:spcPts val="4200"/>
              </a:lnSpc>
            </a:pPr>
            <a:r>
              <a:rPr lang="en-US" sz="3000" b="true">
                <a:solidFill>
                  <a:srgbClr val="813DF9"/>
                </a:solidFill>
                <a:latin typeface="Open Sans Bold"/>
                <a:ea typeface="Open Sans Bold"/>
                <a:cs typeface="Open Sans Bold"/>
                <a:sym typeface="Open Sans Bold"/>
              </a:rPr>
              <a:t>Sp</a:t>
            </a:r>
            <a:r>
              <a:rPr lang="en-US" b="true" sz="3000">
                <a:solidFill>
                  <a:srgbClr val="813DF9"/>
                </a:solidFill>
                <a:latin typeface="Open Sans Bold"/>
                <a:ea typeface="Open Sans Bold"/>
                <a:cs typeface="Open Sans Bold"/>
                <a:sym typeface="Open Sans Bold"/>
              </a:rPr>
              <a:t>rint 3 </a:t>
            </a:r>
          </a:p>
          <a:p>
            <a:pPr algn="ctr">
              <a:lnSpc>
                <a:spcPts val="4200"/>
              </a:lnSpc>
            </a:pPr>
            <a:r>
              <a:rPr lang="en-US" b="true" sz="3000">
                <a:solidFill>
                  <a:srgbClr val="000000"/>
                </a:solidFill>
                <a:latin typeface="Open Sans Bold"/>
                <a:ea typeface="Open Sans Bold"/>
                <a:cs typeface="Open Sans Bold"/>
                <a:sym typeface="Open Sans Bold"/>
              </a:rPr>
              <a:t>‘’Motor de Inteligencia Financiera en FastAPI (S11 – S13)’’</a:t>
            </a:r>
          </a:p>
        </p:txBody>
      </p:sp>
      <p:grpSp>
        <p:nvGrpSpPr>
          <p:cNvPr name="Group 4" id="4"/>
          <p:cNvGrpSpPr/>
          <p:nvPr/>
        </p:nvGrpSpPr>
        <p:grpSpPr>
          <a:xfrm rot="0">
            <a:off x="1485691" y="2947324"/>
            <a:ext cx="4273644" cy="1429449"/>
            <a:chOff x="0" y="0"/>
            <a:chExt cx="1125569" cy="376480"/>
          </a:xfrm>
        </p:grpSpPr>
        <p:sp>
          <p:nvSpPr>
            <p:cNvPr name="Freeform 5" id="5"/>
            <p:cNvSpPr/>
            <p:nvPr/>
          </p:nvSpPr>
          <p:spPr>
            <a:xfrm flipH="false" flipV="false" rot="0">
              <a:off x="0" y="0"/>
              <a:ext cx="1125569" cy="376480"/>
            </a:xfrm>
            <a:custGeom>
              <a:avLst/>
              <a:gdLst/>
              <a:ahLst/>
              <a:cxnLst/>
              <a:rect r="r" b="b" t="t" l="l"/>
              <a:pathLst>
                <a:path h="376480" w="1125569">
                  <a:moveTo>
                    <a:pt x="92389" y="0"/>
                  </a:moveTo>
                  <a:lnTo>
                    <a:pt x="1033180" y="0"/>
                  </a:lnTo>
                  <a:cubicBezTo>
                    <a:pt x="1084205" y="0"/>
                    <a:pt x="1125569" y="41364"/>
                    <a:pt x="1125569" y="92389"/>
                  </a:cubicBezTo>
                  <a:lnTo>
                    <a:pt x="1125569" y="284091"/>
                  </a:lnTo>
                  <a:cubicBezTo>
                    <a:pt x="1125569" y="308594"/>
                    <a:pt x="1115835" y="332094"/>
                    <a:pt x="1098509" y="349420"/>
                  </a:cubicBezTo>
                  <a:cubicBezTo>
                    <a:pt x="1081182" y="366747"/>
                    <a:pt x="1057683" y="376480"/>
                    <a:pt x="1033180" y="376480"/>
                  </a:cubicBezTo>
                  <a:lnTo>
                    <a:pt x="92389" y="376480"/>
                  </a:lnTo>
                  <a:cubicBezTo>
                    <a:pt x="67886" y="376480"/>
                    <a:pt x="44386" y="366747"/>
                    <a:pt x="27060" y="349420"/>
                  </a:cubicBezTo>
                  <a:cubicBezTo>
                    <a:pt x="9734" y="332094"/>
                    <a:pt x="0" y="308594"/>
                    <a:pt x="0" y="284091"/>
                  </a:cubicBezTo>
                  <a:lnTo>
                    <a:pt x="0" y="92389"/>
                  </a:lnTo>
                  <a:cubicBezTo>
                    <a:pt x="0" y="67886"/>
                    <a:pt x="9734" y="44386"/>
                    <a:pt x="27060" y="27060"/>
                  </a:cubicBezTo>
                  <a:cubicBezTo>
                    <a:pt x="44386" y="9734"/>
                    <a:pt x="67886" y="0"/>
                    <a:pt x="92389" y="0"/>
                  </a:cubicBezTo>
                  <a:close/>
                </a:path>
              </a:pathLst>
            </a:custGeom>
            <a:solidFill>
              <a:srgbClr val="FFFFFF"/>
            </a:solidFill>
            <a:ln w="9525" cap="rnd">
              <a:solidFill>
                <a:srgbClr val="000000"/>
              </a:solidFill>
              <a:prstDash val="solid"/>
              <a:round/>
            </a:ln>
          </p:spPr>
        </p:sp>
        <p:sp>
          <p:nvSpPr>
            <p:cNvPr name="TextBox 6" id="6"/>
            <p:cNvSpPr txBox="true"/>
            <p:nvPr/>
          </p:nvSpPr>
          <p:spPr>
            <a:xfrm>
              <a:off x="0" y="-47625"/>
              <a:ext cx="1125569" cy="424105"/>
            </a:xfrm>
            <a:prstGeom prst="rect">
              <a:avLst/>
            </a:prstGeom>
          </p:spPr>
          <p:txBody>
            <a:bodyPr anchor="ctr" rtlCol="false" tIns="50800" lIns="50800" bIns="50800" rIns="50800"/>
            <a:lstStyle/>
            <a:p>
              <a:pPr algn="ctr">
                <a:lnSpc>
                  <a:spcPts val="3499"/>
                </a:lnSpc>
              </a:pPr>
              <a:r>
                <a:rPr lang="en-US" sz="2499">
                  <a:solidFill>
                    <a:srgbClr val="000000"/>
                  </a:solidFill>
                  <a:latin typeface="Open Sans"/>
                  <a:ea typeface="Open Sans"/>
                  <a:cs typeface="Open Sans"/>
                  <a:sym typeface="Open Sans"/>
                </a:rPr>
                <a:t>Desarrollo del módulo Agenda Financiera</a:t>
              </a:r>
            </a:p>
          </p:txBody>
        </p:sp>
      </p:grpSp>
      <p:grpSp>
        <p:nvGrpSpPr>
          <p:cNvPr name="Group 7" id="7"/>
          <p:cNvGrpSpPr/>
          <p:nvPr/>
        </p:nvGrpSpPr>
        <p:grpSpPr>
          <a:xfrm rot="0">
            <a:off x="1028700" y="6571649"/>
            <a:ext cx="3810000" cy="2143125"/>
            <a:chOff x="0" y="0"/>
            <a:chExt cx="1003457" cy="564444"/>
          </a:xfrm>
        </p:grpSpPr>
        <p:sp>
          <p:nvSpPr>
            <p:cNvPr name="Freeform 8" id="8"/>
            <p:cNvSpPr/>
            <p:nvPr/>
          </p:nvSpPr>
          <p:spPr>
            <a:xfrm flipH="false" flipV="false" rot="0">
              <a:off x="0" y="0"/>
              <a:ext cx="1003457" cy="564444"/>
            </a:xfrm>
            <a:custGeom>
              <a:avLst/>
              <a:gdLst/>
              <a:ahLst/>
              <a:cxnLst/>
              <a:rect r="r" b="b" t="t" l="l"/>
              <a:pathLst>
                <a:path h="564444" w="1003457">
                  <a:moveTo>
                    <a:pt x="103632" y="0"/>
                  </a:moveTo>
                  <a:lnTo>
                    <a:pt x="899825" y="0"/>
                  </a:lnTo>
                  <a:cubicBezTo>
                    <a:pt x="957059" y="0"/>
                    <a:pt x="1003457" y="46398"/>
                    <a:pt x="1003457" y="103632"/>
                  </a:cubicBezTo>
                  <a:lnTo>
                    <a:pt x="1003457" y="460812"/>
                  </a:lnTo>
                  <a:cubicBezTo>
                    <a:pt x="1003457" y="488297"/>
                    <a:pt x="992538" y="514657"/>
                    <a:pt x="973104" y="534091"/>
                  </a:cubicBezTo>
                  <a:cubicBezTo>
                    <a:pt x="953669" y="553526"/>
                    <a:pt x="927310" y="564444"/>
                    <a:pt x="899825" y="564444"/>
                  </a:cubicBezTo>
                  <a:lnTo>
                    <a:pt x="103632" y="564444"/>
                  </a:lnTo>
                  <a:cubicBezTo>
                    <a:pt x="46398" y="564444"/>
                    <a:pt x="0" y="518047"/>
                    <a:pt x="0" y="460812"/>
                  </a:cubicBezTo>
                  <a:lnTo>
                    <a:pt x="0" y="103632"/>
                  </a:lnTo>
                  <a:cubicBezTo>
                    <a:pt x="0" y="46398"/>
                    <a:pt x="46398" y="0"/>
                    <a:pt x="103632" y="0"/>
                  </a:cubicBezTo>
                  <a:close/>
                </a:path>
              </a:pathLst>
            </a:custGeom>
            <a:solidFill>
              <a:srgbClr val="FFFFFF"/>
            </a:solidFill>
            <a:ln w="9525" cap="rnd">
              <a:solidFill>
                <a:srgbClr val="000000"/>
              </a:solidFill>
              <a:prstDash val="solid"/>
              <a:round/>
            </a:ln>
          </p:spPr>
        </p:sp>
        <p:sp>
          <p:nvSpPr>
            <p:cNvPr name="TextBox 9" id="9"/>
            <p:cNvSpPr txBox="true"/>
            <p:nvPr/>
          </p:nvSpPr>
          <p:spPr>
            <a:xfrm>
              <a:off x="0" y="-47625"/>
              <a:ext cx="1003457" cy="612069"/>
            </a:xfrm>
            <a:prstGeom prst="rect">
              <a:avLst/>
            </a:prstGeom>
          </p:spPr>
          <p:txBody>
            <a:bodyPr anchor="ctr" rtlCol="false" tIns="50800" lIns="50800" bIns="50800" rIns="50800"/>
            <a:lstStyle/>
            <a:p>
              <a:pPr algn="ctr">
                <a:lnSpc>
                  <a:spcPts val="3499"/>
                </a:lnSpc>
              </a:pPr>
              <a:r>
                <a:rPr lang="en-US" sz="2499">
                  <a:solidFill>
                    <a:srgbClr val="000000"/>
                  </a:solidFill>
                  <a:latin typeface="Open Sans"/>
                  <a:ea typeface="Open Sans"/>
                  <a:cs typeface="Open Sans"/>
                  <a:sym typeface="Open Sans"/>
                </a:rPr>
                <a:t>Configuración del microservicio Backend en Python (FastAPI).</a:t>
              </a:r>
            </a:p>
          </p:txBody>
        </p:sp>
      </p:grpSp>
      <p:grpSp>
        <p:nvGrpSpPr>
          <p:cNvPr name="Group 10" id="10"/>
          <p:cNvGrpSpPr/>
          <p:nvPr/>
        </p:nvGrpSpPr>
        <p:grpSpPr>
          <a:xfrm rot="0">
            <a:off x="6305705" y="2947324"/>
            <a:ext cx="5238750" cy="1429449"/>
            <a:chOff x="0" y="0"/>
            <a:chExt cx="1379753" cy="376480"/>
          </a:xfrm>
        </p:grpSpPr>
        <p:sp>
          <p:nvSpPr>
            <p:cNvPr name="Freeform 11" id="11"/>
            <p:cNvSpPr/>
            <p:nvPr/>
          </p:nvSpPr>
          <p:spPr>
            <a:xfrm flipH="false" flipV="false" rot="0">
              <a:off x="0" y="0"/>
              <a:ext cx="1379753" cy="376480"/>
            </a:xfrm>
            <a:custGeom>
              <a:avLst/>
              <a:gdLst/>
              <a:ahLst/>
              <a:cxnLst/>
              <a:rect r="r" b="b" t="t" l="l"/>
              <a:pathLst>
                <a:path h="376480" w="1379753">
                  <a:moveTo>
                    <a:pt x="75369" y="0"/>
                  </a:moveTo>
                  <a:lnTo>
                    <a:pt x="1304384" y="0"/>
                  </a:lnTo>
                  <a:cubicBezTo>
                    <a:pt x="1324373" y="0"/>
                    <a:pt x="1343544" y="7941"/>
                    <a:pt x="1357678" y="22075"/>
                  </a:cubicBezTo>
                  <a:cubicBezTo>
                    <a:pt x="1371812" y="36209"/>
                    <a:pt x="1379753" y="55380"/>
                    <a:pt x="1379753" y="75369"/>
                  </a:cubicBezTo>
                  <a:lnTo>
                    <a:pt x="1379753" y="301112"/>
                  </a:lnTo>
                  <a:cubicBezTo>
                    <a:pt x="1379753" y="321101"/>
                    <a:pt x="1371812" y="340271"/>
                    <a:pt x="1357678" y="354405"/>
                  </a:cubicBezTo>
                  <a:cubicBezTo>
                    <a:pt x="1343544" y="368540"/>
                    <a:pt x="1324373" y="376480"/>
                    <a:pt x="1304384" y="376480"/>
                  </a:cubicBezTo>
                  <a:lnTo>
                    <a:pt x="75369" y="376480"/>
                  </a:lnTo>
                  <a:cubicBezTo>
                    <a:pt x="55380" y="376480"/>
                    <a:pt x="36209" y="368540"/>
                    <a:pt x="22075" y="354405"/>
                  </a:cubicBezTo>
                  <a:cubicBezTo>
                    <a:pt x="7941" y="340271"/>
                    <a:pt x="0" y="321101"/>
                    <a:pt x="0" y="301112"/>
                  </a:cubicBezTo>
                  <a:lnTo>
                    <a:pt x="0" y="75369"/>
                  </a:lnTo>
                  <a:cubicBezTo>
                    <a:pt x="0" y="55380"/>
                    <a:pt x="7941" y="36209"/>
                    <a:pt x="22075" y="22075"/>
                  </a:cubicBezTo>
                  <a:cubicBezTo>
                    <a:pt x="36209" y="7941"/>
                    <a:pt x="55380" y="0"/>
                    <a:pt x="75369" y="0"/>
                  </a:cubicBezTo>
                  <a:close/>
                </a:path>
              </a:pathLst>
            </a:custGeom>
            <a:solidFill>
              <a:srgbClr val="FFFFFF"/>
            </a:solidFill>
            <a:ln w="9525" cap="rnd">
              <a:solidFill>
                <a:srgbClr val="000000"/>
              </a:solidFill>
              <a:prstDash val="solid"/>
              <a:round/>
            </a:ln>
          </p:spPr>
        </p:sp>
        <p:sp>
          <p:nvSpPr>
            <p:cNvPr name="TextBox 12" id="12"/>
            <p:cNvSpPr txBox="true"/>
            <p:nvPr/>
          </p:nvSpPr>
          <p:spPr>
            <a:xfrm>
              <a:off x="0" y="-47625"/>
              <a:ext cx="1379753" cy="424105"/>
            </a:xfrm>
            <a:prstGeom prst="rect">
              <a:avLst/>
            </a:prstGeom>
          </p:spPr>
          <p:txBody>
            <a:bodyPr anchor="ctr" rtlCol="false" tIns="50800" lIns="50800" bIns="50800" rIns="50800"/>
            <a:lstStyle/>
            <a:p>
              <a:pPr algn="ctr">
                <a:lnSpc>
                  <a:spcPts val="3499"/>
                </a:lnSpc>
              </a:pPr>
              <a:r>
                <a:rPr lang="en-US" sz="2499">
                  <a:solidFill>
                    <a:srgbClr val="000000"/>
                  </a:solidFill>
                  <a:latin typeface="Open Sans"/>
                  <a:ea typeface="Open Sans"/>
                  <a:cs typeface="Open Sans"/>
                  <a:sym typeface="Open Sans"/>
                </a:rPr>
                <a:t>Implementación del Dashboard</a:t>
              </a:r>
            </a:p>
          </p:txBody>
        </p:sp>
      </p:grpSp>
      <p:grpSp>
        <p:nvGrpSpPr>
          <p:cNvPr name="Group 13" id="13"/>
          <p:cNvGrpSpPr/>
          <p:nvPr/>
        </p:nvGrpSpPr>
        <p:grpSpPr>
          <a:xfrm rot="0">
            <a:off x="12087380" y="2947324"/>
            <a:ext cx="5171920" cy="1486501"/>
            <a:chOff x="0" y="0"/>
            <a:chExt cx="1362152" cy="391506"/>
          </a:xfrm>
        </p:grpSpPr>
        <p:sp>
          <p:nvSpPr>
            <p:cNvPr name="Freeform 14" id="14"/>
            <p:cNvSpPr/>
            <p:nvPr/>
          </p:nvSpPr>
          <p:spPr>
            <a:xfrm flipH="false" flipV="false" rot="0">
              <a:off x="0" y="0"/>
              <a:ext cx="1362152" cy="391506"/>
            </a:xfrm>
            <a:custGeom>
              <a:avLst/>
              <a:gdLst/>
              <a:ahLst/>
              <a:cxnLst/>
              <a:rect r="r" b="b" t="t" l="l"/>
              <a:pathLst>
                <a:path h="391506" w="1362152">
                  <a:moveTo>
                    <a:pt x="76343" y="0"/>
                  </a:moveTo>
                  <a:lnTo>
                    <a:pt x="1285809" y="0"/>
                  </a:lnTo>
                  <a:cubicBezTo>
                    <a:pt x="1306056" y="0"/>
                    <a:pt x="1325475" y="8043"/>
                    <a:pt x="1339791" y="22360"/>
                  </a:cubicBezTo>
                  <a:cubicBezTo>
                    <a:pt x="1354109" y="36677"/>
                    <a:pt x="1362152" y="56095"/>
                    <a:pt x="1362152" y="76343"/>
                  </a:cubicBezTo>
                  <a:lnTo>
                    <a:pt x="1362152" y="315164"/>
                  </a:lnTo>
                  <a:cubicBezTo>
                    <a:pt x="1362152" y="335411"/>
                    <a:pt x="1354109" y="354829"/>
                    <a:pt x="1339791" y="369146"/>
                  </a:cubicBezTo>
                  <a:cubicBezTo>
                    <a:pt x="1325475" y="383463"/>
                    <a:pt x="1306056" y="391506"/>
                    <a:pt x="1285809" y="391506"/>
                  </a:cubicBezTo>
                  <a:lnTo>
                    <a:pt x="76343" y="391506"/>
                  </a:lnTo>
                  <a:cubicBezTo>
                    <a:pt x="56095" y="391506"/>
                    <a:pt x="36677" y="383463"/>
                    <a:pt x="22360" y="369146"/>
                  </a:cubicBezTo>
                  <a:cubicBezTo>
                    <a:pt x="8043" y="354829"/>
                    <a:pt x="0" y="335411"/>
                    <a:pt x="0" y="315164"/>
                  </a:cubicBezTo>
                  <a:lnTo>
                    <a:pt x="0" y="76343"/>
                  </a:lnTo>
                  <a:cubicBezTo>
                    <a:pt x="0" y="56095"/>
                    <a:pt x="8043" y="36677"/>
                    <a:pt x="22360" y="22360"/>
                  </a:cubicBezTo>
                  <a:cubicBezTo>
                    <a:pt x="36677" y="8043"/>
                    <a:pt x="56095" y="0"/>
                    <a:pt x="76343" y="0"/>
                  </a:cubicBezTo>
                  <a:close/>
                </a:path>
              </a:pathLst>
            </a:custGeom>
            <a:solidFill>
              <a:srgbClr val="FFFFFF"/>
            </a:solidFill>
            <a:ln w="9525" cap="rnd">
              <a:solidFill>
                <a:srgbClr val="000000"/>
              </a:solidFill>
              <a:prstDash val="solid"/>
              <a:round/>
            </a:ln>
          </p:spPr>
        </p:sp>
        <p:sp>
          <p:nvSpPr>
            <p:cNvPr name="TextBox 15" id="15"/>
            <p:cNvSpPr txBox="true"/>
            <p:nvPr/>
          </p:nvSpPr>
          <p:spPr>
            <a:xfrm>
              <a:off x="0" y="-47625"/>
              <a:ext cx="1362152" cy="439131"/>
            </a:xfrm>
            <a:prstGeom prst="rect">
              <a:avLst/>
            </a:prstGeom>
          </p:spPr>
          <p:txBody>
            <a:bodyPr anchor="ctr" rtlCol="false" tIns="50800" lIns="50800" bIns="50800" rIns="50800"/>
            <a:lstStyle/>
            <a:p>
              <a:pPr algn="ctr">
                <a:lnSpc>
                  <a:spcPts val="3499"/>
                </a:lnSpc>
              </a:pPr>
              <a:r>
                <a:rPr lang="en-US" sz="2499">
                  <a:solidFill>
                    <a:srgbClr val="000000"/>
                  </a:solidFill>
                  <a:latin typeface="Open Sans"/>
                  <a:ea typeface="Open Sans"/>
                  <a:cs typeface="Open Sans"/>
                  <a:sym typeface="Open Sans"/>
                </a:rPr>
                <a:t>Configuración de Service Worker e integración del sistema de notificaciones Web Push API</a:t>
              </a:r>
            </a:p>
          </p:txBody>
        </p:sp>
      </p:grpSp>
      <p:grpSp>
        <p:nvGrpSpPr>
          <p:cNvPr name="Group 16" id="16"/>
          <p:cNvGrpSpPr/>
          <p:nvPr/>
        </p:nvGrpSpPr>
        <p:grpSpPr>
          <a:xfrm rot="0">
            <a:off x="5298216" y="6571649"/>
            <a:ext cx="3810000" cy="2362801"/>
            <a:chOff x="0" y="0"/>
            <a:chExt cx="1003457" cy="622302"/>
          </a:xfrm>
        </p:grpSpPr>
        <p:sp>
          <p:nvSpPr>
            <p:cNvPr name="Freeform 17" id="17"/>
            <p:cNvSpPr/>
            <p:nvPr/>
          </p:nvSpPr>
          <p:spPr>
            <a:xfrm flipH="false" flipV="false" rot="0">
              <a:off x="0" y="0"/>
              <a:ext cx="1003457" cy="622302"/>
            </a:xfrm>
            <a:custGeom>
              <a:avLst/>
              <a:gdLst/>
              <a:ahLst/>
              <a:cxnLst/>
              <a:rect r="r" b="b" t="t" l="l"/>
              <a:pathLst>
                <a:path h="622302" w="1003457">
                  <a:moveTo>
                    <a:pt x="103632" y="0"/>
                  </a:moveTo>
                  <a:lnTo>
                    <a:pt x="899825" y="0"/>
                  </a:lnTo>
                  <a:cubicBezTo>
                    <a:pt x="957059" y="0"/>
                    <a:pt x="1003457" y="46398"/>
                    <a:pt x="1003457" y="103632"/>
                  </a:cubicBezTo>
                  <a:lnTo>
                    <a:pt x="1003457" y="518670"/>
                  </a:lnTo>
                  <a:cubicBezTo>
                    <a:pt x="1003457" y="546154"/>
                    <a:pt x="992538" y="572514"/>
                    <a:pt x="973104" y="591948"/>
                  </a:cubicBezTo>
                  <a:cubicBezTo>
                    <a:pt x="953669" y="611383"/>
                    <a:pt x="927310" y="622302"/>
                    <a:pt x="899825" y="622302"/>
                  </a:cubicBezTo>
                  <a:lnTo>
                    <a:pt x="103632" y="622302"/>
                  </a:lnTo>
                  <a:cubicBezTo>
                    <a:pt x="76147" y="622302"/>
                    <a:pt x="49788" y="611383"/>
                    <a:pt x="30353" y="591948"/>
                  </a:cubicBezTo>
                  <a:cubicBezTo>
                    <a:pt x="10918" y="572514"/>
                    <a:pt x="0" y="546154"/>
                    <a:pt x="0" y="518670"/>
                  </a:cubicBezTo>
                  <a:lnTo>
                    <a:pt x="0" y="103632"/>
                  </a:lnTo>
                  <a:cubicBezTo>
                    <a:pt x="0" y="46398"/>
                    <a:pt x="46398" y="0"/>
                    <a:pt x="103632" y="0"/>
                  </a:cubicBezTo>
                  <a:close/>
                </a:path>
              </a:pathLst>
            </a:custGeom>
            <a:solidFill>
              <a:srgbClr val="FFFFFF"/>
            </a:solidFill>
            <a:ln w="9525" cap="rnd">
              <a:solidFill>
                <a:srgbClr val="000000"/>
              </a:solidFill>
              <a:prstDash val="solid"/>
              <a:round/>
            </a:ln>
          </p:spPr>
        </p:sp>
        <p:sp>
          <p:nvSpPr>
            <p:cNvPr name="TextBox 18" id="18"/>
            <p:cNvSpPr txBox="true"/>
            <p:nvPr/>
          </p:nvSpPr>
          <p:spPr>
            <a:xfrm>
              <a:off x="0" y="-47625"/>
              <a:ext cx="1003457" cy="669927"/>
            </a:xfrm>
            <a:prstGeom prst="rect">
              <a:avLst/>
            </a:prstGeom>
          </p:spPr>
          <p:txBody>
            <a:bodyPr anchor="ctr" rtlCol="false" tIns="50800" lIns="50800" bIns="50800" rIns="50800"/>
            <a:lstStyle/>
            <a:p>
              <a:pPr algn="ctr">
                <a:lnSpc>
                  <a:spcPts val="3499"/>
                </a:lnSpc>
              </a:pPr>
              <a:r>
                <a:rPr lang="en-US" sz="2499">
                  <a:solidFill>
                    <a:srgbClr val="000000"/>
                  </a:solidFill>
                  <a:latin typeface="Open Sans"/>
                  <a:ea typeface="Open Sans"/>
                  <a:cs typeface="Open Sans"/>
                  <a:sym typeface="Open Sans"/>
                </a:rPr>
                <a:t>Entrenamiento e integración del Modelo de Salud Financiera (evaluación de hábitos económicos).</a:t>
              </a:r>
            </a:p>
          </p:txBody>
        </p:sp>
      </p:grpSp>
      <p:grpSp>
        <p:nvGrpSpPr>
          <p:cNvPr name="Group 19" id="19"/>
          <p:cNvGrpSpPr/>
          <p:nvPr/>
        </p:nvGrpSpPr>
        <p:grpSpPr>
          <a:xfrm rot="0">
            <a:off x="9565416" y="6571649"/>
            <a:ext cx="3990957" cy="2362801"/>
            <a:chOff x="0" y="0"/>
            <a:chExt cx="1051116" cy="622302"/>
          </a:xfrm>
        </p:grpSpPr>
        <p:sp>
          <p:nvSpPr>
            <p:cNvPr name="Freeform 20" id="20"/>
            <p:cNvSpPr/>
            <p:nvPr/>
          </p:nvSpPr>
          <p:spPr>
            <a:xfrm flipH="false" flipV="false" rot="0">
              <a:off x="0" y="0"/>
              <a:ext cx="1051116" cy="622302"/>
            </a:xfrm>
            <a:custGeom>
              <a:avLst/>
              <a:gdLst/>
              <a:ahLst/>
              <a:cxnLst/>
              <a:rect r="r" b="b" t="t" l="l"/>
              <a:pathLst>
                <a:path h="622302" w="1051116">
                  <a:moveTo>
                    <a:pt x="98933" y="0"/>
                  </a:moveTo>
                  <a:lnTo>
                    <a:pt x="952183" y="0"/>
                  </a:lnTo>
                  <a:cubicBezTo>
                    <a:pt x="1006822" y="0"/>
                    <a:pt x="1051116" y="44294"/>
                    <a:pt x="1051116" y="98933"/>
                  </a:cubicBezTo>
                  <a:lnTo>
                    <a:pt x="1051116" y="523368"/>
                  </a:lnTo>
                  <a:cubicBezTo>
                    <a:pt x="1051116" y="578008"/>
                    <a:pt x="1006822" y="622302"/>
                    <a:pt x="952183" y="622302"/>
                  </a:cubicBezTo>
                  <a:lnTo>
                    <a:pt x="98933" y="622302"/>
                  </a:lnTo>
                  <a:cubicBezTo>
                    <a:pt x="44294" y="622302"/>
                    <a:pt x="0" y="578008"/>
                    <a:pt x="0" y="523368"/>
                  </a:cubicBezTo>
                  <a:lnTo>
                    <a:pt x="0" y="98933"/>
                  </a:lnTo>
                  <a:cubicBezTo>
                    <a:pt x="0" y="44294"/>
                    <a:pt x="44294" y="0"/>
                    <a:pt x="98933" y="0"/>
                  </a:cubicBezTo>
                  <a:close/>
                </a:path>
              </a:pathLst>
            </a:custGeom>
            <a:solidFill>
              <a:srgbClr val="FFFFFF"/>
            </a:solidFill>
            <a:ln w="9525" cap="rnd">
              <a:solidFill>
                <a:srgbClr val="000000"/>
              </a:solidFill>
              <a:prstDash val="solid"/>
              <a:round/>
            </a:ln>
          </p:spPr>
        </p:sp>
        <p:sp>
          <p:nvSpPr>
            <p:cNvPr name="TextBox 21" id="21"/>
            <p:cNvSpPr txBox="true"/>
            <p:nvPr/>
          </p:nvSpPr>
          <p:spPr>
            <a:xfrm>
              <a:off x="0" y="-47625"/>
              <a:ext cx="1051116" cy="669927"/>
            </a:xfrm>
            <a:prstGeom prst="rect">
              <a:avLst/>
            </a:prstGeom>
          </p:spPr>
          <p:txBody>
            <a:bodyPr anchor="ctr" rtlCol="false" tIns="50800" lIns="50800" bIns="50800" rIns="50800"/>
            <a:lstStyle/>
            <a:p>
              <a:pPr algn="ctr">
                <a:lnSpc>
                  <a:spcPts val="3499"/>
                </a:lnSpc>
              </a:pPr>
              <a:r>
                <a:rPr lang="en-US" sz="2499">
                  <a:solidFill>
                    <a:srgbClr val="000000"/>
                  </a:solidFill>
                  <a:latin typeface="Open Sans"/>
                  <a:ea typeface="Open Sans"/>
                  <a:cs typeface="Open Sans"/>
                  <a:sym typeface="Open Sans"/>
                </a:rPr>
                <a:t>Entrenamiento e integración del Modelo de Detección de Anomalías (alertas por sobregasto y proyección a $0).</a:t>
              </a:r>
            </a:p>
          </p:txBody>
        </p:sp>
      </p:grpSp>
      <p:grpSp>
        <p:nvGrpSpPr>
          <p:cNvPr name="Group 22" id="22"/>
          <p:cNvGrpSpPr/>
          <p:nvPr/>
        </p:nvGrpSpPr>
        <p:grpSpPr>
          <a:xfrm rot="0">
            <a:off x="14013574" y="6571649"/>
            <a:ext cx="3477184" cy="2143125"/>
            <a:chOff x="0" y="0"/>
            <a:chExt cx="915802" cy="564444"/>
          </a:xfrm>
        </p:grpSpPr>
        <p:sp>
          <p:nvSpPr>
            <p:cNvPr name="Freeform 23" id="23"/>
            <p:cNvSpPr/>
            <p:nvPr/>
          </p:nvSpPr>
          <p:spPr>
            <a:xfrm flipH="false" flipV="false" rot="0">
              <a:off x="0" y="0"/>
              <a:ext cx="915802" cy="564444"/>
            </a:xfrm>
            <a:custGeom>
              <a:avLst/>
              <a:gdLst/>
              <a:ahLst/>
              <a:cxnLst/>
              <a:rect r="r" b="b" t="t" l="l"/>
              <a:pathLst>
                <a:path h="564444" w="915802">
                  <a:moveTo>
                    <a:pt x="113551" y="0"/>
                  </a:moveTo>
                  <a:lnTo>
                    <a:pt x="802250" y="0"/>
                  </a:lnTo>
                  <a:cubicBezTo>
                    <a:pt x="864963" y="0"/>
                    <a:pt x="915802" y="50839"/>
                    <a:pt x="915802" y="113551"/>
                  </a:cubicBezTo>
                  <a:lnTo>
                    <a:pt x="915802" y="450893"/>
                  </a:lnTo>
                  <a:cubicBezTo>
                    <a:pt x="915802" y="513606"/>
                    <a:pt x="864963" y="564444"/>
                    <a:pt x="802250" y="564444"/>
                  </a:cubicBezTo>
                  <a:lnTo>
                    <a:pt x="113551" y="564444"/>
                  </a:lnTo>
                  <a:cubicBezTo>
                    <a:pt x="50839" y="564444"/>
                    <a:pt x="0" y="513606"/>
                    <a:pt x="0" y="450893"/>
                  </a:cubicBezTo>
                  <a:lnTo>
                    <a:pt x="0" y="113551"/>
                  </a:lnTo>
                  <a:cubicBezTo>
                    <a:pt x="0" y="50839"/>
                    <a:pt x="50839" y="0"/>
                    <a:pt x="113551" y="0"/>
                  </a:cubicBezTo>
                  <a:close/>
                </a:path>
              </a:pathLst>
            </a:custGeom>
            <a:solidFill>
              <a:srgbClr val="FFFFFF"/>
            </a:solidFill>
            <a:ln w="9525" cap="rnd">
              <a:solidFill>
                <a:srgbClr val="000000"/>
              </a:solidFill>
              <a:prstDash val="solid"/>
              <a:round/>
            </a:ln>
          </p:spPr>
        </p:sp>
        <p:sp>
          <p:nvSpPr>
            <p:cNvPr name="TextBox 24" id="24"/>
            <p:cNvSpPr txBox="true"/>
            <p:nvPr/>
          </p:nvSpPr>
          <p:spPr>
            <a:xfrm>
              <a:off x="0" y="-47625"/>
              <a:ext cx="915802" cy="612069"/>
            </a:xfrm>
            <a:prstGeom prst="rect">
              <a:avLst/>
            </a:prstGeom>
          </p:spPr>
          <p:txBody>
            <a:bodyPr anchor="ctr" rtlCol="false" tIns="50800" lIns="50800" bIns="50800" rIns="50800"/>
            <a:lstStyle/>
            <a:p>
              <a:pPr algn="ctr">
                <a:lnSpc>
                  <a:spcPts val="3499"/>
                </a:lnSpc>
              </a:pPr>
              <a:r>
                <a:rPr lang="en-US" sz="2499">
                  <a:solidFill>
                    <a:srgbClr val="000000"/>
                  </a:solidFill>
                  <a:latin typeface="Open Sans"/>
                  <a:ea typeface="Open Sans"/>
                  <a:cs typeface="Open Sans"/>
                  <a:sym typeface="Open Sans"/>
                </a:rPr>
                <a:t>Conexión de endpoints de IA con el Dashboard del cliente.</a:t>
              </a:r>
            </a:p>
          </p:txBody>
        </p:sp>
      </p:grpSp>
      <p:sp>
        <p:nvSpPr>
          <p:cNvPr name="TextBox 25" id="25"/>
          <p:cNvSpPr txBox="true"/>
          <p:nvPr/>
        </p:nvSpPr>
        <p:spPr>
          <a:xfrm rot="0">
            <a:off x="13561425" y="444885"/>
            <a:ext cx="4634113" cy="514350"/>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7C3AED"/>
                </a:solidFill>
                <a:latin typeface="Open Sans Bold"/>
                <a:ea typeface="Open Sans Bold"/>
                <a:cs typeface="Open Sans Bold"/>
                <a:sym typeface="Open Sans Bold"/>
              </a:rPr>
              <a:t>13 </a:t>
            </a:r>
            <a:r>
              <a:rPr lang="en-US" b="true" sz="3000" strike="noStrike" u="none">
                <a:solidFill>
                  <a:srgbClr val="7C3AED"/>
                </a:solidFill>
                <a:latin typeface="Open Sans Bold"/>
                <a:ea typeface="Open Sans Bold"/>
                <a:cs typeface="Open Sans Bold"/>
                <a:sym typeface="Open Sans Bold"/>
              </a:rPr>
              <a:t>Definición de Sprints</a:t>
            </a:r>
          </a:p>
        </p:txBody>
      </p:sp>
      <p:sp>
        <p:nvSpPr>
          <p:cNvPr name="AutoShape 26" id="26"/>
          <p:cNvSpPr/>
          <p:nvPr/>
        </p:nvSpPr>
        <p:spPr>
          <a:xfrm>
            <a:off x="-4622398" y="740160"/>
            <a:ext cx="18098098" cy="0"/>
          </a:xfrm>
          <a:prstGeom prst="line">
            <a:avLst/>
          </a:prstGeom>
          <a:ln cap="flat" w="19050">
            <a:solidFill>
              <a:srgbClr val="000000"/>
            </a:solidFill>
            <a:prstDash val="solid"/>
            <a:headEnd type="none" len="sm" w="sm"/>
            <a:tailEnd type="none" len="sm" w="sm"/>
          </a:ln>
        </p:spPr>
      </p:sp>
    </p:spTree>
  </p:cSld>
  <p:clrMapOvr>
    <a:masterClrMapping/>
  </p:clrMapOvr>
  <p:transition spd="fast">
    <p:cover dir="l"/>
  </p:transition>
</p:sld>
</file>

<file path=ppt/slides/slide19.xml><?xml version="1.0" encoding="utf-8"?>
<p:sld xmlns:p="http://schemas.openxmlformats.org/presentationml/2006/main" xmlns:a="http://schemas.openxmlformats.org/drawingml/2006/main">
  <p:cSld>
    <p:bg>
      <p:bgPr>
        <a:solidFill>
          <a:srgbClr val="F2F2F7"/>
        </a:solidFill>
      </p:bgPr>
    </p:bg>
    <p:spTree>
      <p:nvGrpSpPr>
        <p:cNvPr id="1" name=""/>
        <p:cNvGrpSpPr/>
        <p:nvPr/>
      </p:nvGrpSpPr>
      <p:grpSpPr>
        <a:xfrm>
          <a:off x="0" y="0"/>
          <a:ext cx="0" cy="0"/>
          <a:chOff x="0" y="0"/>
          <a:chExt cx="0" cy="0"/>
        </a:xfrm>
      </p:grpSpPr>
      <p:sp>
        <p:nvSpPr>
          <p:cNvPr name="TextBox 2" id="2"/>
          <p:cNvSpPr txBox="true"/>
          <p:nvPr/>
        </p:nvSpPr>
        <p:spPr>
          <a:xfrm rot="0">
            <a:off x="4359250" y="3619711"/>
            <a:ext cx="9569500" cy="1047750"/>
          </a:xfrm>
          <a:prstGeom prst="rect">
            <a:avLst/>
          </a:prstGeom>
        </p:spPr>
        <p:txBody>
          <a:bodyPr anchor="t" rtlCol="false" tIns="0" lIns="0" bIns="0" rIns="0">
            <a:spAutoFit/>
          </a:bodyPr>
          <a:lstStyle/>
          <a:p>
            <a:pPr algn="ctr">
              <a:lnSpc>
                <a:spcPts val="4200"/>
              </a:lnSpc>
            </a:pPr>
            <a:r>
              <a:rPr lang="en-US" sz="3000" b="true">
                <a:solidFill>
                  <a:srgbClr val="813DF9"/>
                </a:solidFill>
                <a:latin typeface="Open Sans Bold"/>
                <a:ea typeface="Open Sans Bold"/>
                <a:cs typeface="Open Sans Bold"/>
                <a:sym typeface="Open Sans Bold"/>
              </a:rPr>
              <a:t>Sprint 4</a:t>
            </a:r>
            <a:r>
              <a:rPr lang="en-US" sz="3000">
                <a:solidFill>
                  <a:srgbClr val="FFFFFF"/>
                </a:solidFill>
                <a:latin typeface="Open Sans"/>
                <a:ea typeface="Open Sans"/>
                <a:cs typeface="Open Sans"/>
                <a:sym typeface="Open Sans"/>
              </a:rPr>
              <a:t> </a:t>
            </a:r>
          </a:p>
          <a:p>
            <a:pPr algn="ctr">
              <a:lnSpc>
                <a:spcPts val="4200"/>
              </a:lnSpc>
            </a:pPr>
            <a:r>
              <a:rPr lang="en-US" sz="3000" b="true">
                <a:solidFill>
                  <a:srgbClr val="000000"/>
                </a:solidFill>
                <a:latin typeface="Open Sans Bold"/>
                <a:ea typeface="Open Sans Bold"/>
                <a:cs typeface="Open Sans Bold"/>
                <a:sym typeface="Open Sans Bold"/>
              </a:rPr>
              <a:t>Optimización BD, Q</a:t>
            </a:r>
            <a:r>
              <a:rPr lang="en-US" b="true" sz="3000">
                <a:solidFill>
                  <a:srgbClr val="000000"/>
                </a:solidFill>
                <a:latin typeface="Open Sans Bold"/>
                <a:ea typeface="Open Sans Bold"/>
                <a:cs typeface="Open Sans Bold"/>
                <a:sym typeface="Open Sans Bold"/>
              </a:rPr>
              <a:t>A &amp; Despliegue Final (S14 – S15)</a:t>
            </a:r>
          </a:p>
        </p:txBody>
      </p:sp>
      <p:grpSp>
        <p:nvGrpSpPr>
          <p:cNvPr name="Group 3" id="3"/>
          <p:cNvGrpSpPr/>
          <p:nvPr/>
        </p:nvGrpSpPr>
        <p:grpSpPr>
          <a:xfrm rot="0">
            <a:off x="12666544" y="5362063"/>
            <a:ext cx="4153006" cy="1428750"/>
            <a:chOff x="0" y="0"/>
            <a:chExt cx="1093796" cy="376296"/>
          </a:xfrm>
        </p:grpSpPr>
        <p:sp>
          <p:nvSpPr>
            <p:cNvPr name="Freeform 4" id="4"/>
            <p:cNvSpPr/>
            <p:nvPr/>
          </p:nvSpPr>
          <p:spPr>
            <a:xfrm flipH="false" flipV="false" rot="0">
              <a:off x="0" y="0"/>
              <a:ext cx="1093796" cy="376296"/>
            </a:xfrm>
            <a:custGeom>
              <a:avLst/>
              <a:gdLst/>
              <a:ahLst/>
              <a:cxnLst/>
              <a:rect r="r" b="b" t="t" l="l"/>
              <a:pathLst>
                <a:path h="376296" w="1093796">
                  <a:moveTo>
                    <a:pt x="95073" y="0"/>
                  </a:moveTo>
                  <a:lnTo>
                    <a:pt x="998723" y="0"/>
                  </a:lnTo>
                  <a:cubicBezTo>
                    <a:pt x="1023938" y="0"/>
                    <a:pt x="1048120" y="10017"/>
                    <a:pt x="1065950" y="27846"/>
                  </a:cubicBezTo>
                  <a:cubicBezTo>
                    <a:pt x="1083779" y="45676"/>
                    <a:pt x="1093796" y="69858"/>
                    <a:pt x="1093796" y="95073"/>
                  </a:cubicBezTo>
                  <a:lnTo>
                    <a:pt x="1093796" y="281223"/>
                  </a:lnTo>
                  <a:cubicBezTo>
                    <a:pt x="1093796" y="306438"/>
                    <a:pt x="1083779" y="330620"/>
                    <a:pt x="1065950" y="348450"/>
                  </a:cubicBezTo>
                  <a:cubicBezTo>
                    <a:pt x="1048120" y="366280"/>
                    <a:pt x="1023938" y="376296"/>
                    <a:pt x="998723" y="376296"/>
                  </a:cubicBezTo>
                  <a:lnTo>
                    <a:pt x="95073" y="376296"/>
                  </a:lnTo>
                  <a:cubicBezTo>
                    <a:pt x="69858" y="376296"/>
                    <a:pt x="45676" y="366280"/>
                    <a:pt x="27846" y="348450"/>
                  </a:cubicBezTo>
                  <a:cubicBezTo>
                    <a:pt x="10017" y="330620"/>
                    <a:pt x="0" y="306438"/>
                    <a:pt x="0" y="281223"/>
                  </a:cubicBezTo>
                  <a:lnTo>
                    <a:pt x="0" y="95073"/>
                  </a:lnTo>
                  <a:cubicBezTo>
                    <a:pt x="0" y="69858"/>
                    <a:pt x="10017" y="45676"/>
                    <a:pt x="27846" y="27846"/>
                  </a:cubicBezTo>
                  <a:cubicBezTo>
                    <a:pt x="45676" y="10017"/>
                    <a:pt x="69858" y="0"/>
                    <a:pt x="95073" y="0"/>
                  </a:cubicBezTo>
                  <a:close/>
                </a:path>
              </a:pathLst>
            </a:custGeom>
            <a:solidFill>
              <a:srgbClr val="FFFFFF"/>
            </a:solidFill>
            <a:ln w="9525" cap="rnd">
              <a:solidFill>
                <a:srgbClr val="000000"/>
              </a:solidFill>
              <a:prstDash val="solid"/>
              <a:round/>
            </a:ln>
          </p:spPr>
        </p:sp>
        <p:sp>
          <p:nvSpPr>
            <p:cNvPr name="TextBox 5" id="5"/>
            <p:cNvSpPr txBox="true"/>
            <p:nvPr/>
          </p:nvSpPr>
          <p:spPr>
            <a:xfrm>
              <a:off x="0" y="-47625"/>
              <a:ext cx="1093796" cy="423921"/>
            </a:xfrm>
            <a:prstGeom prst="rect">
              <a:avLst/>
            </a:prstGeom>
          </p:spPr>
          <p:txBody>
            <a:bodyPr anchor="ctr" rtlCol="false" tIns="50800" lIns="50800" bIns="50800" rIns="50800"/>
            <a:lstStyle/>
            <a:p>
              <a:pPr algn="ctr">
                <a:lnSpc>
                  <a:spcPts val="3499"/>
                </a:lnSpc>
              </a:pPr>
              <a:r>
                <a:rPr lang="en-US" sz="2499">
                  <a:solidFill>
                    <a:srgbClr val="000000"/>
                  </a:solidFill>
                  <a:latin typeface="Open Sans"/>
                  <a:ea typeface="Open Sans"/>
                  <a:cs typeface="Open Sans"/>
                  <a:sym typeface="Open Sans"/>
                </a:rPr>
                <a:t>Despliegue final a Producción</a:t>
              </a:r>
            </a:p>
          </p:txBody>
        </p:sp>
      </p:grpSp>
      <p:grpSp>
        <p:nvGrpSpPr>
          <p:cNvPr name="Group 6" id="6"/>
          <p:cNvGrpSpPr/>
          <p:nvPr/>
        </p:nvGrpSpPr>
        <p:grpSpPr>
          <a:xfrm rot="0">
            <a:off x="1468450" y="5362063"/>
            <a:ext cx="4876835" cy="1486501"/>
            <a:chOff x="0" y="0"/>
            <a:chExt cx="1284434" cy="391506"/>
          </a:xfrm>
        </p:grpSpPr>
        <p:sp>
          <p:nvSpPr>
            <p:cNvPr name="Freeform 7" id="7"/>
            <p:cNvSpPr/>
            <p:nvPr/>
          </p:nvSpPr>
          <p:spPr>
            <a:xfrm flipH="false" flipV="false" rot="0">
              <a:off x="0" y="0"/>
              <a:ext cx="1284434" cy="391506"/>
            </a:xfrm>
            <a:custGeom>
              <a:avLst/>
              <a:gdLst/>
              <a:ahLst/>
              <a:cxnLst/>
              <a:rect r="r" b="b" t="t" l="l"/>
              <a:pathLst>
                <a:path h="391506" w="1284434">
                  <a:moveTo>
                    <a:pt x="80962" y="0"/>
                  </a:moveTo>
                  <a:lnTo>
                    <a:pt x="1203472" y="0"/>
                  </a:lnTo>
                  <a:cubicBezTo>
                    <a:pt x="1248186" y="0"/>
                    <a:pt x="1284434" y="36248"/>
                    <a:pt x="1284434" y="80962"/>
                  </a:cubicBezTo>
                  <a:lnTo>
                    <a:pt x="1284434" y="310545"/>
                  </a:lnTo>
                  <a:cubicBezTo>
                    <a:pt x="1284434" y="355259"/>
                    <a:pt x="1248186" y="391506"/>
                    <a:pt x="1203472" y="391506"/>
                  </a:cubicBezTo>
                  <a:lnTo>
                    <a:pt x="80962" y="391506"/>
                  </a:lnTo>
                  <a:cubicBezTo>
                    <a:pt x="59489" y="391506"/>
                    <a:pt x="38896" y="382977"/>
                    <a:pt x="23713" y="367793"/>
                  </a:cubicBezTo>
                  <a:cubicBezTo>
                    <a:pt x="8530" y="352610"/>
                    <a:pt x="0" y="332017"/>
                    <a:pt x="0" y="310545"/>
                  </a:cubicBezTo>
                  <a:lnTo>
                    <a:pt x="0" y="80962"/>
                  </a:lnTo>
                  <a:cubicBezTo>
                    <a:pt x="0" y="36248"/>
                    <a:pt x="36248" y="0"/>
                    <a:pt x="80962" y="0"/>
                  </a:cubicBezTo>
                  <a:close/>
                </a:path>
              </a:pathLst>
            </a:custGeom>
            <a:solidFill>
              <a:srgbClr val="FFFFFF"/>
            </a:solidFill>
            <a:ln w="9525" cap="rnd">
              <a:solidFill>
                <a:srgbClr val="000000"/>
              </a:solidFill>
              <a:prstDash val="solid"/>
              <a:round/>
            </a:ln>
          </p:spPr>
        </p:sp>
        <p:sp>
          <p:nvSpPr>
            <p:cNvPr name="TextBox 8" id="8"/>
            <p:cNvSpPr txBox="true"/>
            <p:nvPr/>
          </p:nvSpPr>
          <p:spPr>
            <a:xfrm>
              <a:off x="0" y="-47625"/>
              <a:ext cx="1284434" cy="439131"/>
            </a:xfrm>
            <a:prstGeom prst="rect">
              <a:avLst/>
            </a:prstGeom>
          </p:spPr>
          <p:txBody>
            <a:bodyPr anchor="ctr" rtlCol="false" tIns="50800" lIns="50800" bIns="50800" rIns="50800"/>
            <a:lstStyle/>
            <a:p>
              <a:pPr algn="ctr">
                <a:lnSpc>
                  <a:spcPts val="3499"/>
                </a:lnSpc>
              </a:pPr>
              <a:r>
                <a:rPr lang="en-US" sz="2499">
                  <a:solidFill>
                    <a:srgbClr val="000000"/>
                  </a:solidFill>
                  <a:latin typeface="Open Sans"/>
                  <a:ea typeface="Open Sans"/>
                  <a:cs typeface="Open Sans"/>
                  <a:sym typeface="Open Sans"/>
                </a:rPr>
                <a:t>Optimización avanzada de la BD en Supabase: Connection Pooling e Índices estratégicos.</a:t>
              </a:r>
            </a:p>
          </p:txBody>
        </p:sp>
      </p:grpSp>
      <p:grpSp>
        <p:nvGrpSpPr>
          <p:cNvPr name="Group 9" id="9"/>
          <p:cNvGrpSpPr/>
          <p:nvPr/>
        </p:nvGrpSpPr>
        <p:grpSpPr>
          <a:xfrm rot="0">
            <a:off x="7065844" y="5362063"/>
            <a:ext cx="5238750" cy="1428750"/>
            <a:chOff x="0" y="0"/>
            <a:chExt cx="1379753" cy="376296"/>
          </a:xfrm>
        </p:grpSpPr>
        <p:sp>
          <p:nvSpPr>
            <p:cNvPr name="Freeform 10" id="10"/>
            <p:cNvSpPr/>
            <p:nvPr/>
          </p:nvSpPr>
          <p:spPr>
            <a:xfrm flipH="false" flipV="false" rot="0">
              <a:off x="0" y="0"/>
              <a:ext cx="1379753" cy="376296"/>
            </a:xfrm>
            <a:custGeom>
              <a:avLst/>
              <a:gdLst/>
              <a:ahLst/>
              <a:cxnLst/>
              <a:rect r="r" b="b" t="t" l="l"/>
              <a:pathLst>
                <a:path h="376296" w="1379753">
                  <a:moveTo>
                    <a:pt x="75369" y="0"/>
                  </a:moveTo>
                  <a:lnTo>
                    <a:pt x="1304384" y="0"/>
                  </a:lnTo>
                  <a:cubicBezTo>
                    <a:pt x="1324373" y="0"/>
                    <a:pt x="1343544" y="7941"/>
                    <a:pt x="1357678" y="22075"/>
                  </a:cubicBezTo>
                  <a:cubicBezTo>
                    <a:pt x="1371812" y="36209"/>
                    <a:pt x="1379753" y="55380"/>
                    <a:pt x="1379753" y="75369"/>
                  </a:cubicBezTo>
                  <a:lnTo>
                    <a:pt x="1379753" y="300928"/>
                  </a:lnTo>
                  <a:cubicBezTo>
                    <a:pt x="1379753" y="320917"/>
                    <a:pt x="1371812" y="340087"/>
                    <a:pt x="1357678" y="354221"/>
                  </a:cubicBezTo>
                  <a:cubicBezTo>
                    <a:pt x="1343544" y="368356"/>
                    <a:pt x="1324373" y="376296"/>
                    <a:pt x="1304384" y="376296"/>
                  </a:cubicBezTo>
                  <a:lnTo>
                    <a:pt x="75369" y="376296"/>
                  </a:lnTo>
                  <a:cubicBezTo>
                    <a:pt x="55380" y="376296"/>
                    <a:pt x="36209" y="368356"/>
                    <a:pt x="22075" y="354221"/>
                  </a:cubicBezTo>
                  <a:cubicBezTo>
                    <a:pt x="7941" y="340087"/>
                    <a:pt x="0" y="320917"/>
                    <a:pt x="0" y="300928"/>
                  </a:cubicBezTo>
                  <a:lnTo>
                    <a:pt x="0" y="75369"/>
                  </a:lnTo>
                  <a:cubicBezTo>
                    <a:pt x="0" y="55380"/>
                    <a:pt x="7941" y="36209"/>
                    <a:pt x="22075" y="22075"/>
                  </a:cubicBezTo>
                  <a:cubicBezTo>
                    <a:pt x="36209" y="7941"/>
                    <a:pt x="55380" y="0"/>
                    <a:pt x="75369" y="0"/>
                  </a:cubicBezTo>
                  <a:close/>
                </a:path>
              </a:pathLst>
            </a:custGeom>
            <a:solidFill>
              <a:srgbClr val="FFFFFF"/>
            </a:solidFill>
            <a:ln w="9525" cap="rnd">
              <a:solidFill>
                <a:srgbClr val="000000"/>
              </a:solidFill>
              <a:prstDash val="solid"/>
              <a:round/>
            </a:ln>
          </p:spPr>
        </p:sp>
        <p:sp>
          <p:nvSpPr>
            <p:cNvPr name="TextBox 11" id="11"/>
            <p:cNvSpPr txBox="true"/>
            <p:nvPr/>
          </p:nvSpPr>
          <p:spPr>
            <a:xfrm>
              <a:off x="0" y="-47625"/>
              <a:ext cx="1379753" cy="423921"/>
            </a:xfrm>
            <a:prstGeom prst="rect">
              <a:avLst/>
            </a:prstGeom>
          </p:spPr>
          <p:txBody>
            <a:bodyPr anchor="ctr" rtlCol="false" tIns="50800" lIns="50800" bIns="50800" rIns="50800"/>
            <a:lstStyle/>
            <a:p>
              <a:pPr algn="ctr">
                <a:lnSpc>
                  <a:spcPts val="3499"/>
                </a:lnSpc>
              </a:pPr>
              <a:r>
                <a:rPr lang="en-US" sz="2499">
                  <a:solidFill>
                    <a:srgbClr val="000000"/>
                  </a:solidFill>
                  <a:latin typeface="Open Sans"/>
                  <a:ea typeface="Open Sans"/>
                  <a:cs typeface="Open Sans"/>
                  <a:sym typeface="Open Sans"/>
                </a:rPr>
                <a:t>Pruebas de integración, QA y carga en entorno de Staging</a:t>
              </a:r>
            </a:p>
          </p:txBody>
        </p:sp>
      </p:grpSp>
      <p:sp>
        <p:nvSpPr>
          <p:cNvPr name="TextBox 12" id="12"/>
          <p:cNvSpPr txBox="true"/>
          <p:nvPr/>
        </p:nvSpPr>
        <p:spPr>
          <a:xfrm rot="0">
            <a:off x="13561425" y="444885"/>
            <a:ext cx="4634113" cy="514350"/>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7C3AED"/>
                </a:solidFill>
                <a:latin typeface="Open Sans Bold"/>
                <a:ea typeface="Open Sans Bold"/>
                <a:cs typeface="Open Sans Bold"/>
                <a:sym typeface="Open Sans Bold"/>
              </a:rPr>
              <a:t>13 </a:t>
            </a:r>
            <a:r>
              <a:rPr lang="en-US" b="true" sz="3000" strike="noStrike" u="none">
                <a:solidFill>
                  <a:srgbClr val="7C3AED"/>
                </a:solidFill>
                <a:latin typeface="Open Sans Bold"/>
                <a:ea typeface="Open Sans Bold"/>
                <a:cs typeface="Open Sans Bold"/>
                <a:sym typeface="Open Sans Bold"/>
              </a:rPr>
              <a:t>Definición de Sprints</a:t>
            </a:r>
          </a:p>
        </p:txBody>
      </p:sp>
      <p:sp>
        <p:nvSpPr>
          <p:cNvPr name="AutoShape 13" id="13"/>
          <p:cNvSpPr/>
          <p:nvPr/>
        </p:nvSpPr>
        <p:spPr>
          <a:xfrm>
            <a:off x="-4622398" y="740160"/>
            <a:ext cx="18098098" cy="0"/>
          </a:xfrm>
          <a:prstGeom prst="line">
            <a:avLst/>
          </a:prstGeom>
          <a:ln cap="flat" w="19050">
            <a:solidFill>
              <a:srgbClr val="000000"/>
            </a:solidFill>
            <a:prstDash val="solid"/>
            <a:headEnd type="none" len="sm" w="sm"/>
            <a:tailEnd type="none" len="sm" w="sm"/>
          </a:ln>
        </p:spPr>
      </p:sp>
    </p:spTree>
  </p:cSld>
  <p:clrMapOvr>
    <a:masterClrMapping/>
  </p:clrMapOvr>
  <p:transition spd="fast">
    <p:cover dir="l"/>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2F2F7"/>
        </a:solidFill>
      </p:bgPr>
    </p:bg>
    <p:spTree>
      <p:nvGrpSpPr>
        <p:cNvPr id="1" name=""/>
        <p:cNvGrpSpPr/>
        <p:nvPr/>
      </p:nvGrpSpPr>
      <p:grpSpPr>
        <a:xfrm>
          <a:off x="0" y="0"/>
          <a:ext cx="0" cy="0"/>
          <a:chOff x="0" y="0"/>
          <a:chExt cx="0" cy="0"/>
        </a:xfrm>
      </p:grpSpPr>
      <p:sp>
        <p:nvSpPr>
          <p:cNvPr name="Freeform 2" id="2"/>
          <p:cNvSpPr/>
          <p:nvPr/>
        </p:nvSpPr>
        <p:spPr>
          <a:xfrm flipH="false" flipV="false" rot="0">
            <a:off x="0" y="1710102"/>
            <a:ext cx="18288000" cy="7761767"/>
          </a:xfrm>
          <a:custGeom>
            <a:avLst/>
            <a:gdLst/>
            <a:ahLst/>
            <a:cxnLst/>
            <a:rect r="r" b="b" t="t" l="l"/>
            <a:pathLst>
              <a:path h="7761767" w="18288000">
                <a:moveTo>
                  <a:pt x="0" y="0"/>
                </a:moveTo>
                <a:lnTo>
                  <a:pt x="18288000" y="0"/>
                </a:lnTo>
                <a:lnTo>
                  <a:pt x="18288000" y="7761768"/>
                </a:lnTo>
                <a:lnTo>
                  <a:pt x="0" y="7761768"/>
                </a:lnTo>
                <a:lnTo>
                  <a:pt x="0" y="0"/>
                </a:lnTo>
                <a:close/>
              </a:path>
            </a:pathLst>
          </a:custGeom>
          <a:blipFill>
            <a:blip r:embed="rId2"/>
            <a:stretch>
              <a:fillRect l="0" t="0" r="0" b="0"/>
            </a:stretch>
          </a:blipFill>
        </p:spPr>
      </p:sp>
      <p:sp>
        <p:nvSpPr>
          <p:cNvPr name="TextBox 3" id="3"/>
          <p:cNvSpPr txBox="true"/>
          <p:nvPr/>
        </p:nvSpPr>
        <p:spPr>
          <a:xfrm rot="0">
            <a:off x="173000" y="514350"/>
            <a:ext cx="5358917" cy="514350"/>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7C3AED"/>
                </a:solidFill>
                <a:latin typeface="Open Sans Bold"/>
                <a:ea typeface="Open Sans Bold"/>
                <a:cs typeface="Open Sans Bold"/>
                <a:sym typeface="Open Sans Bold"/>
              </a:rPr>
              <a:t>14 </a:t>
            </a:r>
            <a:r>
              <a:rPr lang="en-US" b="true" sz="3000" strike="noStrike" u="none">
                <a:solidFill>
                  <a:srgbClr val="7C3AED"/>
                </a:solidFill>
                <a:latin typeface="Open Sans Bold"/>
                <a:ea typeface="Open Sans Bold"/>
                <a:cs typeface="Open Sans Bold"/>
                <a:sym typeface="Open Sans Bold"/>
              </a:rPr>
              <a:t>Cronograma: Carta Gantt</a:t>
            </a:r>
          </a:p>
        </p:txBody>
      </p:sp>
      <p:sp>
        <p:nvSpPr>
          <p:cNvPr name="AutoShape 4" id="4"/>
          <p:cNvSpPr/>
          <p:nvPr/>
        </p:nvSpPr>
        <p:spPr>
          <a:xfrm>
            <a:off x="5608117" y="809625"/>
            <a:ext cx="18098098" cy="0"/>
          </a:xfrm>
          <a:prstGeom prst="line">
            <a:avLst/>
          </a:prstGeom>
          <a:ln cap="flat" w="19050">
            <a:solidFill>
              <a:srgbClr val="000000"/>
            </a:solidFill>
            <a:prstDash val="solid"/>
            <a:headEnd type="none" len="sm" w="sm"/>
            <a:tailEnd type="none" len="sm" w="sm"/>
          </a:ln>
        </p:spPr>
      </p:sp>
    </p:spTree>
  </p:cSld>
  <p:clrMapOvr>
    <a:masterClrMapping/>
  </p:clrMapOvr>
  <p:transition spd="fast">
    <p:cover dir="l"/>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2F2F7"/>
        </a:solidFill>
      </p:bgPr>
    </p:bg>
    <p:spTree>
      <p:nvGrpSpPr>
        <p:cNvPr id="1" name=""/>
        <p:cNvGrpSpPr/>
        <p:nvPr/>
      </p:nvGrpSpPr>
      <p:grpSpPr>
        <a:xfrm>
          <a:off x="0" y="0"/>
          <a:ext cx="0" cy="0"/>
          <a:chOff x="0" y="0"/>
          <a:chExt cx="0" cy="0"/>
        </a:xfrm>
      </p:grpSpPr>
      <p:sp>
        <p:nvSpPr>
          <p:cNvPr name="AutoShape 2" id="2"/>
          <p:cNvSpPr/>
          <p:nvPr/>
        </p:nvSpPr>
        <p:spPr>
          <a:xfrm>
            <a:off x="-6642150" y="809625"/>
            <a:ext cx="18098098" cy="0"/>
          </a:xfrm>
          <a:prstGeom prst="line">
            <a:avLst/>
          </a:prstGeom>
          <a:ln cap="flat" w="19050">
            <a:solidFill>
              <a:srgbClr val="000000"/>
            </a:solidFill>
            <a:prstDash val="solid"/>
            <a:headEnd type="none" len="sm" w="sm"/>
            <a:tailEnd type="none" len="sm" w="sm"/>
          </a:ln>
        </p:spPr>
      </p:sp>
      <p:sp>
        <p:nvSpPr>
          <p:cNvPr name="Freeform 3" id="3"/>
          <p:cNvSpPr/>
          <p:nvPr/>
        </p:nvSpPr>
        <p:spPr>
          <a:xfrm flipH="false" flipV="false" rot="0">
            <a:off x="7626594" y="2021852"/>
            <a:ext cx="1728523" cy="483986"/>
          </a:xfrm>
          <a:custGeom>
            <a:avLst/>
            <a:gdLst/>
            <a:ahLst/>
            <a:cxnLst/>
            <a:rect r="r" b="b" t="t" l="l"/>
            <a:pathLst>
              <a:path h="483986" w="1728523">
                <a:moveTo>
                  <a:pt x="0" y="0"/>
                </a:moveTo>
                <a:lnTo>
                  <a:pt x="1728523" y="0"/>
                </a:lnTo>
                <a:lnTo>
                  <a:pt x="1728523" y="483986"/>
                </a:lnTo>
                <a:lnTo>
                  <a:pt x="0" y="4839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1561233" y="514350"/>
            <a:ext cx="6576040" cy="514350"/>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7C3AED"/>
                </a:solidFill>
                <a:latin typeface="Open Sans Bold"/>
                <a:ea typeface="Open Sans Bold"/>
                <a:cs typeface="Open Sans Bold"/>
                <a:sym typeface="Open Sans Bold"/>
              </a:rPr>
              <a:t>15 </a:t>
            </a:r>
            <a:r>
              <a:rPr lang="en-US" b="true" sz="3000" strike="noStrike" u="none">
                <a:solidFill>
                  <a:srgbClr val="7C3AED"/>
                </a:solidFill>
                <a:latin typeface="Open Sans Bold"/>
                <a:ea typeface="Open Sans Bold"/>
                <a:cs typeface="Open Sans Bold"/>
                <a:sym typeface="Open Sans Bold"/>
              </a:rPr>
              <a:t>Conclusiones y próximos p</a:t>
            </a:r>
            <a:r>
              <a:rPr lang="en-US" b="true" sz="3000" strike="noStrike" u="none">
                <a:solidFill>
                  <a:srgbClr val="7C3AED"/>
                </a:solidFill>
                <a:latin typeface="Open Sans Bold"/>
                <a:ea typeface="Open Sans Bold"/>
                <a:cs typeface="Open Sans Bold"/>
                <a:sym typeface="Open Sans Bold"/>
              </a:rPr>
              <a:t>asos</a:t>
            </a:r>
          </a:p>
        </p:txBody>
      </p:sp>
      <p:sp>
        <p:nvSpPr>
          <p:cNvPr name="TextBox 5" id="5"/>
          <p:cNvSpPr txBox="true"/>
          <p:nvPr/>
        </p:nvSpPr>
        <p:spPr>
          <a:xfrm rot="0">
            <a:off x="1496173" y="3345827"/>
            <a:ext cx="7225593" cy="4803775"/>
          </a:xfrm>
          <a:prstGeom prst="rect">
            <a:avLst/>
          </a:prstGeom>
        </p:spPr>
        <p:txBody>
          <a:bodyPr anchor="t" rtlCol="false" tIns="0" lIns="0" bIns="0" rIns="0">
            <a:spAutoFit/>
          </a:bodyPr>
          <a:lstStyle/>
          <a:p>
            <a:pPr algn="l">
              <a:lnSpc>
                <a:spcPts val="3499"/>
              </a:lnSpc>
            </a:pPr>
            <a:r>
              <a:rPr lang="en-US" sz="2499" b="true">
                <a:solidFill>
                  <a:srgbClr val="7C3AED"/>
                </a:solidFill>
                <a:latin typeface="Open Sans Bold"/>
                <a:ea typeface="Open Sans Bold"/>
                <a:cs typeface="Open Sans Bold"/>
                <a:sym typeface="Open Sans Bold"/>
              </a:rPr>
              <a:t>Cero Fricción: </a:t>
            </a:r>
            <a:r>
              <a:rPr lang="en-US" sz="2499">
                <a:solidFill>
                  <a:srgbClr val="000000"/>
                </a:solidFill>
                <a:latin typeface="Open Sans"/>
                <a:ea typeface="Open Sans"/>
                <a:cs typeface="Open Sans"/>
                <a:sym typeface="Open Sans"/>
              </a:rPr>
              <a:t>Demuestra que unificar billetera, tarjetas y agenda en una SP</a:t>
            </a:r>
            <a:r>
              <a:rPr lang="en-US" sz="2499">
                <a:solidFill>
                  <a:srgbClr val="000000"/>
                </a:solidFill>
                <a:latin typeface="Open Sans"/>
                <a:ea typeface="Open Sans"/>
                <a:cs typeface="Open Sans"/>
                <a:sym typeface="Open Sans"/>
              </a:rPr>
              <a:t>A reduce drásticamente el abandono del registro diario.</a:t>
            </a:r>
          </a:p>
          <a:p>
            <a:pPr algn="l">
              <a:lnSpc>
                <a:spcPts val="3499"/>
              </a:lnSpc>
            </a:pPr>
          </a:p>
          <a:p>
            <a:pPr algn="l">
              <a:lnSpc>
                <a:spcPts val="3499"/>
              </a:lnSpc>
            </a:pPr>
            <a:r>
              <a:rPr lang="en-US" sz="2499" b="true">
                <a:solidFill>
                  <a:srgbClr val="7C3AED"/>
                </a:solidFill>
                <a:latin typeface="Open Sans Bold"/>
                <a:ea typeface="Open Sans Bold"/>
                <a:cs typeface="Open Sans Bold"/>
                <a:sym typeface="Open Sans Bold"/>
              </a:rPr>
              <a:t>Certeza Financiera: </a:t>
            </a:r>
            <a:r>
              <a:rPr lang="en-US" sz="2499">
                <a:solidFill>
                  <a:srgbClr val="000000"/>
                </a:solidFill>
                <a:latin typeface="Open Sans"/>
                <a:ea typeface="Open Sans"/>
                <a:cs typeface="Open Sans"/>
                <a:sym typeface="Open Sans"/>
              </a:rPr>
              <a:t>Proporciona al usuario la visibilidad de su "dinero libre real", evitando sobreendeudamientos sorpresa.</a:t>
            </a:r>
          </a:p>
          <a:p>
            <a:pPr algn="l">
              <a:lnSpc>
                <a:spcPts val="3499"/>
              </a:lnSpc>
            </a:pPr>
          </a:p>
          <a:p>
            <a:pPr algn="l">
              <a:lnSpc>
                <a:spcPts val="3499"/>
              </a:lnSpc>
            </a:pPr>
            <a:r>
              <a:rPr lang="en-US" sz="2499" b="true">
                <a:solidFill>
                  <a:srgbClr val="7C3AED"/>
                </a:solidFill>
                <a:latin typeface="Open Sans Bold"/>
                <a:ea typeface="Open Sans Bold"/>
                <a:cs typeface="Open Sans Bold"/>
                <a:sym typeface="Open Sans Bold"/>
              </a:rPr>
              <a:t>Robustez Técnica: </a:t>
            </a:r>
            <a:r>
              <a:rPr lang="en-US" sz="2499">
                <a:solidFill>
                  <a:srgbClr val="000000"/>
                </a:solidFill>
                <a:latin typeface="Open Sans"/>
                <a:ea typeface="Open Sans"/>
                <a:cs typeface="Open Sans"/>
                <a:sym typeface="Open Sans"/>
              </a:rPr>
              <a:t>La nueva infraestructura con subdominios separados, índices en BD e IA sienta una base sólida y escalable.</a:t>
            </a:r>
          </a:p>
        </p:txBody>
      </p:sp>
      <p:sp>
        <p:nvSpPr>
          <p:cNvPr name="TextBox 6" id="6"/>
          <p:cNvSpPr txBox="true"/>
          <p:nvPr/>
        </p:nvSpPr>
        <p:spPr>
          <a:xfrm rot="0">
            <a:off x="10319846" y="1964702"/>
            <a:ext cx="3219556" cy="514350"/>
          </a:xfrm>
          <a:prstGeom prst="rect">
            <a:avLst/>
          </a:prstGeom>
        </p:spPr>
        <p:txBody>
          <a:bodyPr anchor="t" rtlCol="false" tIns="0" lIns="0" bIns="0" rIns="0">
            <a:spAutoFit/>
          </a:bodyPr>
          <a:lstStyle/>
          <a:p>
            <a:pPr algn="ctr">
              <a:lnSpc>
                <a:spcPts val="4200"/>
              </a:lnSpc>
            </a:pPr>
            <a:r>
              <a:rPr lang="en-US" b="true" sz="3000">
                <a:solidFill>
                  <a:srgbClr val="000000"/>
                </a:solidFill>
                <a:latin typeface="Open Sans Bold"/>
                <a:ea typeface="Open Sans Bold"/>
                <a:cs typeface="Open Sans Bold"/>
                <a:sym typeface="Open Sans Bold"/>
              </a:rPr>
              <a:t>Evolucion Futura</a:t>
            </a:r>
          </a:p>
        </p:txBody>
      </p:sp>
      <p:sp>
        <p:nvSpPr>
          <p:cNvPr name="TextBox 7" id="7"/>
          <p:cNvSpPr txBox="true"/>
          <p:nvPr/>
        </p:nvSpPr>
        <p:spPr>
          <a:xfrm rot="0">
            <a:off x="1496173" y="1964702"/>
            <a:ext cx="4658493" cy="514350"/>
          </a:xfrm>
          <a:prstGeom prst="rect">
            <a:avLst/>
          </a:prstGeom>
        </p:spPr>
        <p:txBody>
          <a:bodyPr anchor="t" rtlCol="false" tIns="0" lIns="0" bIns="0" rIns="0">
            <a:spAutoFit/>
          </a:bodyPr>
          <a:lstStyle/>
          <a:p>
            <a:pPr algn="ctr">
              <a:lnSpc>
                <a:spcPts val="4200"/>
              </a:lnSpc>
            </a:pPr>
            <a:r>
              <a:rPr lang="en-US" sz="3000" b="true">
                <a:solidFill>
                  <a:srgbClr val="000000"/>
                </a:solidFill>
                <a:latin typeface="Open Sans Bold"/>
                <a:ea typeface="Open Sans Bold"/>
                <a:cs typeface="Open Sans Bold"/>
                <a:sym typeface="Open Sans Bold"/>
              </a:rPr>
              <a:t>Impacto de Kyo</a:t>
            </a:r>
            <a:r>
              <a:rPr lang="en-US" b="true" sz="3000">
                <a:solidFill>
                  <a:srgbClr val="FFFFFF"/>
                </a:solidFill>
                <a:latin typeface="Open Sans Bold"/>
                <a:ea typeface="Open Sans Bold"/>
                <a:cs typeface="Open Sans Bold"/>
                <a:sym typeface="Open Sans Bold"/>
              </a:rPr>
              <a:t> </a:t>
            </a:r>
            <a:r>
              <a:rPr lang="en-US" sz="3000" b="true">
                <a:solidFill>
                  <a:srgbClr val="7C3AED"/>
                </a:solidFill>
                <a:latin typeface="Open Sans Bold"/>
                <a:ea typeface="Open Sans Bold"/>
                <a:cs typeface="Open Sans Bold"/>
                <a:sym typeface="Open Sans Bold"/>
              </a:rPr>
              <a:t>Vantage</a:t>
            </a:r>
          </a:p>
        </p:txBody>
      </p:sp>
      <p:sp>
        <p:nvSpPr>
          <p:cNvPr name="TextBox 8" id="8"/>
          <p:cNvSpPr txBox="true"/>
          <p:nvPr/>
        </p:nvSpPr>
        <p:spPr>
          <a:xfrm rot="0">
            <a:off x="10319846" y="3345827"/>
            <a:ext cx="6471981" cy="5680075"/>
          </a:xfrm>
          <a:prstGeom prst="rect">
            <a:avLst/>
          </a:prstGeom>
        </p:spPr>
        <p:txBody>
          <a:bodyPr anchor="t" rtlCol="false" tIns="0" lIns="0" bIns="0" rIns="0">
            <a:spAutoFit/>
          </a:bodyPr>
          <a:lstStyle/>
          <a:p>
            <a:pPr algn="l">
              <a:lnSpc>
                <a:spcPts val="3499"/>
              </a:lnSpc>
            </a:pPr>
            <a:r>
              <a:rPr lang="en-US" sz="2499" b="true">
                <a:solidFill>
                  <a:srgbClr val="7C3AED"/>
                </a:solidFill>
                <a:latin typeface="Open Sans Bold"/>
                <a:ea typeface="Open Sans Bold"/>
                <a:cs typeface="Open Sans Bold"/>
                <a:sym typeface="Open Sans Bold"/>
              </a:rPr>
              <a:t>Empaquetado TW</a:t>
            </a:r>
            <a:r>
              <a:rPr lang="en-US" sz="2499" b="true">
                <a:solidFill>
                  <a:srgbClr val="7C3AED"/>
                </a:solidFill>
                <a:latin typeface="Open Sans Bold"/>
                <a:ea typeface="Open Sans Bold"/>
                <a:cs typeface="Open Sans Bold"/>
                <a:sym typeface="Open Sans Bold"/>
              </a:rPr>
              <a:t>A: </a:t>
            </a:r>
            <a:r>
              <a:rPr lang="en-US" sz="2499">
                <a:solidFill>
                  <a:srgbClr val="000000"/>
                </a:solidFill>
                <a:latin typeface="Open Sans"/>
                <a:ea typeface="Open Sans"/>
                <a:cs typeface="Open Sans"/>
                <a:sym typeface="Open Sans"/>
              </a:rPr>
              <a:t>Publicación nativa en Google Play Store.</a:t>
            </a:r>
          </a:p>
          <a:p>
            <a:pPr algn="l">
              <a:lnSpc>
                <a:spcPts val="3499"/>
              </a:lnSpc>
            </a:pPr>
          </a:p>
          <a:p>
            <a:pPr algn="l">
              <a:lnSpc>
                <a:spcPts val="3499"/>
              </a:lnSpc>
            </a:pPr>
            <a:r>
              <a:rPr lang="en-US" sz="2499" b="true">
                <a:solidFill>
                  <a:srgbClr val="7C3AED"/>
                </a:solidFill>
                <a:latin typeface="Open Sans Bold"/>
                <a:ea typeface="Open Sans Bold"/>
                <a:cs typeface="Open Sans Bold"/>
                <a:sym typeface="Open Sans Bold"/>
              </a:rPr>
              <a:t>Open Banking:</a:t>
            </a:r>
            <a:r>
              <a:rPr lang="en-US" sz="2499">
                <a:solidFill>
                  <a:srgbClr val="FFFFFF"/>
                </a:solidFill>
                <a:latin typeface="Open Sans"/>
                <a:ea typeface="Open Sans"/>
                <a:cs typeface="Open Sans"/>
                <a:sym typeface="Open Sans"/>
              </a:rPr>
              <a:t> </a:t>
            </a:r>
            <a:r>
              <a:rPr lang="en-US" sz="2499">
                <a:solidFill>
                  <a:srgbClr val="000000"/>
                </a:solidFill>
                <a:latin typeface="Open Sans"/>
                <a:ea typeface="Open Sans"/>
                <a:cs typeface="Open Sans"/>
                <a:sym typeface="Open Sans"/>
              </a:rPr>
              <a:t>Sincronización automática con cuentas bancarias mediante lectura segura.</a:t>
            </a:r>
          </a:p>
          <a:p>
            <a:pPr algn="l">
              <a:lnSpc>
                <a:spcPts val="3499"/>
              </a:lnSpc>
            </a:pPr>
          </a:p>
          <a:p>
            <a:pPr algn="l">
              <a:lnSpc>
                <a:spcPts val="3499"/>
              </a:lnSpc>
            </a:pPr>
            <a:r>
              <a:rPr lang="en-US" sz="2499" b="true">
                <a:solidFill>
                  <a:srgbClr val="000000"/>
                </a:solidFill>
                <a:latin typeface="Open Sans Bold"/>
                <a:ea typeface="Open Sans Bold"/>
                <a:cs typeface="Open Sans Bold"/>
                <a:sym typeface="Open Sans Bold"/>
              </a:rPr>
              <a:t>Kyo </a:t>
            </a:r>
            <a:r>
              <a:rPr lang="en-US" sz="2499" b="true">
                <a:solidFill>
                  <a:srgbClr val="7C3AED"/>
                </a:solidFill>
                <a:latin typeface="Open Sans Bold"/>
                <a:ea typeface="Open Sans Bold"/>
                <a:cs typeface="Open Sans Bold"/>
                <a:sym typeface="Open Sans Bold"/>
              </a:rPr>
              <a:t>Vantage Business: </a:t>
            </a:r>
            <a:r>
              <a:rPr lang="en-US" sz="2499">
                <a:solidFill>
                  <a:srgbClr val="000000"/>
                </a:solidFill>
                <a:latin typeface="Open Sans"/>
                <a:ea typeface="Open Sans"/>
                <a:cs typeface="Open Sans"/>
                <a:sym typeface="Open Sans"/>
              </a:rPr>
              <a:t>Apertura de módulo para gestión de flujo de caja en pequeñas empresas y Pymes.</a:t>
            </a:r>
          </a:p>
          <a:p>
            <a:pPr algn="l">
              <a:lnSpc>
                <a:spcPts val="3499"/>
              </a:lnSpc>
            </a:pPr>
          </a:p>
          <a:p>
            <a:pPr algn="l">
              <a:lnSpc>
                <a:spcPts val="3499"/>
              </a:lnSpc>
            </a:pPr>
            <a:r>
              <a:rPr lang="en-US" sz="2499" b="true">
                <a:solidFill>
                  <a:srgbClr val="7C3AED"/>
                </a:solidFill>
                <a:latin typeface="Open Sans Bold"/>
                <a:ea typeface="Open Sans Bold"/>
                <a:cs typeface="Open Sans Bold"/>
                <a:sym typeface="Open Sans Bold"/>
              </a:rPr>
              <a:t>Internacionalización: </a:t>
            </a:r>
            <a:r>
              <a:rPr lang="en-US" sz="2499">
                <a:solidFill>
                  <a:srgbClr val="000000"/>
                </a:solidFill>
                <a:latin typeface="Open Sans"/>
                <a:ea typeface="Open Sans"/>
                <a:cs typeface="Open Sans"/>
                <a:sym typeface="Open Sans"/>
              </a:rPr>
              <a:t>Adaptación multimoneda para expansión en la región.</a:t>
            </a:r>
          </a:p>
        </p:txBody>
      </p:sp>
    </p:spTree>
  </p:cSld>
  <p:clrMapOvr>
    <a:masterClrMapping/>
  </p:clrMapOvr>
  <p:transition spd="fast">
    <p:cover dir="l"/>
  </p:transition>
</p:sld>
</file>

<file path=ppt/slides/slide22.xml><?xml version="1.0" encoding="utf-8"?>
<p:sld xmlns:p="http://schemas.openxmlformats.org/presentationml/2006/main" xmlns:a="http://schemas.openxmlformats.org/drawingml/2006/main">
  <p:cSld>
    <p:bg>
      <p:bgPr>
        <a:solidFill>
          <a:srgbClr val="F2F2F7"/>
        </a:solidFill>
      </p:bgPr>
    </p:bg>
    <p:spTree>
      <p:nvGrpSpPr>
        <p:cNvPr id="1" name=""/>
        <p:cNvGrpSpPr/>
        <p:nvPr/>
      </p:nvGrpSpPr>
      <p:grpSpPr>
        <a:xfrm>
          <a:off x="0" y="0"/>
          <a:ext cx="0" cy="0"/>
          <a:chOff x="0" y="0"/>
          <a:chExt cx="0" cy="0"/>
        </a:xfrm>
      </p:grpSpPr>
      <p:grpSp>
        <p:nvGrpSpPr>
          <p:cNvPr name="Group 2" id="2"/>
          <p:cNvGrpSpPr/>
          <p:nvPr/>
        </p:nvGrpSpPr>
        <p:grpSpPr>
          <a:xfrm rot="0">
            <a:off x="1707015" y="2439534"/>
            <a:ext cx="4762500" cy="6360956"/>
            <a:chOff x="0" y="0"/>
            <a:chExt cx="1254321" cy="1675314"/>
          </a:xfrm>
        </p:grpSpPr>
        <p:sp>
          <p:nvSpPr>
            <p:cNvPr name="Freeform 3" id="3"/>
            <p:cNvSpPr/>
            <p:nvPr/>
          </p:nvSpPr>
          <p:spPr>
            <a:xfrm flipH="false" flipV="false" rot="0">
              <a:off x="0" y="0"/>
              <a:ext cx="1254321" cy="1675314"/>
            </a:xfrm>
            <a:custGeom>
              <a:avLst/>
              <a:gdLst/>
              <a:ahLst/>
              <a:cxnLst/>
              <a:rect r="r" b="b" t="t" l="l"/>
              <a:pathLst>
                <a:path h="1675314" w="1254321">
                  <a:moveTo>
                    <a:pt x="40640" y="0"/>
                  </a:moveTo>
                  <a:lnTo>
                    <a:pt x="1213681" y="0"/>
                  </a:lnTo>
                  <a:cubicBezTo>
                    <a:pt x="1224459" y="0"/>
                    <a:pt x="1234796" y="4282"/>
                    <a:pt x="1242418" y="11903"/>
                  </a:cubicBezTo>
                  <a:cubicBezTo>
                    <a:pt x="1250039" y="19525"/>
                    <a:pt x="1254321" y="29862"/>
                    <a:pt x="1254321" y="40640"/>
                  </a:cubicBezTo>
                  <a:lnTo>
                    <a:pt x="1254321" y="1634674"/>
                  </a:lnTo>
                  <a:cubicBezTo>
                    <a:pt x="1254321" y="1657118"/>
                    <a:pt x="1236126" y="1675314"/>
                    <a:pt x="1213681" y="1675314"/>
                  </a:cubicBezTo>
                  <a:lnTo>
                    <a:pt x="40640" y="1675314"/>
                  </a:lnTo>
                  <a:cubicBezTo>
                    <a:pt x="18195" y="1675314"/>
                    <a:pt x="0" y="1657118"/>
                    <a:pt x="0" y="1634674"/>
                  </a:cubicBezTo>
                  <a:lnTo>
                    <a:pt x="0" y="40640"/>
                  </a:lnTo>
                  <a:cubicBezTo>
                    <a:pt x="0" y="18195"/>
                    <a:pt x="18195" y="0"/>
                    <a:pt x="40640" y="0"/>
                  </a:cubicBezTo>
                  <a:close/>
                </a:path>
              </a:pathLst>
            </a:custGeom>
            <a:solidFill>
              <a:srgbClr val="FFFFFF"/>
            </a:solidFill>
            <a:ln w="9525" cap="rnd">
              <a:solidFill>
                <a:srgbClr val="000000"/>
              </a:solidFill>
              <a:prstDash val="solid"/>
              <a:round/>
            </a:ln>
          </p:spPr>
        </p:sp>
        <p:sp>
          <p:nvSpPr>
            <p:cNvPr name="TextBox 4" id="4"/>
            <p:cNvSpPr txBox="true"/>
            <p:nvPr/>
          </p:nvSpPr>
          <p:spPr>
            <a:xfrm>
              <a:off x="0" y="-47625"/>
              <a:ext cx="1254321" cy="1722939"/>
            </a:xfrm>
            <a:prstGeom prst="rect">
              <a:avLst/>
            </a:prstGeom>
          </p:spPr>
          <p:txBody>
            <a:bodyPr anchor="ctr" rtlCol="false" tIns="50800" lIns="50800" bIns="50800" rIns="50800"/>
            <a:lstStyle/>
            <a:p>
              <a:pPr algn="just" marL="0" indent="0" lvl="0">
                <a:lnSpc>
                  <a:spcPts val="3499"/>
                </a:lnSpc>
                <a:spcBef>
                  <a:spcPct val="0"/>
                </a:spcBef>
              </a:pPr>
              <a:r>
                <a:rPr lang="en-US" sz="2499">
                  <a:solidFill>
                    <a:srgbClr val="000000"/>
                  </a:solidFill>
                  <a:latin typeface="Open Sans"/>
                  <a:ea typeface="Open Sans"/>
                  <a:cs typeface="Open Sans"/>
                  <a:sym typeface="Open Sans"/>
                </a:rPr>
                <a:t>‘’</a:t>
              </a:r>
              <a:r>
                <a:rPr lang="en-US" sz="2499" strike="noStrike" u="none">
                  <a:solidFill>
                    <a:srgbClr val="000000"/>
                  </a:solidFill>
                  <a:latin typeface="Open Sans"/>
                  <a:ea typeface="Open Sans"/>
                  <a:cs typeface="Open Sans"/>
                  <a:sym typeface="Open Sans"/>
                </a:rPr>
                <a:t>La inteligencia artificial en KyoVantage demuestra cómo los algoritmos pueden ser un aliado cotidiano para prevenir problemas económicos. Lograr que la tecnología anticipe situaciones de riesgo nos permite guiar al usuario hacia hábitos financieros mucho más saludables’’.</a:t>
              </a:r>
            </a:p>
          </p:txBody>
        </p:sp>
      </p:grpSp>
      <p:grpSp>
        <p:nvGrpSpPr>
          <p:cNvPr name="Group 5" id="5"/>
          <p:cNvGrpSpPr/>
          <p:nvPr/>
        </p:nvGrpSpPr>
        <p:grpSpPr>
          <a:xfrm rot="0">
            <a:off x="6762750" y="2439534"/>
            <a:ext cx="4762500" cy="6360956"/>
            <a:chOff x="0" y="0"/>
            <a:chExt cx="1254321" cy="1675314"/>
          </a:xfrm>
        </p:grpSpPr>
        <p:sp>
          <p:nvSpPr>
            <p:cNvPr name="Freeform 6" id="6"/>
            <p:cNvSpPr/>
            <p:nvPr/>
          </p:nvSpPr>
          <p:spPr>
            <a:xfrm flipH="false" flipV="false" rot="0">
              <a:off x="0" y="0"/>
              <a:ext cx="1254321" cy="1675314"/>
            </a:xfrm>
            <a:custGeom>
              <a:avLst/>
              <a:gdLst/>
              <a:ahLst/>
              <a:cxnLst/>
              <a:rect r="r" b="b" t="t" l="l"/>
              <a:pathLst>
                <a:path h="1675314" w="1254321">
                  <a:moveTo>
                    <a:pt x="40640" y="0"/>
                  </a:moveTo>
                  <a:lnTo>
                    <a:pt x="1213681" y="0"/>
                  </a:lnTo>
                  <a:cubicBezTo>
                    <a:pt x="1224459" y="0"/>
                    <a:pt x="1234796" y="4282"/>
                    <a:pt x="1242418" y="11903"/>
                  </a:cubicBezTo>
                  <a:cubicBezTo>
                    <a:pt x="1250039" y="19525"/>
                    <a:pt x="1254321" y="29862"/>
                    <a:pt x="1254321" y="40640"/>
                  </a:cubicBezTo>
                  <a:lnTo>
                    <a:pt x="1254321" y="1634674"/>
                  </a:lnTo>
                  <a:cubicBezTo>
                    <a:pt x="1254321" y="1657118"/>
                    <a:pt x="1236126" y="1675314"/>
                    <a:pt x="1213681" y="1675314"/>
                  </a:cubicBezTo>
                  <a:lnTo>
                    <a:pt x="40640" y="1675314"/>
                  </a:lnTo>
                  <a:cubicBezTo>
                    <a:pt x="18195" y="1675314"/>
                    <a:pt x="0" y="1657118"/>
                    <a:pt x="0" y="1634674"/>
                  </a:cubicBezTo>
                  <a:lnTo>
                    <a:pt x="0" y="40640"/>
                  </a:lnTo>
                  <a:cubicBezTo>
                    <a:pt x="0" y="18195"/>
                    <a:pt x="18195" y="0"/>
                    <a:pt x="40640" y="0"/>
                  </a:cubicBezTo>
                  <a:close/>
                </a:path>
              </a:pathLst>
            </a:custGeom>
            <a:solidFill>
              <a:srgbClr val="FFFFFF"/>
            </a:solidFill>
            <a:ln w="9525" cap="rnd">
              <a:solidFill>
                <a:srgbClr val="000000"/>
              </a:solidFill>
              <a:prstDash val="solid"/>
              <a:round/>
            </a:ln>
          </p:spPr>
        </p:sp>
        <p:sp>
          <p:nvSpPr>
            <p:cNvPr name="TextBox 7" id="7"/>
            <p:cNvSpPr txBox="true"/>
            <p:nvPr/>
          </p:nvSpPr>
          <p:spPr>
            <a:xfrm>
              <a:off x="0" y="-47625"/>
              <a:ext cx="1254321" cy="1722939"/>
            </a:xfrm>
            <a:prstGeom prst="rect">
              <a:avLst/>
            </a:prstGeom>
          </p:spPr>
          <p:txBody>
            <a:bodyPr anchor="ctr" rtlCol="false" tIns="50800" lIns="50800" bIns="50800" rIns="50800"/>
            <a:lstStyle/>
            <a:p>
              <a:pPr algn="just" marL="0" indent="0" lvl="0">
                <a:lnSpc>
                  <a:spcPts val="3499"/>
                </a:lnSpc>
                <a:spcBef>
                  <a:spcPct val="0"/>
                </a:spcBef>
              </a:pPr>
              <a:r>
                <a:rPr lang="en-US" sz="2499">
                  <a:solidFill>
                    <a:srgbClr val="000000"/>
                  </a:solidFill>
                  <a:latin typeface="Open Sans"/>
                  <a:ea typeface="Open Sans"/>
                  <a:cs typeface="Open Sans"/>
                  <a:sym typeface="Open Sans"/>
                </a:rPr>
                <a:t>‘’</a:t>
              </a:r>
              <a:r>
                <a:rPr lang="en-US" sz="2499" strike="noStrike" u="none">
                  <a:solidFill>
                    <a:srgbClr val="000000"/>
                  </a:solidFill>
                  <a:latin typeface="Open Sans"/>
                  <a:ea typeface="Open Sans"/>
                  <a:cs typeface="Open Sans"/>
                  <a:sym typeface="Open Sans"/>
                </a:rPr>
                <a:t>Garantizar la calidad y estabilidad de KyoVantage ha sido clave para transmitir confianza en un área tan sensible como la economía personal. Probar rigurosamente cada flujo asegura que la herramienta sea tan transparente como confiable para los usuarios’’.</a:t>
              </a:r>
            </a:p>
          </p:txBody>
        </p:sp>
      </p:grpSp>
      <p:grpSp>
        <p:nvGrpSpPr>
          <p:cNvPr name="Group 8" id="8"/>
          <p:cNvGrpSpPr/>
          <p:nvPr/>
        </p:nvGrpSpPr>
        <p:grpSpPr>
          <a:xfrm rot="0">
            <a:off x="11818485" y="2439534"/>
            <a:ext cx="4762500" cy="6360956"/>
            <a:chOff x="0" y="0"/>
            <a:chExt cx="1254321" cy="1675314"/>
          </a:xfrm>
        </p:grpSpPr>
        <p:sp>
          <p:nvSpPr>
            <p:cNvPr name="Freeform 9" id="9"/>
            <p:cNvSpPr/>
            <p:nvPr/>
          </p:nvSpPr>
          <p:spPr>
            <a:xfrm flipH="false" flipV="false" rot="0">
              <a:off x="0" y="0"/>
              <a:ext cx="1254321" cy="1675314"/>
            </a:xfrm>
            <a:custGeom>
              <a:avLst/>
              <a:gdLst/>
              <a:ahLst/>
              <a:cxnLst/>
              <a:rect r="r" b="b" t="t" l="l"/>
              <a:pathLst>
                <a:path h="1675314" w="1254321">
                  <a:moveTo>
                    <a:pt x="40640" y="0"/>
                  </a:moveTo>
                  <a:lnTo>
                    <a:pt x="1213681" y="0"/>
                  </a:lnTo>
                  <a:cubicBezTo>
                    <a:pt x="1224459" y="0"/>
                    <a:pt x="1234796" y="4282"/>
                    <a:pt x="1242418" y="11903"/>
                  </a:cubicBezTo>
                  <a:cubicBezTo>
                    <a:pt x="1250039" y="19525"/>
                    <a:pt x="1254321" y="29862"/>
                    <a:pt x="1254321" y="40640"/>
                  </a:cubicBezTo>
                  <a:lnTo>
                    <a:pt x="1254321" y="1634674"/>
                  </a:lnTo>
                  <a:cubicBezTo>
                    <a:pt x="1254321" y="1657118"/>
                    <a:pt x="1236126" y="1675314"/>
                    <a:pt x="1213681" y="1675314"/>
                  </a:cubicBezTo>
                  <a:lnTo>
                    <a:pt x="40640" y="1675314"/>
                  </a:lnTo>
                  <a:cubicBezTo>
                    <a:pt x="18195" y="1675314"/>
                    <a:pt x="0" y="1657118"/>
                    <a:pt x="0" y="1634674"/>
                  </a:cubicBezTo>
                  <a:lnTo>
                    <a:pt x="0" y="40640"/>
                  </a:lnTo>
                  <a:cubicBezTo>
                    <a:pt x="0" y="18195"/>
                    <a:pt x="18195" y="0"/>
                    <a:pt x="40640" y="0"/>
                  </a:cubicBezTo>
                  <a:close/>
                </a:path>
              </a:pathLst>
            </a:custGeom>
            <a:solidFill>
              <a:srgbClr val="FFFFFF"/>
            </a:solidFill>
            <a:ln w="9525" cap="rnd">
              <a:solidFill>
                <a:srgbClr val="000000"/>
              </a:solidFill>
              <a:prstDash val="solid"/>
              <a:round/>
            </a:ln>
          </p:spPr>
        </p:sp>
        <p:sp>
          <p:nvSpPr>
            <p:cNvPr name="TextBox 10" id="10"/>
            <p:cNvSpPr txBox="true"/>
            <p:nvPr/>
          </p:nvSpPr>
          <p:spPr>
            <a:xfrm>
              <a:off x="0" y="-47625"/>
              <a:ext cx="1254321" cy="1722939"/>
            </a:xfrm>
            <a:prstGeom prst="rect">
              <a:avLst/>
            </a:prstGeom>
          </p:spPr>
          <p:txBody>
            <a:bodyPr anchor="ctr" rtlCol="false" tIns="50800" lIns="50800" bIns="50800" rIns="50800"/>
            <a:lstStyle/>
            <a:p>
              <a:pPr algn="just" marL="0" indent="0" lvl="0">
                <a:lnSpc>
                  <a:spcPts val="3499"/>
                </a:lnSpc>
                <a:spcBef>
                  <a:spcPct val="0"/>
                </a:spcBef>
              </a:pPr>
              <a:r>
                <a:rPr lang="en-US" sz="2499">
                  <a:solidFill>
                    <a:srgbClr val="000000"/>
                  </a:solidFill>
                  <a:latin typeface="Open Sans"/>
                  <a:ea typeface="Open Sans"/>
                  <a:cs typeface="Open Sans"/>
                  <a:sym typeface="Open Sans"/>
                </a:rPr>
                <a:t>‘’</a:t>
              </a:r>
              <a:r>
                <a:rPr lang="en-US" sz="2499" strike="noStrike" u="none">
                  <a:solidFill>
                    <a:srgbClr val="000000"/>
                  </a:solidFill>
                  <a:latin typeface="Open Sans"/>
                  <a:ea typeface="Open Sans"/>
                  <a:cs typeface="Open Sans"/>
                  <a:sym typeface="Open Sans"/>
                </a:rPr>
                <a:t>KyoVantage busca transformar la relación de las personas con su dinero mediante una plataforma ágil, estable y sin fricciones. Construir una arquitectura sólida nos permitió crear una solución accesible que realmente simplifica la toma de decisiones financieras diarias’’.</a:t>
              </a:r>
            </a:p>
          </p:txBody>
        </p:sp>
      </p:grpSp>
      <p:sp>
        <p:nvSpPr>
          <p:cNvPr name="TextBox 11" id="11"/>
          <p:cNvSpPr txBox="true"/>
          <p:nvPr/>
        </p:nvSpPr>
        <p:spPr>
          <a:xfrm rot="0">
            <a:off x="196109" y="514350"/>
            <a:ext cx="4546976" cy="514350"/>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7C3AED"/>
                </a:solidFill>
                <a:latin typeface="Open Sans Bold"/>
                <a:ea typeface="Open Sans Bold"/>
                <a:cs typeface="Open Sans Bold"/>
                <a:sym typeface="Open Sans Bold"/>
              </a:rPr>
              <a:t>16 </a:t>
            </a:r>
            <a:r>
              <a:rPr lang="en-US" b="true" sz="3000" strike="noStrike" u="none">
                <a:solidFill>
                  <a:srgbClr val="7C3AED"/>
                </a:solidFill>
                <a:latin typeface="Open Sans Bold"/>
                <a:ea typeface="Open Sans Bold"/>
                <a:cs typeface="Open Sans Bold"/>
                <a:sym typeface="Open Sans Bold"/>
              </a:rPr>
              <a:t>Reflexión del Equipo</a:t>
            </a:r>
          </a:p>
        </p:txBody>
      </p:sp>
      <p:sp>
        <p:nvSpPr>
          <p:cNvPr name="TextBox 12" id="12"/>
          <p:cNvSpPr txBox="true"/>
          <p:nvPr/>
        </p:nvSpPr>
        <p:spPr>
          <a:xfrm rot="0">
            <a:off x="2183265" y="2572410"/>
            <a:ext cx="3810000" cy="495300"/>
          </a:xfrm>
          <a:prstGeom prst="rect">
            <a:avLst/>
          </a:prstGeom>
        </p:spPr>
        <p:txBody>
          <a:bodyPr anchor="t" rtlCol="false" tIns="0" lIns="0" bIns="0" rIns="0">
            <a:spAutoFit/>
          </a:bodyPr>
          <a:lstStyle/>
          <a:p>
            <a:pPr algn="ctr">
              <a:lnSpc>
                <a:spcPts val="4199"/>
              </a:lnSpc>
            </a:pPr>
            <a:r>
              <a:rPr lang="en-US" sz="2999" b="true">
                <a:solidFill>
                  <a:srgbClr val="7C3AED"/>
                </a:solidFill>
                <a:latin typeface="Open Sans Bold"/>
                <a:ea typeface="Open Sans Bold"/>
                <a:cs typeface="Open Sans Bold"/>
                <a:sym typeface="Open Sans Bold"/>
              </a:rPr>
              <a:t>Angel Gomez</a:t>
            </a:r>
          </a:p>
        </p:txBody>
      </p:sp>
      <p:sp>
        <p:nvSpPr>
          <p:cNvPr name="TextBox 13" id="13"/>
          <p:cNvSpPr txBox="true"/>
          <p:nvPr/>
        </p:nvSpPr>
        <p:spPr>
          <a:xfrm rot="0">
            <a:off x="7239000" y="2572410"/>
            <a:ext cx="3810000" cy="495300"/>
          </a:xfrm>
          <a:prstGeom prst="rect">
            <a:avLst/>
          </a:prstGeom>
        </p:spPr>
        <p:txBody>
          <a:bodyPr anchor="t" rtlCol="false" tIns="0" lIns="0" bIns="0" rIns="0">
            <a:spAutoFit/>
          </a:bodyPr>
          <a:lstStyle/>
          <a:p>
            <a:pPr algn="ctr">
              <a:lnSpc>
                <a:spcPts val="4199"/>
              </a:lnSpc>
            </a:pPr>
            <a:r>
              <a:rPr lang="en-US" sz="2999" b="true">
                <a:solidFill>
                  <a:srgbClr val="7C3AED"/>
                </a:solidFill>
                <a:latin typeface="Open Sans Bold"/>
                <a:ea typeface="Open Sans Bold"/>
                <a:cs typeface="Open Sans Bold"/>
                <a:sym typeface="Open Sans Bold"/>
              </a:rPr>
              <a:t>Bruno Seguel</a:t>
            </a:r>
          </a:p>
        </p:txBody>
      </p:sp>
      <p:sp>
        <p:nvSpPr>
          <p:cNvPr name="TextBox 14" id="14"/>
          <p:cNvSpPr txBox="true"/>
          <p:nvPr/>
        </p:nvSpPr>
        <p:spPr>
          <a:xfrm rot="0">
            <a:off x="12294735" y="2572410"/>
            <a:ext cx="3810000" cy="495300"/>
          </a:xfrm>
          <a:prstGeom prst="rect">
            <a:avLst/>
          </a:prstGeom>
        </p:spPr>
        <p:txBody>
          <a:bodyPr anchor="t" rtlCol="false" tIns="0" lIns="0" bIns="0" rIns="0">
            <a:spAutoFit/>
          </a:bodyPr>
          <a:lstStyle/>
          <a:p>
            <a:pPr algn="ctr">
              <a:lnSpc>
                <a:spcPts val="4199"/>
              </a:lnSpc>
            </a:pPr>
            <a:r>
              <a:rPr lang="en-US" sz="2999" b="true">
                <a:solidFill>
                  <a:srgbClr val="7C3AED"/>
                </a:solidFill>
                <a:latin typeface="Open Sans Bold"/>
                <a:ea typeface="Open Sans Bold"/>
                <a:cs typeface="Open Sans Bold"/>
                <a:sym typeface="Open Sans Bold"/>
              </a:rPr>
              <a:t>Nicolas Vargas</a:t>
            </a:r>
          </a:p>
        </p:txBody>
      </p:sp>
      <p:sp>
        <p:nvSpPr>
          <p:cNvPr name="AutoShape 15" id="15"/>
          <p:cNvSpPr/>
          <p:nvPr/>
        </p:nvSpPr>
        <p:spPr>
          <a:xfrm>
            <a:off x="4743085" y="790575"/>
            <a:ext cx="18098098" cy="0"/>
          </a:xfrm>
          <a:prstGeom prst="line">
            <a:avLst/>
          </a:prstGeom>
          <a:ln cap="flat" w="19050">
            <a:solidFill>
              <a:srgbClr val="000000"/>
            </a:solidFill>
            <a:prstDash val="solid"/>
            <a:headEnd type="none" len="sm" w="sm"/>
            <a:tailEnd type="none" len="sm" w="sm"/>
          </a:ln>
        </p:spPr>
      </p:sp>
    </p:spTree>
  </p:cSld>
  <p:clrMapOvr>
    <a:masterClrMapping/>
  </p:clrMapOvr>
  <p:transition spd="fast">
    <p:cover dir="l"/>
  </p:transition>
</p:sld>
</file>

<file path=ppt/slides/slide23.xml><?xml version="1.0" encoding="utf-8"?>
<p:sld xmlns:p="http://schemas.openxmlformats.org/presentationml/2006/main" xmlns:a="http://schemas.openxmlformats.org/drawingml/2006/main">
  <p:cSld>
    <p:bg>
      <p:bgPr>
        <a:solidFill>
          <a:srgbClr val="F2F2F7"/>
        </a:solidFill>
      </p:bgPr>
    </p:bg>
    <p:spTree>
      <p:nvGrpSpPr>
        <p:cNvPr id="1" name=""/>
        <p:cNvGrpSpPr/>
        <p:nvPr/>
      </p:nvGrpSpPr>
      <p:grpSpPr>
        <a:xfrm>
          <a:off x="0" y="0"/>
          <a:ext cx="0" cy="0"/>
          <a:chOff x="0" y="0"/>
          <a:chExt cx="0" cy="0"/>
        </a:xfrm>
      </p:grpSpPr>
      <p:sp>
        <p:nvSpPr>
          <p:cNvPr name="TextBox 2" id="2"/>
          <p:cNvSpPr txBox="true"/>
          <p:nvPr/>
        </p:nvSpPr>
        <p:spPr>
          <a:xfrm rot="0">
            <a:off x="4932910" y="3860799"/>
            <a:ext cx="8422180" cy="2432053"/>
          </a:xfrm>
          <a:prstGeom prst="rect">
            <a:avLst/>
          </a:prstGeom>
        </p:spPr>
        <p:txBody>
          <a:bodyPr anchor="t" rtlCol="false" tIns="0" lIns="0" bIns="0" rIns="0">
            <a:spAutoFit/>
          </a:bodyPr>
          <a:lstStyle/>
          <a:p>
            <a:pPr algn="ctr" marL="0" indent="0" lvl="0">
              <a:lnSpc>
                <a:spcPts val="9799"/>
              </a:lnSpc>
              <a:spcBef>
                <a:spcPct val="0"/>
              </a:spcBef>
            </a:pPr>
            <a:r>
              <a:rPr lang="en-US" b="true" sz="6999">
                <a:solidFill>
                  <a:srgbClr val="000000"/>
                </a:solidFill>
                <a:latin typeface="Open Sans Bold"/>
                <a:ea typeface="Open Sans Bold"/>
                <a:cs typeface="Open Sans Bold"/>
                <a:sym typeface="Open Sans Bold"/>
              </a:rPr>
              <a:t>MUCHAS GRACIAS POR</a:t>
            </a:r>
            <a:r>
              <a:rPr lang="en-US" b="true" sz="6999">
                <a:solidFill>
                  <a:srgbClr val="FFFFFF"/>
                </a:solidFill>
                <a:latin typeface="Open Sans Bold"/>
                <a:ea typeface="Open Sans Bold"/>
                <a:cs typeface="Open Sans Bold"/>
                <a:sym typeface="Open Sans Bold"/>
              </a:rPr>
              <a:t> </a:t>
            </a:r>
            <a:r>
              <a:rPr lang="en-US" b="true" sz="6999">
                <a:solidFill>
                  <a:srgbClr val="7C3AED"/>
                </a:solidFill>
                <a:latin typeface="Open Sans Bold"/>
                <a:ea typeface="Open Sans Bold"/>
                <a:cs typeface="Open Sans Bold"/>
                <a:sym typeface="Open Sans Bold"/>
              </a:rPr>
              <a:t>SU ATENCIÓN</a:t>
            </a:r>
          </a:p>
        </p:txBody>
      </p:sp>
      <p:sp>
        <p:nvSpPr>
          <p:cNvPr name="AutoShape 3" id="3"/>
          <p:cNvSpPr/>
          <p:nvPr/>
        </p:nvSpPr>
        <p:spPr>
          <a:xfrm>
            <a:off x="-3505549" y="1102122"/>
            <a:ext cx="18098098" cy="0"/>
          </a:xfrm>
          <a:prstGeom prst="line">
            <a:avLst/>
          </a:prstGeom>
          <a:ln cap="flat" w="19050">
            <a:solidFill>
              <a:srgbClr val="000000"/>
            </a:solidFill>
            <a:prstDash val="solid"/>
            <a:headEnd type="none" len="sm" w="sm"/>
            <a:tailEnd type="none" len="sm" w="sm"/>
          </a:ln>
        </p:spPr>
      </p:sp>
      <p:grpSp>
        <p:nvGrpSpPr>
          <p:cNvPr name="Group 4" id="4"/>
          <p:cNvGrpSpPr/>
          <p:nvPr/>
        </p:nvGrpSpPr>
        <p:grpSpPr>
          <a:xfrm rot="0">
            <a:off x="1288983" y="8881904"/>
            <a:ext cx="18600231" cy="669926"/>
            <a:chOff x="0" y="0"/>
            <a:chExt cx="24800308" cy="893234"/>
          </a:xfrm>
        </p:grpSpPr>
        <p:sp>
          <p:nvSpPr>
            <p:cNvPr name="AutoShape 5" id="5"/>
            <p:cNvSpPr/>
            <p:nvPr/>
          </p:nvSpPr>
          <p:spPr>
            <a:xfrm>
              <a:off x="19" y="843028"/>
              <a:ext cx="24800270" cy="37506"/>
            </a:xfrm>
            <a:prstGeom prst="line">
              <a:avLst/>
            </a:prstGeom>
            <a:ln cap="flat" w="25400">
              <a:solidFill>
                <a:srgbClr val="000000"/>
              </a:solidFill>
              <a:prstDash val="solid"/>
              <a:headEnd type="none" len="sm" w="sm"/>
              <a:tailEnd type="none" len="sm" w="sm"/>
            </a:ln>
          </p:spPr>
        </p:sp>
        <p:sp>
          <p:nvSpPr>
            <p:cNvPr name="TextBox 6" id="6"/>
            <p:cNvSpPr txBox="true"/>
            <p:nvPr/>
          </p:nvSpPr>
          <p:spPr>
            <a:xfrm rot="0">
              <a:off x="3653861" y="-47625"/>
              <a:ext cx="8811617" cy="449791"/>
            </a:xfrm>
            <a:prstGeom prst="rect">
              <a:avLst/>
            </a:prstGeom>
          </p:spPr>
          <p:txBody>
            <a:bodyPr anchor="t" rtlCol="false" tIns="0" lIns="0" bIns="0" rIns="0">
              <a:spAutoFit/>
            </a:bodyPr>
            <a:lstStyle/>
            <a:p>
              <a:pPr algn="r">
                <a:lnSpc>
                  <a:spcPts val="2800"/>
                </a:lnSpc>
              </a:pPr>
              <a:r>
                <a:rPr lang="en-US" sz="2000">
                  <a:solidFill>
                    <a:srgbClr val="000000"/>
                  </a:solidFill>
                  <a:latin typeface="Open Sans"/>
                  <a:ea typeface="Open Sans"/>
                  <a:cs typeface="Open Sans"/>
                  <a:sym typeface="Open Sans"/>
                </a:rPr>
                <a:t>Integrantes: Ángel Gómez, Bruno Seguel, Nicolas Vargas</a:t>
              </a:r>
            </a:p>
          </p:txBody>
        </p:sp>
        <p:sp>
          <p:nvSpPr>
            <p:cNvPr name="TextBox 7" id="7"/>
            <p:cNvSpPr txBox="true"/>
            <p:nvPr/>
          </p:nvSpPr>
          <p:spPr>
            <a:xfrm rot="0">
              <a:off x="13492062" y="-47625"/>
              <a:ext cx="5120878" cy="449791"/>
            </a:xfrm>
            <a:prstGeom prst="rect">
              <a:avLst/>
            </a:prstGeom>
          </p:spPr>
          <p:txBody>
            <a:bodyPr anchor="t" rtlCol="false" tIns="0" lIns="0" bIns="0" rIns="0">
              <a:spAutoFit/>
            </a:bodyPr>
            <a:lstStyle/>
            <a:p>
              <a:pPr algn="r" marL="0" indent="0" lvl="0">
                <a:lnSpc>
                  <a:spcPts val="2800"/>
                </a:lnSpc>
                <a:spcBef>
                  <a:spcPct val="0"/>
                </a:spcBef>
              </a:pPr>
              <a:r>
                <a:rPr lang="en-US" sz="2000" strike="noStrike" u="none">
                  <a:solidFill>
                    <a:srgbClr val="000000"/>
                  </a:solidFill>
                  <a:latin typeface="Open Sans"/>
                  <a:ea typeface="Open Sans"/>
                  <a:cs typeface="Open Sans"/>
                  <a:sym typeface="Open Sans"/>
                </a:rPr>
                <a:t>Docente: Mauricio C. Figueroa C.</a:t>
              </a:r>
            </a:p>
          </p:txBody>
        </p:sp>
        <p:sp>
          <p:nvSpPr>
            <p:cNvPr name="TextBox 8" id="8"/>
            <p:cNvSpPr txBox="true"/>
            <p:nvPr/>
          </p:nvSpPr>
          <p:spPr>
            <a:xfrm rot="0">
              <a:off x="19641640" y="-47625"/>
              <a:ext cx="2408436" cy="449791"/>
            </a:xfrm>
            <a:prstGeom prst="rect">
              <a:avLst/>
            </a:prstGeom>
          </p:spPr>
          <p:txBody>
            <a:bodyPr anchor="t" rtlCol="false" tIns="0" lIns="0" bIns="0" rIns="0">
              <a:spAutoFit/>
            </a:bodyPr>
            <a:lstStyle/>
            <a:p>
              <a:pPr algn="r" marL="0" indent="0" lvl="0">
                <a:lnSpc>
                  <a:spcPts val="2800"/>
                </a:lnSpc>
                <a:spcBef>
                  <a:spcPct val="0"/>
                </a:spcBef>
              </a:pPr>
              <a:r>
                <a:rPr lang="en-US" sz="2000" strike="noStrike" u="none">
                  <a:solidFill>
                    <a:srgbClr val="000000"/>
                  </a:solidFill>
                  <a:latin typeface="Open Sans"/>
                  <a:ea typeface="Open Sans"/>
                  <a:cs typeface="Open Sans"/>
                  <a:sym typeface="Open Sans"/>
                </a:rPr>
                <a:t>Capstone 003D</a:t>
              </a:r>
            </a:p>
          </p:txBody>
        </p:sp>
      </p:grpSp>
      <p:grpSp>
        <p:nvGrpSpPr>
          <p:cNvPr name="Group 9" id="9"/>
          <p:cNvGrpSpPr/>
          <p:nvPr/>
        </p:nvGrpSpPr>
        <p:grpSpPr>
          <a:xfrm rot="0">
            <a:off x="14894177" y="354157"/>
            <a:ext cx="3170523" cy="1495930"/>
            <a:chOff x="0" y="0"/>
            <a:chExt cx="4227363" cy="1994573"/>
          </a:xfrm>
        </p:grpSpPr>
        <p:sp>
          <p:nvSpPr>
            <p:cNvPr name="TextBox 10" id="10"/>
            <p:cNvSpPr txBox="true"/>
            <p:nvPr/>
          </p:nvSpPr>
          <p:spPr>
            <a:xfrm rot="0">
              <a:off x="670574" y="-180975"/>
              <a:ext cx="2886215" cy="1429591"/>
            </a:xfrm>
            <a:prstGeom prst="rect">
              <a:avLst/>
            </a:prstGeom>
          </p:spPr>
          <p:txBody>
            <a:bodyPr anchor="t" rtlCol="false" tIns="0" lIns="0" bIns="0" rIns="0">
              <a:spAutoFit/>
            </a:bodyPr>
            <a:lstStyle/>
            <a:p>
              <a:pPr algn="ctr">
                <a:lnSpc>
                  <a:spcPts val="8602"/>
                </a:lnSpc>
              </a:pPr>
              <a:r>
                <a:rPr lang="en-US" b="true" sz="6144">
                  <a:solidFill>
                    <a:srgbClr val="000000"/>
                  </a:solidFill>
                  <a:latin typeface="Poppins Bold"/>
                  <a:ea typeface="Poppins Bold"/>
                  <a:cs typeface="Poppins Bold"/>
                  <a:sym typeface="Poppins Bold"/>
                </a:rPr>
                <a:t>KYO</a:t>
              </a:r>
            </a:p>
          </p:txBody>
        </p:sp>
        <p:sp>
          <p:nvSpPr>
            <p:cNvPr name="TextBox 11" id="11"/>
            <p:cNvSpPr txBox="true"/>
            <p:nvPr/>
          </p:nvSpPr>
          <p:spPr>
            <a:xfrm rot="0">
              <a:off x="0" y="1172416"/>
              <a:ext cx="4227363" cy="822157"/>
            </a:xfrm>
            <a:prstGeom prst="rect">
              <a:avLst/>
            </a:prstGeom>
          </p:spPr>
          <p:txBody>
            <a:bodyPr anchor="t" rtlCol="false" tIns="0" lIns="0" bIns="0" rIns="0">
              <a:spAutoFit/>
            </a:bodyPr>
            <a:lstStyle/>
            <a:p>
              <a:pPr algn="ctr">
                <a:lnSpc>
                  <a:spcPts val="5140"/>
                </a:lnSpc>
              </a:pPr>
              <a:r>
                <a:rPr lang="en-US" b="true" sz="3671" spc="642">
                  <a:solidFill>
                    <a:srgbClr val="8B5CF6"/>
                  </a:solidFill>
                  <a:latin typeface="Muli Bold"/>
                  <a:ea typeface="Muli Bold"/>
                  <a:cs typeface="Muli Bold"/>
                  <a:sym typeface="Muli Bold"/>
                </a:rPr>
                <a:t>VANTAGE</a:t>
              </a:r>
            </a:p>
          </p:txBody>
        </p:sp>
      </p:grpSp>
    </p:spTree>
  </p:cSld>
  <p:clrMapOvr>
    <a:masterClrMapping/>
  </p:clrMapOvr>
  <p:transition spd="fast">
    <p:cover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DAHSxGAaldU</dc:identifier>
  <dcterms:modified xsi:type="dcterms:W3CDTF">2011-08-01T06:04:30Z</dcterms:modified>
  <cp:revision>1</cp:revision>
  <dc:title>Presentación Kyo Vantage</dc:title>
</cp:coreProperties>
</file>