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Open Sans" charset="1" panose="020B0606030504020204"/>
      <p:regular r:id="rId35"/>
    </p:embeddedFont>
    <p:embeddedFont>
      <p:font typeface="Poppins Bold" charset="1" panose="00000800000000000000"/>
      <p:regular r:id="rId36"/>
    </p:embeddedFont>
    <p:embeddedFont>
      <p:font typeface="Muli Bold" charset="1" panose="00000800000000000000"/>
      <p:regular r:id="rId37"/>
    </p:embeddedFont>
    <p:embeddedFont>
      <p:font typeface="Open Sans Bold" charset="1" panose="020B08060305040202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https://dbdiagram.io/d/6acfdf8faebfe7a21fefff24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953545" y="1038225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16634" y="8956676"/>
            <a:ext cx="18600231" cy="587058"/>
            <a:chOff x="0" y="0"/>
            <a:chExt cx="24800308" cy="782744"/>
          </a:xfrm>
        </p:grpSpPr>
        <p:sp>
          <p:nvSpPr>
            <p:cNvPr name="AutoShape 4" id="4"/>
            <p:cNvSpPr/>
            <p:nvPr/>
          </p:nvSpPr>
          <p:spPr>
            <a:xfrm>
              <a:off x="19" y="732538"/>
              <a:ext cx="24800270" cy="37506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3653861" y="-47625"/>
              <a:ext cx="8811617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Integrantes: Ángel Gómez, Bruno Seguel, Nicolas Vargas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3492062" y="-47625"/>
              <a:ext cx="5120878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Docente: Mauricio C. Figueroa C.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9641640" y="-47625"/>
              <a:ext cx="2408436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Capstone 003D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825121" y="3105747"/>
            <a:ext cx="8637758" cy="4075506"/>
            <a:chOff x="0" y="0"/>
            <a:chExt cx="11517011" cy="543400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1826910" y="-485775"/>
              <a:ext cx="7863191" cy="3887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437"/>
                </a:lnSpc>
              </a:pPr>
              <a:r>
                <a:rPr lang="en-US" b="true" sz="1674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KYO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211224"/>
              <a:ext cx="11517011" cy="2222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004"/>
                </a:lnSpc>
              </a:pPr>
              <a:r>
                <a:rPr lang="en-US" b="true" sz="10003" spc="1750">
                  <a:solidFill>
                    <a:srgbClr val="8B5CF6"/>
                  </a:solidFill>
                  <a:latin typeface="Muli Bold"/>
                  <a:ea typeface="Muli Bold"/>
                  <a:cs typeface="Muli Bold"/>
                  <a:sym typeface="Muli Bold"/>
                </a:rPr>
                <a:t>VANTAGE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921650" y="1038225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095500" y="3118101"/>
            <a:ext cx="447675" cy="447675"/>
            <a:chOff x="0" y="0"/>
            <a:chExt cx="117906" cy="1179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906" cy="117906"/>
            </a:xfrm>
            <a:custGeom>
              <a:avLst/>
              <a:gdLst/>
              <a:ahLst/>
              <a:cxnLst/>
              <a:rect r="r" b="b" t="t" l="l"/>
              <a:pathLst>
                <a:path h="117906" w="117906">
                  <a:moveTo>
                    <a:pt x="58953" y="0"/>
                  </a:moveTo>
                  <a:cubicBezTo>
                    <a:pt x="26394" y="0"/>
                    <a:pt x="0" y="26394"/>
                    <a:pt x="0" y="58953"/>
                  </a:cubicBezTo>
                  <a:cubicBezTo>
                    <a:pt x="0" y="91512"/>
                    <a:pt x="26394" y="117906"/>
                    <a:pt x="58953" y="117906"/>
                  </a:cubicBezTo>
                  <a:cubicBezTo>
                    <a:pt x="91512" y="117906"/>
                    <a:pt x="117906" y="91512"/>
                    <a:pt x="117906" y="58953"/>
                  </a:cubicBezTo>
                  <a:cubicBezTo>
                    <a:pt x="117906" y="26394"/>
                    <a:pt x="91512" y="0"/>
                    <a:pt x="58953" y="0"/>
                  </a:cubicBezTo>
                  <a:close/>
                </a:path>
              </a:pathLst>
            </a:custGeom>
            <a:solidFill>
              <a:srgbClr val="813DF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054" y="-27046"/>
              <a:ext cx="95799" cy="13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97448" y="554038"/>
            <a:ext cx="698801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Tabla d</a:t>
            </a:r>
            <a:r>
              <a:rPr lang="en-US" b="true" sz="5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b="true" sz="5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5000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Contenidos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33231" y="3070476"/>
            <a:ext cx="57150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Contexto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33231" y="3803901"/>
            <a:ext cx="57150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Problema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33231" y="4537327"/>
            <a:ext cx="57150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Necesidad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33231" y="5270753"/>
            <a:ext cx="57150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Solucion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33231" y="6004179"/>
            <a:ext cx="57150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Requerimientos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33231" y="6737604"/>
            <a:ext cx="57150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Épicas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33231" y="7471030"/>
            <a:ext cx="57150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Historias de Usuarios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33231" y="8204456"/>
            <a:ext cx="57150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Arquitectura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90224" y="3070476"/>
            <a:ext cx="57150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Metodologias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90224" y="3803901"/>
            <a:ext cx="57150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90224" y="4537327"/>
            <a:ext cx="57150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Evidencias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90224" y="5270753"/>
            <a:ext cx="57150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Evidencias por Sprint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90224" y="6004179"/>
            <a:ext cx="57150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Definicion de Sprints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90224" y="6737604"/>
            <a:ext cx="57150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Cronograma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90224" y="7471030"/>
            <a:ext cx="57150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Conclusiones y próximos pasos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90224" y="8204456"/>
            <a:ext cx="57150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Reflexión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095500" y="3851527"/>
            <a:ext cx="447675" cy="447675"/>
            <a:chOff x="0" y="0"/>
            <a:chExt cx="117906" cy="1179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7906" cy="117906"/>
            </a:xfrm>
            <a:custGeom>
              <a:avLst/>
              <a:gdLst/>
              <a:ahLst/>
              <a:cxnLst/>
              <a:rect r="r" b="b" t="t" l="l"/>
              <a:pathLst>
                <a:path h="117906" w="117906">
                  <a:moveTo>
                    <a:pt x="58953" y="0"/>
                  </a:moveTo>
                  <a:cubicBezTo>
                    <a:pt x="26394" y="0"/>
                    <a:pt x="0" y="26394"/>
                    <a:pt x="0" y="58953"/>
                  </a:cubicBezTo>
                  <a:cubicBezTo>
                    <a:pt x="0" y="91512"/>
                    <a:pt x="26394" y="117906"/>
                    <a:pt x="58953" y="117906"/>
                  </a:cubicBezTo>
                  <a:cubicBezTo>
                    <a:pt x="91512" y="117906"/>
                    <a:pt x="117906" y="91512"/>
                    <a:pt x="117906" y="58953"/>
                  </a:cubicBezTo>
                  <a:cubicBezTo>
                    <a:pt x="117906" y="26394"/>
                    <a:pt x="91512" y="0"/>
                    <a:pt x="58953" y="0"/>
                  </a:cubicBezTo>
                  <a:close/>
                </a:path>
              </a:pathLst>
            </a:custGeom>
            <a:solidFill>
              <a:srgbClr val="813DF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1054" y="-27046"/>
              <a:ext cx="95799" cy="13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095500" y="4584952"/>
            <a:ext cx="447675" cy="447675"/>
            <a:chOff x="0" y="0"/>
            <a:chExt cx="117906" cy="1179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906" cy="117906"/>
            </a:xfrm>
            <a:custGeom>
              <a:avLst/>
              <a:gdLst/>
              <a:ahLst/>
              <a:cxnLst/>
              <a:rect r="r" b="b" t="t" l="l"/>
              <a:pathLst>
                <a:path h="117906" w="117906">
                  <a:moveTo>
                    <a:pt x="58953" y="0"/>
                  </a:moveTo>
                  <a:cubicBezTo>
                    <a:pt x="26394" y="0"/>
                    <a:pt x="0" y="26394"/>
                    <a:pt x="0" y="58953"/>
                  </a:cubicBezTo>
                  <a:cubicBezTo>
                    <a:pt x="0" y="91512"/>
                    <a:pt x="26394" y="117906"/>
                    <a:pt x="58953" y="117906"/>
                  </a:cubicBezTo>
                  <a:cubicBezTo>
                    <a:pt x="91512" y="117906"/>
                    <a:pt x="117906" y="91512"/>
                    <a:pt x="117906" y="58953"/>
                  </a:cubicBezTo>
                  <a:cubicBezTo>
                    <a:pt x="117906" y="26394"/>
                    <a:pt x="91512" y="0"/>
                    <a:pt x="58953" y="0"/>
                  </a:cubicBezTo>
                  <a:close/>
                </a:path>
              </a:pathLst>
            </a:custGeom>
            <a:solidFill>
              <a:srgbClr val="813DF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1054" y="-27046"/>
              <a:ext cx="95799" cy="13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095500" y="5318377"/>
            <a:ext cx="447675" cy="447675"/>
            <a:chOff x="0" y="0"/>
            <a:chExt cx="117906" cy="11790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7906" cy="117906"/>
            </a:xfrm>
            <a:custGeom>
              <a:avLst/>
              <a:gdLst/>
              <a:ahLst/>
              <a:cxnLst/>
              <a:rect r="r" b="b" t="t" l="l"/>
              <a:pathLst>
                <a:path h="117906" w="117906">
                  <a:moveTo>
                    <a:pt x="58953" y="0"/>
                  </a:moveTo>
                  <a:cubicBezTo>
                    <a:pt x="26394" y="0"/>
                    <a:pt x="0" y="26394"/>
                    <a:pt x="0" y="58953"/>
                  </a:cubicBezTo>
                  <a:cubicBezTo>
                    <a:pt x="0" y="91512"/>
                    <a:pt x="26394" y="117906"/>
                    <a:pt x="58953" y="117906"/>
                  </a:cubicBezTo>
                  <a:cubicBezTo>
                    <a:pt x="91512" y="117906"/>
                    <a:pt x="117906" y="91512"/>
                    <a:pt x="117906" y="58953"/>
                  </a:cubicBezTo>
                  <a:cubicBezTo>
                    <a:pt x="117906" y="26394"/>
                    <a:pt x="91512" y="0"/>
                    <a:pt x="58953" y="0"/>
                  </a:cubicBezTo>
                  <a:close/>
                </a:path>
              </a:pathLst>
            </a:custGeom>
            <a:solidFill>
              <a:srgbClr val="813DF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1054" y="-27046"/>
              <a:ext cx="95799" cy="13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095500" y="6051802"/>
            <a:ext cx="447675" cy="447675"/>
            <a:chOff x="0" y="0"/>
            <a:chExt cx="117906" cy="11790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7906" cy="117906"/>
            </a:xfrm>
            <a:custGeom>
              <a:avLst/>
              <a:gdLst/>
              <a:ahLst/>
              <a:cxnLst/>
              <a:rect r="r" b="b" t="t" l="l"/>
              <a:pathLst>
                <a:path h="117906" w="117906">
                  <a:moveTo>
                    <a:pt x="58953" y="0"/>
                  </a:moveTo>
                  <a:cubicBezTo>
                    <a:pt x="26394" y="0"/>
                    <a:pt x="0" y="26394"/>
                    <a:pt x="0" y="58953"/>
                  </a:cubicBezTo>
                  <a:cubicBezTo>
                    <a:pt x="0" y="91512"/>
                    <a:pt x="26394" y="117906"/>
                    <a:pt x="58953" y="117906"/>
                  </a:cubicBezTo>
                  <a:cubicBezTo>
                    <a:pt x="91512" y="117906"/>
                    <a:pt x="117906" y="91512"/>
                    <a:pt x="117906" y="58953"/>
                  </a:cubicBezTo>
                  <a:cubicBezTo>
                    <a:pt x="117906" y="26394"/>
                    <a:pt x="91512" y="0"/>
                    <a:pt x="58953" y="0"/>
                  </a:cubicBezTo>
                  <a:close/>
                </a:path>
              </a:pathLst>
            </a:custGeom>
            <a:solidFill>
              <a:srgbClr val="813DF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1054" y="-27046"/>
              <a:ext cx="95799" cy="13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95500" y="6785227"/>
            <a:ext cx="447675" cy="447675"/>
            <a:chOff x="0" y="0"/>
            <a:chExt cx="117906" cy="1179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7906" cy="117906"/>
            </a:xfrm>
            <a:custGeom>
              <a:avLst/>
              <a:gdLst/>
              <a:ahLst/>
              <a:cxnLst/>
              <a:rect r="r" b="b" t="t" l="l"/>
              <a:pathLst>
                <a:path h="117906" w="117906">
                  <a:moveTo>
                    <a:pt x="58953" y="0"/>
                  </a:moveTo>
                  <a:cubicBezTo>
                    <a:pt x="26394" y="0"/>
                    <a:pt x="0" y="26394"/>
                    <a:pt x="0" y="58953"/>
                  </a:cubicBezTo>
                  <a:cubicBezTo>
                    <a:pt x="0" y="91512"/>
                    <a:pt x="26394" y="117906"/>
                    <a:pt x="58953" y="117906"/>
                  </a:cubicBezTo>
                  <a:cubicBezTo>
                    <a:pt x="91512" y="117906"/>
                    <a:pt x="117906" y="91512"/>
                    <a:pt x="117906" y="58953"/>
                  </a:cubicBezTo>
                  <a:cubicBezTo>
                    <a:pt x="117906" y="26394"/>
                    <a:pt x="91512" y="0"/>
                    <a:pt x="58953" y="0"/>
                  </a:cubicBezTo>
                  <a:close/>
                </a:path>
              </a:pathLst>
            </a:custGeom>
            <a:solidFill>
              <a:srgbClr val="813DF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1054" y="-27046"/>
              <a:ext cx="95799" cy="13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095500" y="7518652"/>
            <a:ext cx="447675" cy="447675"/>
            <a:chOff x="0" y="0"/>
            <a:chExt cx="117906" cy="11790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7906" cy="117906"/>
            </a:xfrm>
            <a:custGeom>
              <a:avLst/>
              <a:gdLst/>
              <a:ahLst/>
              <a:cxnLst/>
              <a:rect r="r" b="b" t="t" l="l"/>
              <a:pathLst>
                <a:path h="117906" w="117906">
                  <a:moveTo>
                    <a:pt x="58953" y="0"/>
                  </a:moveTo>
                  <a:cubicBezTo>
                    <a:pt x="26394" y="0"/>
                    <a:pt x="0" y="26394"/>
                    <a:pt x="0" y="58953"/>
                  </a:cubicBezTo>
                  <a:cubicBezTo>
                    <a:pt x="0" y="91512"/>
                    <a:pt x="26394" y="117906"/>
                    <a:pt x="58953" y="117906"/>
                  </a:cubicBezTo>
                  <a:cubicBezTo>
                    <a:pt x="91512" y="117906"/>
                    <a:pt x="117906" y="91512"/>
                    <a:pt x="117906" y="58953"/>
                  </a:cubicBezTo>
                  <a:cubicBezTo>
                    <a:pt x="117906" y="26394"/>
                    <a:pt x="91512" y="0"/>
                    <a:pt x="58953" y="0"/>
                  </a:cubicBezTo>
                  <a:close/>
                </a:path>
              </a:pathLst>
            </a:custGeom>
            <a:solidFill>
              <a:srgbClr val="813DF9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1054" y="-27046"/>
              <a:ext cx="95799" cy="13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095500" y="8252077"/>
            <a:ext cx="447675" cy="447675"/>
            <a:chOff x="0" y="0"/>
            <a:chExt cx="117906" cy="11790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7906" cy="117906"/>
            </a:xfrm>
            <a:custGeom>
              <a:avLst/>
              <a:gdLst/>
              <a:ahLst/>
              <a:cxnLst/>
              <a:rect r="r" b="b" t="t" l="l"/>
              <a:pathLst>
                <a:path h="117906" w="117906">
                  <a:moveTo>
                    <a:pt x="58953" y="0"/>
                  </a:moveTo>
                  <a:cubicBezTo>
                    <a:pt x="26394" y="0"/>
                    <a:pt x="0" y="26394"/>
                    <a:pt x="0" y="58953"/>
                  </a:cubicBezTo>
                  <a:cubicBezTo>
                    <a:pt x="0" y="91512"/>
                    <a:pt x="26394" y="117906"/>
                    <a:pt x="58953" y="117906"/>
                  </a:cubicBezTo>
                  <a:cubicBezTo>
                    <a:pt x="91512" y="117906"/>
                    <a:pt x="117906" y="91512"/>
                    <a:pt x="117906" y="58953"/>
                  </a:cubicBezTo>
                  <a:cubicBezTo>
                    <a:pt x="117906" y="26394"/>
                    <a:pt x="91512" y="0"/>
                    <a:pt x="58953" y="0"/>
                  </a:cubicBezTo>
                  <a:close/>
                </a:path>
              </a:pathLst>
            </a:custGeom>
            <a:solidFill>
              <a:srgbClr val="813DF9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1054" y="-27046"/>
              <a:ext cx="95799" cy="13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151745" y="3118101"/>
            <a:ext cx="447675" cy="447675"/>
            <a:chOff x="0" y="0"/>
            <a:chExt cx="117906" cy="11790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7906" cy="117906"/>
            </a:xfrm>
            <a:custGeom>
              <a:avLst/>
              <a:gdLst/>
              <a:ahLst/>
              <a:cxnLst/>
              <a:rect r="r" b="b" t="t" l="l"/>
              <a:pathLst>
                <a:path h="117906" w="117906">
                  <a:moveTo>
                    <a:pt x="58953" y="0"/>
                  </a:moveTo>
                  <a:cubicBezTo>
                    <a:pt x="26394" y="0"/>
                    <a:pt x="0" y="26394"/>
                    <a:pt x="0" y="58953"/>
                  </a:cubicBezTo>
                  <a:cubicBezTo>
                    <a:pt x="0" y="91512"/>
                    <a:pt x="26394" y="117906"/>
                    <a:pt x="58953" y="117906"/>
                  </a:cubicBezTo>
                  <a:cubicBezTo>
                    <a:pt x="91512" y="117906"/>
                    <a:pt x="117906" y="91512"/>
                    <a:pt x="117906" y="58953"/>
                  </a:cubicBezTo>
                  <a:cubicBezTo>
                    <a:pt x="117906" y="26394"/>
                    <a:pt x="91512" y="0"/>
                    <a:pt x="58953" y="0"/>
                  </a:cubicBezTo>
                  <a:close/>
                </a:path>
              </a:pathLst>
            </a:custGeom>
            <a:solidFill>
              <a:srgbClr val="813DF9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11054" y="-27046"/>
              <a:ext cx="95799" cy="13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151745" y="3851527"/>
            <a:ext cx="447675" cy="447675"/>
            <a:chOff x="0" y="0"/>
            <a:chExt cx="117906" cy="11790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7906" cy="117906"/>
            </a:xfrm>
            <a:custGeom>
              <a:avLst/>
              <a:gdLst/>
              <a:ahLst/>
              <a:cxnLst/>
              <a:rect r="r" b="b" t="t" l="l"/>
              <a:pathLst>
                <a:path h="117906" w="117906">
                  <a:moveTo>
                    <a:pt x="58953" y="0"/>
                  </a:moveTo>
                  <a:cubicBezTo>
                    <a:pt x="26394" y="0"/>
                    <a:pt x="0" y="26394"/>
                    <a:pt x="0" y="58953"/>
                  </a:cubicBezTo>
                  <a:cubicBezTo>
                    <a:pt x="0" y="91512"/>
                    <a:pt x="26394" y="117906"/>
                    <a:pt x="58953" y="117906"/>
                  </a:cubicBezTo>
                  <a:cubicBezTo>
                    <a:pt x="91512" y="117906"/>
                    <a:pt x="117906" y="91512"/>
                    <a:pt x="117906" y="58953"/>
                  </a:cubicBezTo>
                  <a:cubicBezTo>
                    <a:pt x="117906" y="26394"/>
                    <a:pt x="91512" y="0"/>
                    <a:pt x="58953" y="0"/>
                  </a:cubicBezTo>
                  <a:close/>
                </a:path>
              </a:pathLst>
            </a:custGeom>
            <a:solidFill>
              <a:srgbClr val="813DF9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1054" y="-27046"/>
              <a:ext cx="95799" cy="13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151745" y="4584952"/>
            <a:ext cx="447675" cy="447675"/>
            <a:chOff x="0" y="0"/>
            <a:chExt cx="117906" cy="11790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7906" cy="117906"/>
            </a:xfrm>
            <a:custGeom>
              <a:avLst/>
              <a:gdLst/>
              <a:ahLst/>
              <a:cxnLst/>
              <a:rect r="r" b="b" t="t" l="l"/>
              <a:pathLst>
                <a:path h="117906" w="117906">
                  <a:moveTo>
                    <a:pt x="58953" y="0"/>
                  </a:moveTo>
                  <a:cubicBezTo>
                    <a:pt x="26394" y="0"/>
                    <a:pt x="0" y="26394"/>
                    <a:pt x="0" y="58953"/>
                  </a:cubicBezTo>
                  <a:cubicBezTo>
                    <a:pt x="0" y="91512"/>
                    <a:pt x="26394" y="117906"/>
                    <a:pt x="58953" y="117906"/>
                  </a:cubicBezTo>
                  <a:cubicBezTo>
                    <a:pt x="91512" y="117906"/>
                    <a:pt x="117906" y="91512"/>
                    <a:pt x="117906" y="58953"/>
                  </a:cubicBezTo>
                  <a:cubicBezTo>
                    <a:pt x="117906" y="26394"/>
                    <a:pt x="91512" y="0"/>
                    <a:pt x="58953" y="0"/>
                  </a:cubicBezTo>
                  <a:close/>
                </a:path>
              </a:pathLst>
            </a:custGeom>
            <a:solidFill>
              <a:srgbClr val="813DF9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1054" y="-27046"/>
              <a:ext cx="95799" cy="13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151745" y="5318377"/>
            <a:ext cx="447675" cy="447675"/>
            <a:chOff x="0" y="0"/>
            <a:chExt cx="117906" cy="11790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7906" cy="117906"/>
            </a:xfrm>
            <a:custGeom>
              <a:avLst/>
              <a:gdLst/>
              <a:ahLst/>
              <a:cxnLst/>
              <a:rect r="r" b="b" t="t" l="l"/>
              <a:pathLst>
                <a:path h="117906" w="117906">
                  <a:moveTo>
                    <a:pt x="58953" y="0"/>
                  </a:moveTo>
                  <a:cubicBezTo>
                    <a:pt x="26394" y="0"/>
                    <a:pt x="0" y="26394"/>
                    <a:pt x="0" y="58953"/>
                  </a:cubicBezTo>
                  <a:cubicBezTo>
                    <a:pt x="0" y="91512"/>
                    <a:pt x="26394" y="117906"/>
                    <a:pt x="58953" y="117906"/>
                  </a:cubicBezTo>
                  <a:cubicBezTo>
                    <a:pt x="91512" y="117906"/>
                    <a:pt x="117906" y="91512"/>
                    <a:pt x="117906" y="58953"/>
                  </a:cubicBezTo>
                  <a:cubicBezTo>
                    <a:pt x="117906" y="26394"/>
                    <a:pt x="91512" y="0"/>
                    <a:pt x="58953" y="0"/>
                  </a:cubicBezTo>
                  <a:close/>
                </a:path>
              </a:pathLst>
            </a:custGeom>
            <a:solidFill>
              <a:srgbClr val="813DF9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11054" y="-27046"/>
              <a:ext cx="95799" cy="13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151745" y="6051802"/>
            <a:ext cx="447675" cy="447675"/>
            <a:chOff x="0" y="0"/>
            <a:chExt cx="117906" cy="11790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7906" cy="117906"/>
            </a:xfrm>
            <a:custGeom>
              <a:avLst/>
              <a:gdLst/>
              <a:ahLst/>
              <a:cxnLst/>
              <a:rect r="r" b="b" t="t" l="l"/>
              <a:pathLst>
                <a:path h="117906" w="117906">
                  <a:moveTo>
                    <a:pt x="58953" y="0"/>
                  </a:moveTo>
                  <a:cubicBezTo>
                    <a:pt x="26394" y="0"/>
                    <a:pt x="0" y="26394"/>
                    <a:pt x="0" y="58953"/>
                  </a:cubicBezTo>
                  <a:cubicBezTo>
                    <a:pt x="0" y="91512"/>
                    <a:pt x="26394" y="117906"/>
                    <a:pt x="58953" y="117906"/>
                  </a:cubicBezTo>
                  <a:cubicBezTo>
                    <a:pt x="91512" y="117906"/>
                    <a:pt x="117906" y="91512"/>
                    <a:pt x="117906" y="58953"/>
                  </a:cubicBezTo>
                  <a:cubicBezTo>
                    <a:pt x="117906" y="26394"/>
                    <a:pt x="91512" y="0"/>
                    <a:pt x="58953" y="0"/>
                  </a:cubicBezTo>
                  <a:close/>
                </a:path>
              </a:pathLst>
            </a:custGeom>
            <a:solidFill>
              <a:srgbClr val="813DF9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11054" y="-27046"/>
              <a:ext cx="95799" cy="13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151745" y="6785227"/>
            <a:ext cx="447675" cy="447675"/>
            <a:chOff x="0" y="0"/>
            <a:chExt cx="117906" cy="11790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7906" cy="117906"/>
            </a:xfrm>
            <a:custGeom>
              <a:avLst/>
              <a:gdLst/>
              <a:ahLst/>
              <a:cxnLst/>
              <a:rect r="r" b="b" t="t" l="l"/>
              <a:pathLst>
                <a:path h="117906" w="117906">
                  <a:moveTo>
                    <a:pt x="58953" y="0"/>
                  </a:moveTo>
                  <a:cubicBezTo>
                    <a:pt x="26394" y="0"/>
                    <a:pt x="0" y="26394"/>
                    <a:pt x="0" y="58953"/>
                  </a:cubicBezTo>
                  <a:cubicBezTo>
                    <a:pt x="0" y="91512"/>
                    <a:pt x="26394" y="117906"/>
                    <a:pt x="58953" y="117906"/>
                  </a:cubicBezTo>
                  <a:cubicBezTo>
                    <a:pt x="91512" y="117906"/>
                    <a:pt x="117906" y="91512"/>
                    <a:pt x="117906" y="58953"/>
                  </a:cubicBezTo>
                  <a:cubicBezTo>
                    <a:pt x="117906" y="26394"/>
                    <a:pt x="91512" y="0"/>
                    <a:pt x="58953" y="0"/>
                  </a:cubicBezTo>
                  <a:close/>
                </a:path>
              </a:pathLst>
            </a:custGeom>
            <a:solidFill>
              <a:srgbClr val="813DF9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11054" y="-27046"/>
              <a:ext cx="95799" cy="13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151745" y="7518652"/>
            <a:ext cx="447675" cy="447675"/>
            <a:chOff x="0" y="0"/>
            <a:chExt cx="117906" cy="11790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7906" cy="117906"/>
            </a:xfrm>
            <a:custGeom>
              <a:avLst/>
              <a:gdLst/>
              <a:ahLst/>
              <a:cxnLst/>
              <a:rect r="r" b="b" t="t" l="l"/>
              <a:pathLst>
                <a:path h="117906" w="117906">
                  <a:moveTo>
                    <a:pt x="58953" y="0"/>
                  </a:moveTo>
                  <a:cubicBezTo>
                    <a:pt x="26394" y="0"/>
                    <a:pt x="0" y="26394"/>
                    <a:pt x="0" y="58953"/>
                  </a:cubicBezTo>
                  <a:cubicBezTo>
                    <a:pt x="0" y="91512"/>
                    <a:pt x="26394" y="117906"/>
                    <a:pt x="58953" y="117906"/>
                  </a:cubicBezTo>
                  <a:cubicBezTo>
                    <a:pt x="91512" y="117906"/>
                    <a:pt x="117906" y="91512"/>
                    <a:pt x="117906" y="58953"/>
                  </a:cubicBezTo>
                  <a:cubicBezTo>
                    <a:pt x="117906" y="26394"/>
                    <a:pt x="91512" y="0"/>
                    <a:pt x="58953" y="0"/>
                  </a:cubicBezTo>
                  <a:close/>
                </a:path>
              </a:pathLst>
            </a:custGeom>
            <a:solidFill>
              <a:srgbClr val="813DF9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11054" y="-27046"/>
              <a:ext cx="95799" cy="13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151745" y="8252077"/>
            <a:ext cx="447675" cy="447675"/>
            <a:chOff x="0" y="0"/>
            <a:chExt cx="117906" cy="11790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7906" cy="117906"/>
            </a:xfrm>
            <a:custGeom>
              <a:avLst/>
              <a:gdLst/>
              <a:ahLst/>
              <a:cxnLst/>
              <a:rect r="r" b="b" t="t" l="l"/>
              <a:pathLst>
                <a:path h="117906" w="117906">
                  <a:moveTo>
                    <a:pt x="58953" y="0"/>
                  </a:moveTo>
                  <a:cubicBezTo>
                    <a:pt x="26394" y="0"/>
                    <a:pt x="0" y="26394"/>
                    <a:pt x="0" y="58953"/>
                  </a:cubicBezTo>
                  <a:cubicBezTo>
                    <a:pt x="0" y="91512"/>
                    <a:pt x="26394" y="117906"/>
                    <a:pt x="58953" y="117906"/>
                  </a:cubicBezTo>
                  <a:cubicBezTo>
                    <a:pt x="91512" y="117906"/>
                    <a:pt x="117906" y="91512"/>
                    <a:pt x="117906" y="58953"/>
                  </a:cubicBezTo>
                  <a:cubicBezTo>
                    <a:pt x="117906" y="26394"/>
                    <a:pt x="91512" y="0"/>
                    <a:pt x="58953" y="0"/>
                  </a:cubicBezTo>
                  <a:close/>
                </a:path>
              </a:pathLst>
            </a:custGeom>
            <a:solidFill>
              <a:srgbClr val="813DF9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11054" y="-27046"/>
              <a:ext cx="95799" cy="13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2095500" y="3142868"/>
            <a:ext cx="456247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095500" y="3878198"/>
            <a:ext cx="456247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095500" y="4611623"/>
            <a:ext cx="456247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095500" y="5345048"/>
            <a:ext cx="456247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095500" y="6078473"/>
            <a:ext cx="456247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095500" y="6813802"/>
            <a:ext cx="456247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095500" y="7545323"/>
            <a:ext cx="456247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095500" y="8278748"/>
            <a:ext cx="456247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151745" y="3142868"/>
            <a:ext cx="456247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151745" y="3878198"/>
            <a:ext cx="456247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151745" y="4611623"/>
            <a:ext cx="456247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151745" y="5345048"/>
            <a:ext cx="456247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151745" y="6078473"/>
            <a:ext cx="456247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151745" y="6813802"/>
            <a:ext cx="456247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0151745" y="7545323"/>
            <a:ext cx="456247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0151745" y="8278748"/>
            <a:ext cx="456247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16</a:t>
            </a:r>
          </a:p>
        </p:txBody>
      </p:sp>
    </p:spTree>
  </p:cSld>
  <p:clrMapOvr>
    <a:masterClrMapping/>
  </p:clrMapOvr>
  <p:transition spd="fast">
    <p:cover dir="l"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2498" y="1336831"/>
            <a:ext cx="16603374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</a:t>
            </a:r>
            <a:r>
              <a:rPr lang="en-US" b="true" sz="4500" strike="noStrike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torno Financiero y Comportamiento de los Adultos Jóvenes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8566" y="3077802"/>
            <a:ext cx="7620000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Acceso y Uso de He</a:t>
            </a:r>
            <a:r>
              <a:rPr lang="en-US" b="true" sz="2900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rramientas Digitales (Estudio UC - Falabella)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60261" y="350234"/>
            <a:ext cx="2093123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</a:t>
            </a:r>
            <a:r>
              <a:rPr lang="en-US" b="true" sz="3000" strike="noStrike" u="non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Contexto</a:t>
            </a:r>
          </a:p>
        </p:txBody>
      </p:sp>
      <p:sp>
        <p:nvSpPr>
          <p:cNvPr name="AutoShape 5" id="5"/>
          <p:cNvSpPr/>
          <p:nvPr/>
        </p:nvSpPr>
        <p:spPr>
          <a:xfrm>
            <a:off x="-2288541" y="629929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08566" y="4261442"/>
            <a:ext cx="7620000" cy="262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 adultos jóvenes de 18 a 34 años registran el mayor uso de cuentas y servicios digitales en Chile, pero la mitad de quienes utilizan múltiples productos financieros reconoce no comprender conceptos como la tasa de interés o la inflación (solo un 21% los maneja).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59434" y="3077802"/>
            <a:ext cx="7620000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Hábitos de Presupuesto y Respaldo Económico (Estudio UC - Falabella)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59434" y="4261442"/>
            <a:ext cx="7620000" cy="2184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76% afirma elaborar un presupuesto mensual, pero únicamente un 22% logra cumplirlo, mientras que un 82% declara que no podría enfrentar un gasto urgente sin pedir ayuda económica a terceros o familiares.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81500" y="7405368"/>
            <a:ext cx="9525000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Comportamiento en el Día a Día (Encuesta Local)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81500" y="8074658"/>
            <a:ext cx="9525000" cy="174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58%</a:t>
            </a: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los jóvenes controla su dinero revisando el saldo de la app bancaria en el momento, menos del 9% usa planillas o registros formales, y casi el 80% no logra mantener un presupuesto mensual ordenado.</a:t>
            </a:r>
          </a:p>
        </p:txBody>
      </p:sp>
    </p:spTree>
  </p:cSld>
  <p:clrMapOvr>
    <a:masterClrMapping/>
  </p:clrMapOvr>
  <p:transition spd="fast">
    <p:cover dir="l"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8703" y="2577532"/>
            <a:ext cx="5470743" cy="3333750"/>
            <a:chOff x="0" y="0"/>
            <a:chExt cx="857604" cy="5226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604" cy="522605"/>
            </a:xfrm>
            <a:custGeom>
              <a:avLst/>
              <a:gdLst/>
              <a:ahLst/>
              <a:cxnLst/>
              <a:rect r="r" b="b" t="t" l="l"/>
              <a:pathLst>
                <a:path h="522605" w="857604">
                  <a:moveTo>
                    <a:pt x="27640" y="0"/>
                  </a:moveTo>
                  <a:lnTo>
                    <a:pt x="829965" y="0"/>
                  </a:lnTo>
                  <a:cubicBezTo>
                    <a:pt x="837295" y="0"/>
                    <a:pt x="844325" y="2912"/>
                    <a:pt x="849509" y="8095"/>
                  </a:cubicBezTo>
                  <a:cubicBezTo>
                    <a:pt x="854692" y="13279"/>
                    <a:pt x="857604" y="20309"/>
                    <a:pt x="857604" y="27640"/>
                  </a:cubicBezTo>
                  <a:lnTo>
                    <a:pt x="857604" y="494966"/>
                  </a:lnTo>
                  <a:cubicBezTo>
                    <a:pt x="857604" y="502296"/>
                    <a:pt x="854692" y="509326"/>
                    <a:pt x="849509" y="514510"/>
                  </a:cubicBezTo>
                  <a:cubicBezTo>
                    <a:pt x="844325" y="519693"/>
                    <a:pt x="837295" y="522605"/>
                    <a:pt x="829965" y="522605"/>
                  </a:cubicBezTo>
                  <a:lnTo>
                    <a:pt x="27640" y="522605"/>
                  </a:lnTo>
                  <a:cubicBezTo>
                    <a:pt x="20309" y="522605"/>
                    <a:pt x="13279" y="519693"/>
                    <a:pt x="8095" y="514510"/>
                  </a:cubicBezTo>
                  <a:cubicBezTo>
                    <a:pt x="2912" y="509326"/>
                    <a:pt x="0" y="502296"/>
                    <a:pt x="0" y="494966"/>
                  </a:cubicBezTo>
                  <a:lnTo>
                    <a:pt x="0" y="27640"/>
                  </a:lnTo>
                  <a:cubicBezTo>
                    <a:pt x="0" y="20309"/>
                    <a:pt x="2912" y="13279"/>
                    <a:pt x="8095" y="8095"/>
                  </a:cubicBezTo>
                  <a:cubicBezTo>
                    <a:pt x="13279" y="2912"/>
                    <a:pt x="20309" y="0"/>
                    <a:pt x="27640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57604" cy="570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813D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Desconocimiento del Saldo Real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El usuario gasta viendo únicamente su saldo disponible en el banco, sin considerar los compromisos de pago futuros ya asumidos.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18345" y="442586"/>
            <a:ext cx="2214860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 </a:t>
            </a:r>
            <a:r>
              <a:rPr lang="en-US" b="true" sz="3000" strike="noStrike" u="non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594789" y="2577532"/>
            <a:ext cx="5248814" cy="3333750"/>
            <a:chOff x="0" y="0"/>
            <a:chExt cx="822814" cy="5226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814" cy="522605"/>
            </a:xfrm>
            <a:custGeom>
              <a:avLst/>
              <a:gdLst/>
              <a:ahLst/>
              <a:cxnLst/>
              <a:rect r="r" b="b" t="t" l="l"/>
              <a:pathLst>
                <a:path h="522605" w="822814">
                  <a:moveTo>
                    <a:pt x="28808" y="0"/>
                  </a:moveTo>
                  <a:lnTo>
                    <a:pt x="794006" y="0"/>
                  </a:lnTo>
                  <a:cubicBezTo>
                    <a:pt x="801647" y="0"/>
                    <a:pt x="808974" y="3035"/>
                    <a:pt x="814377" y="8438"/>
                  </a:cubicBezTo>
                  <a:cubicBezTo>
                    <a:pt x="819779" y="13840"/>
                    <a:pt x="822814" y="21168"/>
                    <a:pt x="822814" y="28808"/>
                  </a:cubicBezTo>
                  <a:lnTo>
                    <a:pt x="822814" y="493797"/>
                  </a:lnTo>
                  <a:cubicBezTo>
                    <a:pt x="822814" y="501437"/>
                    <a:pt x="819779" y="508765"/>
                    <a:pt x="814377" y="514167"/>
                  </a:cubicBezTo>
                  <a:cubicBezTo>
                    <a:pt x="808974" y="519570"/>
                    <a:pt x="801647" y="522605"/>
                    <a:pt x="794006" y="522605"/>
                  </a:cubicBezTo>
                  <a:lnTo>
                    <a:pt x="28808" y="522605"/>
                  </a:lnTo>
                  <a:cubicBezTo>
                    <a:pt x="21168" y="522605"/>
                    <a:pt x="13840" y="519570"/>
                    <a:pt x="8438" y="514167"/>
                  </a:cubicBezTo>
                  <a:cubicBezTo>
                    <a:pt x="3035" y="508765"/>
                    <a:pt x="0" y="501437"/>
                    <a:pt x="0" y="493797"/>
                  </a:cubicBezTo>
                  <a:lnTo>
                    <a:pt x="0" y="28808"/>
                  </a:lnTo>
                  <a:cubicBezTo>
                    <a:pt x="0" y="21168"/>
                    <a:pt x="3035" y="13840"/>
                    <a:pt x="8438" y="8438"/>
                  </a:cubicBezTo>
                  <a:cubicBezTo>
                    <a:pt x="13840" y="3035"/>
                    <a:pt x="21168" y="0"/>
                    <a:pt x="28808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822814" cy="579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 b="true">
                  <a:solidFill>
                    <a:srgbClr val="813D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Manejo Complejo de Tarjetas</a:t>
              </a:r>
            </a:p>
            <a:p>
              <a:pPr algn="ctr">
                <a:lnSpc>
                  <a:spcPts val="3639"/>
                </a:lnSpc>
              </a:pP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Dificultad para llevar el control de fechas de corte, fechas de pago, cuotas mensuales acumuladas y deudas reales.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081728" y="2577532"/>
            <a:ext cx="5317569" cy="3612820"/>
            <a:chOff x="0" y="0"/>
            <a:chExt cx="833592" cy="5663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3592" cy="566353"/>
            </a:xfrm>
            <a:custGeom>
              <a:avLst/>
              <a:gdLst/>
              <a:ahLst/>
              <a:cxnLst/>
              <a:rect r="r" b="b" t="t" l="l"/>
              <a:pathLst>
                <a:path h="566353" w="833592">
                  <a:moveTo>
                    <a:pt x="28436" y="0"/>
                  </a:moveTo>
                  <a:lnTo>
                    <a:pt x="805157" y="0"/>
                  </a:lnTo>
                  <a:cubicBezTo>
                    <a:pt x="812698" y="0"/>
                    <a:pt x="819931" y="2996"/>
                    <a:pt x="825264" y="8329"/>
                  </a:cubicBezTo>
                  <a:cubicBezTo>
                    <a:pt x="830596" y="13661"/>
                    <a:pt x="833592" y="20894"/>
                    <a:pt x="833592" y="28436"/>
                  </a:cubicBezTo>
                  <a:lnTo>
                    <a:pt x="833592" y="537917"/>
                  </a:lnTo>
                  <a:cubicBezTo>
                    <a:pt x="833592" y="545459"/>
                    <a:pt x="830596" y="552691"/>
                    <a:pt x="825264" y="558024"/>
                  </a:cubicBezTo>
                  <a:cubicBezTo>
                    <a:pt x="819931" y="563357"/>
                    <a:pt x="812698" y="566353"/>
                    <a:pt x="805157" y="566353"/>
                  </a:cubicBezTo>
                  <a:lnTo>
                    <a:pt x="28436" y="566353"/>
                  </a:lnTo>
                  <a:cubicBezTo>
                    <a:pt x="20894" y="566353"/>
                    <a:pt x="13661" y="563357"/>
                    <a:pt x="8329" y="558024"/>
                  </a:cubicBezTo>
                  <a:cubicBezTo>
                    <a:pt x="2996" y="552691"/>
                    <a:pt x="0" y="545459"/>
                    <a:pt x="0" y="537917"/>
                  </a:cubicBezTo>
                  <a:lnTo>
                    <a:pt x="0" y="28436"/>
                  </a:lnTo>
                  <a:cubicBezTo>
                    <a:pt x="0" y="20894"/>
                    <a:pt x="2996" y="13661"/>
                    <a:pt x="8329" y="8329"/>
                  </a:cubicBezTo>
                  <a:cubicBezTo>
                    <a:pt x="13661" y="2996"/>
                    <a:pt x="20894" y="0"/>
                    <a:pt x="28436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33592" cy="613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813D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Alta Fricción y Abandono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Las aplicaciones tradicionales o planillas de Excel exigen demasiado tiempo y esfuerzo manual, llevando al usuario a abandonar la organización.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008630" y="6190352"/>
            <a:ext cx="5569669" cy="3333750"/>
            <a:chOff x="0" y="0"/>
            <a:chExt cx="873112" cy="5226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3112" cy="522605"/>
            </a:xfrm>
            <a:custGeom>
              <a:avLst/>
              <a:gdLst/>
              <a:ahLst/>
              <a:cxnLst/>
              <a:rect r="r" b="b" t="t" l="l"/>
              <a:pathLst>
                <a:path h="522605" w="873112">
                  <a:moveTo>
                    <a:pt x="27149" y="0"/>
                  </a:moveTo>
                  <a:lnTo>
                    <a:pt x="845963" y="0"/>
                  </a:lnTo>
                  <a:cubicBezTo>
                    <a:pt x="853164" y="0"/>
                    <a:pt x="860069" y="2860"/>
                    <a:pt x="865161" y="7952"/>
                  </a:cubicBezTo>
                  <a:cubicBezTo>
                    <a:pt x="870252" y="13043"/>
                    <a:pt x="873112" y="19948"/>
                    <a:pt x="873112" y="27149"/>
                  </a:cubicBezTo>
                  <a:lnTo>
                    <a:pt x="873112" y="495456"/>
                  </a:lnTo>
                  <a:cubicBezTo>
                    <a:pt x="873112" y="502657"/>
                    <a:pt x="870252" y="509562"/>
                    <a:pt x="865161" y="514653"/>
                  </a:cubicBezTo>
                  <a:cubicBezTo>
                    <a:pt x="860069" y="519745"/>
                    <a:pt x="853164" y="522605"/>
                    <a:pt x="845963" y="522605"/>
                  </a:cubicBezTo>
                  <a:lnTo>
                    <a:pt x="27149" y="522605"/>
                  </a:lnTo>
                  <a:cubicBezTo>
                    <a:pt x="19948" y="522605"/>
                    <a:pt x="13043" y="519745"/>
                    <a:pt x="7952" y="514653"/>
                  </a:cubicBezTo>
                  <a:cubicBezTo>
                    <a:pt x="2860" y="509562"/>
                    <a:pt x="0" y="502657"/>
                    <a:pt x="0" y="495456"/>
                  </a:cubicBezTo>
                  <a:lnTo>
                    <a:pt x="0" y="27149"/>
                  </a:lnTo>
                  <a:cubicBezTo>
                    <a:pt x="0" y="19948"/>
                    <a:pt x="2860" y="13043"/>
                    <a:pt x="7952" y="7952"/>
                  </a:cubicBezTo>
                  <a:cubicBezTo>
                    <a:pt x="13043" y="2860"/>
                    <a:pt x="19948" y="0"/>
                    <a:pt x="2714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873112" cy="579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 b="true">
                  <a:solidFill>
                    <a:srgbClr val="813D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Falta de Vista Centralizada</a:t>
              </a:r>
            </a:p>
            <a:p>
              <a:pPr algn="ctr">
                <a:lnSpc>
                  <a:spcPts val="3639"/>
                </a:lnSpc>
              </a:pP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Fragmentación del dinero entre múltiples bancos y efectivo, lo que dificulta consolidar ingresos y egresos en un solo lugar.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0" y="6437844"/>
            <a:ext cx="6050951" cy="2838766"/>
            <a:chOff x="0" y="0"/>
            <a:chExt cx="948559" cy="4450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8559" cy="445011"/>
            </a:xfrm>
            <a:custGeom>
              <a:avLst/>
              <a:gdLst/>
              <a:ahLst/>
              <a:cxnLst/>
              <a:rect r="r" b="b" t="t" l="l"/>
              <a:pathLst>
                <a:path h="445011" w="948559">
                  <a:moveTo>
                    <a:pt x="24989" y="0"/>
                  </a:moveTo>
                  <a:lnTo>
                    <a:pt x="923569" y="0"/>
                  </a:lnTo>
                  <a:cubicBezTo>
                    <a:pt x="930197" y="0"/>
                    <a:pt x="936553" y="2633"/>
                    <a:pt x="941240" y="7319"/>
                  </a:cubicBezTo>
                  <a:cubicBezTo>
                    <a:pt x="945926" y="12006"/>
                    <a:pt x="948559" y="18362"/>
                    <a:pt x="948559" y="24989"/>
                  </a:cubicBezTo>
                  <a:lnTo>
                    <a:pt x="948559" y="420021"/>
                  </a:lnTo>
                  <a:cubicBezTo>
                    <a:pt x="948559" y="433822"/>
                    <a:pt x="937371" y="445011"/>
                    <a:pt x="923569" y="445011"/>
                  </a:cubicBezTo>
                  <a:lnTo>
                    <a:pt x="24989" y="445011"/>
                  </a:lnTo>
                  <a:cubicBezTo>
                    <a:pt x="18362" y="445011"/>
                    <a:pt x="12006" y="442378"/>
                    <a:pt x="7319" y="437691"/>
                  </a:cubicBezTo>
                  <a:cubicBezTo>
                    <a:pt x="2633" y="433005"/>
                    <a:pt x="0" y="426649"/>
                    <a:pt x="0" y="420021"/>
                  </a:cubicBezTo>
                  <a:lnTo>
                    <a:pt x="0" y="24989"/>
                  </a:lnTo>
                  <a:cubicBezTo>
                    <a:pt x="0" y="18362"/>
                    <a:pt x="2633" y="12006"/>
                    <a:pt x="7319" y="7319"/>
                  </a:cubicBezTo>
                  <a:cubicBezTo>
                    <a:pt x="12006" y="2633"/>
                    <a:pt x="18362" y="0"/>
                    <a:pt x="2498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48559" cy="492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813D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Sorpresas a Fin de Mes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Ausencia de alertas preventivas antes de sobrepasar un presupuesto o quedar con saldo en cero.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362521" y="1338609"/>
            <a:ext cx="1423284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‘’</a:t>
            </a:r>
            <a:r>
              <a:rPr lang="en-US" b="true" sz="4500" strike="noStrike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Visibilidad Limitada en las Finanzas Personales</a:t>
            </a:r>
            <a:r>
              <a:rPr lang="en-US" b="true" sz="4500" strike="noStrike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’’</a:t>
            </a:r>
          </a:p>
        </p:txBody>
      </p:sp>
      <p:sp>
        <p:nvSpPr>
          <p:cNvPr name="AutoShape 19" id="19"/>
          <p:cNvSpPr/>
          <p:nvPr/>
        </p:nvSpPr>
        <p:spPr>
          <a:xfrm>
            <a:off x="2718930" y="737860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cover dir="l"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288541" y="629929"/>
            <a:ext cx="17507197" cy="605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5412639" y="350234"/>
            <a:ext cx="2440231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 N</a:t>
            </a:r>
            <a:r>
              <a:rPr lang="en-US" b="true" sz="3000" strike="noStrike" u="non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b="true" sz="3000" strike="noStrike" u="non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cesidad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663999" y="1914872"/>
            <a:ext cx="5819780" cy="3571875"/>
            <a:chOff x="0" y="0"/>
            <a:chExt cx="912320" cy="5599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2320" cy="559934"/>
            </a:xfrm>
            <a:custGeom>
              <a:avLst/>
              <a:gdLst/>
              <a:ahLst/>
              <a:cxnLst/>
              <a:rect r="r" b="b" t="t" l="l"/>
              <a:pathLst>
                <a:path h="559934" w="912320">
                  <a:moveTo>
                    <a:pt x="25982" y="0"/>
                  </a:moveTo>
                  <a:lnTo>
                    <a:pt x="886338" y="0"/>
                  </a:lnTo>
                  <a:cubicBezTo>
                    <a:pt x="893229" y="0"/>
                    <a:pt x="899838" y="2737"/>
                    <a:pt x="904710" y="7610"/>
                  </a:cubicBezTo>
                  <a:cubicBezTo>
                    <a:pt x="909583" y="12483"/>
                    <a:pt x="912320" y="19091"/>
                    <a:pt x="912320" y="25982"/>
                  </a:cubicBezTo>
                  <a:lnTo>
                    <a:pt x="912320" y="533952"/>
                  </a:lnTo>
                  <a:cubicBezTo>
                    <a:pt x="912320" y="540843"/>
                    <a:pt x="909583" y="547452"/>
                    <a:pt x="904710" y="552324"/>
                  </a:cubicBezTo>
                  <a:cubicBezTo>
                    <a:pt x="899838" y="557197"/>
                    <a:pt x="893229" y="559934"/>
                    <a:pt x="886338" y="559934"/>
                  </a:cubicBezTo>
                  <a:lnTo>
                    <a:pt x="25982" y="559934"/>
                  </a:lnTo>
                  <a:cubicBezTo>
                    <a:pt x="19091" y="559934"/>
                    <a:pt x="12483" y="557197"/>
                    <a:pt x="7610" y="552324"/>
                  </a:cubicBezTo>
                  <a:cubicBezTo>
                    <a:pt x="2737" y="547452"/>
                    <a:pt x="0" y="540843"/>
                    <a:pt x="0" y="533952"/>
                  </a:cubicBezTo>
                  <a:lnTo>
                    <a:pt x="0" y="25982"/>
                  </a:lnTo>
                  <a:cubicBezTo>
                    <a:pt x="0" y="19091"/>
                    <a:pt x="2737" y="12483"/>
                    <a:pt x="7610" y="7610"/>
                  </a:cubicBezTo>
                  <a:cubicBezTo>
                    <a:pt x="12483" y="2737"/>
                    <a:pt x="19091" y="0"/>
                    <a:pt x="25982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912320" cy="607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 b="true">
                  <a:solidFill>
                    <a:srgbClr val="813D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Organización Integral Simple 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Gestionar en un solo lugar Billetera (efectivo/cuentas), Tarjetas de Crédito, Presupuestos por categoría y Metas de ahorro.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147126" y="1914872"/>
            <a:ext cx="5672821" cy="3571875"/>
            <a:chOff x="0" y="0"/>
            <a:chExt cx="889282" cy="5599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9282" cy="559934"/>
            </a:xfrm>
            <a:custGeom>
              <a:avLst/>
              <a:gdLst/>
              <a:ahLst/>
              <a:cxnLst/>
              <a:rect r="r" b="b" t="t" l="l"/>
              <a:pathLst>
                <a:path h="559934" w="889282">
                  <a:moveTo>
                    <a:pt x="26655" y="0"/>
                  </a:moveTo>
                  <a:lnTo>
                    <a:pt x="862627" y="0"/>
                  </a:lnTo>
                  <a:cubicBezTo>
                    <a:pt x="869697" y="0"/>
                    <a:pt x="876477" y="2808"/>
                    <a:pt x="881475" y="7807"/>
                  </a:cubicBezTo>
                  <a:cubicBezTo>
                    <a:pt x="886474" y="12806"/>
                    <a:pt x="889282" y="19586"/>
                    <a:pt x="889282" y="26655"/>
                  </a:cubicBezTo>
                  <a:lnTo>
                    <a:pt x="889282" y="533279"/>
                  </a:lnTo>
                  <a:cubicBezTo>
                    <a:pt x="889282" y="548000"/>
                    <a:pt x="877349" y="559934"/>
                    <a:pt x="862627" y="559934"/>
                  </a:cubicBezTo>
                  <a:lnTo>
                    <a:pt x="26655" y="559934"/>
                  </a:lnTo>
                  <a:cubicBezTo>
                    <a:pt x="11934" y="559934"/>
                    <a:pt x="0" y="548000"/>
                    <a:pt x="0" y="533279"/>
                  </a:cubicBezTo>
                  <a:lnTo>
                    <a:pt x="0" y="26655"/>
                  </a:lnTo>
                  <a:cubicBezTo>
                    <a:pt x="0" y="11934"/>
                    <a:pt x="11934" y="0"/>
                    <a:pt x="26655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89282" cy="607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 b="true">
                  <a:solidFill>
                    <a:srgbClr val="813D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Planificación Anticipada (Agenda Financiera) 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Un calendario claro para visualizar cuentas por pagar y cobros pendientes, permitiendo preparar el bolsillo para gastos futuros.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663999" y="5686425"/>
            <a:ext cx="5819780" cy="3571875"/>
            <a:chOff x="0" y="0"/>
            <a:chExt cx="912320" cy="559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2320" cy="559934"/>
            </a:xfrm>
            <a:custGeom>
              <a:avLst/>
              <a:gdLst/>
              <a:ahLst/>
              <a:cxnLst/>
              <a:rect r="r" b="b" t="t" l="l"/>
              <a:pathLst>
                <a:path h="559934" w="912320">
                  <a:moveTo>
                    <a:pt x="25982" y="0"/>
                  </a:moveTo>
                  <a:lnTo>
                    <a:pt x="886338" y="0"/>
                  </a:lnTo>
                  <a:cubicBezTo>
                    <a:pt x="893229" y="0"/>
                    <a:pt x="899838" y="2737"/>
                    <a:pt x="904710" y="7610"/>
                  </a:cubicBezTo>
                  <a:cubicBezTo>
                    <a:pt x="909583" y="12483"/>
                    <a:pt x="912320" y="19091"/>
                    <a:pt x="912320" y="25982"/>
                  </a:cubicBezTo>
                  <a:lnTo>
                    <a:pt x="912320" y="533952"/>
                  </a:lnTo>
                  <a:cubicBezTo>
                    <a:pt x="912320" y="540843"/>
                    <a:pt x="909583" y="547452"/>
                    <a:pt x="904710" y="552324"/>
                  </a:cubicBezTo>
                  <a:cubicBezTo>
                    <a:pt x="899838" y="557197"/>
                    <a:pt x="893229" y="559934"/>
                    <a:pt x="886338" y="559934"/>
                  </a:cubicBezTo>
                  <a:lnTo>
                    <a:pt x="25982" y="559934"/>
                  </a:lnTo>
                  <a:cubicBezTo>
                    <a:pt x="19091" y="559934"/>
                    <a:pt x="12483" y="557197"/>
                    <a:pt x="7610" y="552324"/>
                  </a:cubicBezTo>
                  <a:cubicBezTo>
                    <a:pt x="2737" y="547452"/>
                    <a:pt x="0" y="540843"/>
                    <a:pt x="0" y="533952"/>
                  </a:cubicBezTo>
                  <a:lnTo>
                    <a:pt x="0" y="25982"/>
                  </a:lnTo>
                  <a:cubicBezTo>
                    <a:pt x="0" y="19091"/>
                    <a:pt x="2737" y="12483"/>
                    <a:pt x="7610" y="7610"/>
                  </a:cubicBezTo>
                  <a:cubicBezTo>
                    <a:pt x="12483" y="2737"/>
                    <a:pt x="19091" y="0"/>
                    <a:pt x="25982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12320" cy="607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 b="true">
                  <a:solidFill>
                    <a:srgbClr val="813D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Visión de Disponibilidad Real 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Cálculo automático que muestra cuánto dinero se puede gastar realmente hoy (Saldo Total menos Gastos Pendientes de la Agenda).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47126" y="5686425"/>
            <a:ext cx="5672821" cy="3571875"/>
            <a:chOff x="0" y="0"/>
            <a:chExt cx="889282" cy="5599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9282" cy="559934"/>
            </a:xfrm>
            <a:custGeom>
              <a:avLst/>
              <a:gdLst/>
              <a:ahLst/>
              <a:cxnLst/>
              <a:rect r="r" b="b" t="t" l="l"/>
              <a:pathLst>
                <a:path h="559934" w="889282">
                  <a:moveTo>
                    <a:pt x="26655" y="0"/>
                  </a:moveTo>
                  <a:lnTo>
                    <a:pt x="862627" y="0"/>
                  </a:lnTo>
                  <a:cubicBezTo>
                    <a:pt x="869697" y="0"/>
                    <a:pt x="876477" y="2808"/>
                    <a:pt x="881475" y="7807"/>
                  </a:cubicBezTo>
                  <a:cubicBezTo>
                    <a:pt x="886474" y="12806"/>
                    <a:pt x="889282" y="19586"/>
                    <a:pt x="889282" y="26655"/>
                  </a:cubicBezTo>
                  <a:lnTo>
                    <a:pt x="889282" y="533279"/>
                  </a:lnTo>
                  <a:cubicBezTo>
                    <a:pt x="889282" y="548000"/>
                    <a:pt x="877349" y="559934"/>
                    <a:pt x="862627" y="559934"/>
                  </a:cubicBezTo>
                  <a:lnTo>
                    <a:pt x="26655" y="559934"/>
                  </a:lnTo>
                  <a:cubicBezTo>
                    <a:pt x="11934" y="559934"/>
                    <a:pt x="0" y="548000"/>
                    <a:pt x="0" y="533279"/>
                  </a:cubicBezTo>
                  <a:lnTo>
                    <a:pt x="0" y="26655"/>
                  </a:lnTo>
                  <a:cubicBezTo>
                    <a:pt x="0" y="11934"/>
                    <a:pt x="11934" y="0"/>
                    <a:pt x="26655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89282" cy="607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 b="true">
                  <a:solidFill>
                    <a:srgbClr val="813D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Experiencia Ligera e Intuitiva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Una aplicación, de acceso rápido y sin pasos innecesarios para facilitar el hábito diario del registro.</a:t>
              </a:r>
            </a:p>
          </p:txBody>
        </p:sp>
      </p:grpSp>
    </p:spTree>
  </p:cSld>
  <p:clrMapOvr>
    <a:masterClrMapping/>
  </p:clrMapOvr>
  <p:transition spd="fast">
    <p:cover dir="l"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6720" y="7971667"/>
            <a:ext cx="17404895" cy="1666875"/>
            <a:chOff x="0" y="0"/>
            <a:chExt cx="3581254" cy="3429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1254" cy="342978"/>
            </a:xfrm>
            <a:custGeom>
              <a:avLst/>
              <a:gdLst/>
              <a:ahLst/>
              <a:cxnLst/>
              <a:rect r="r" b="b" t="t" l="l"/>
              <a:pathLst>
                <a:path h="342978" w="3581254">
                  <a:moveTo>
                    <a:pt x="8688" y="0"/>
                  </a:moveTo>
                  <a:lnTo>
                    <a:pt x="3572566" y="0"/>
                  </a:lnTo>
                  <a:cubicBezTo>
                    <a:pt x="3577365" y="0"/>
                    <a:pt x="3581254" y="3890"/>
                    <a:pt x="3581254" y="8688"/>
                  </a:cubicBezTo>
                  <a:lnTo>
                    <a:pt x="3581254" y="334291"/>
                  </a:lnTo>
                  <a:cubicBezTo>
                    <a:pt x="3581254" y="336595"/>
                    <a:pt x="3580339" y="338805"/>
                    <a:pt x="3578710" y="340434"/>
                  </a:cubicBezTo>
                  <a:cubicBezTo>
                    <a:pt x="3577080" y="342063"/>
                    <a:pt x="3574871" y="342978"/>
                    <a:pt x="3572566" y="342978"/>
                  </a:cubicBezTo>
                  <a:lnTo>
                    <a:pt x="8688" y="342978"/>
                  </a:lnTo>
                  <a:cubicBezTo>
                    <a:pt x="6384" y="342978"/>
                    <a:pt x="4174" y="342063"/>
                    <a:pt x="2545" y="340434"/>
                  </a:cubicBezTo>
                  <a:cubicBezTo>
                    <a:pt x="915" y="338805"/>
                    <a:pt x="0" y="336595"/>
                    <a:pt x="0" y="334291"/>
                  </a:cubicBezTo>
                  <a:lnTo>
                    <a:pt x="0" y="8688"/>
                  </a:lnTo>
                  <a:cubicBezTo>
                    <a:pt x="0" y="6384"/>
                    <a:pt x="915" y="4174"/>
                    <a:pt x="2545" y="2545"/>
                  </a:cubicBezTo>
                  <a:cubicBezTo>
                    <a:pt x="4174" y="915"/>
                    <a:pt x="6384" y="0"/>
                    <a:pt x="8688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7D58B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581254" cy="400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b="true" sz="2599" strike="noStrike" u="non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Kyo</a:t>
              </a:r>
              <a:r>
                <a:rPr lang="en-US" sz="2599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true" sz="2599" strike="noStrike" u="none">
                  <a:solidFill>
                    <a:srgbClr val="813D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Vantage</a:t>
              </a:r>
              <a:r>
                <a:rPr lang="en-US" sz="2599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no busca restringir o juzgar el desempeño financiero del usuario, sino actuar como un copiloto que apoye su organización diaria, facilitando la prevención de sobreendeudamiento.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00250" y="6094531"/>
            <a:ext cx="14287500" cy="130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Plataforma e PW</a:t>
            </a: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de gestión financiera diseñada para transformar la forma en que los usuarios organizan su dinero diario, combinando control de tarjetas, presupuestos y modelos de inteligencia financiera.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85745" y="571500"/>
            <a:ext cx="20136185" cy="457200"/>
            <a:chOff x="0" y="0"/>
            <a:chExt cx="26848247" cy="609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4687870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813DF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 Solución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2717449" y="348263"/>
              <a:ext cx="24130798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287879" y="1770778"/>
            <a:ext cx="7712242" cy="3638825"/>
            <a:chOff x="0" y="0"/>
            <a:chExt cx="10282990" cy="485176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1631161" y="-428625"/>
              <a:ext cx="7020668" cy="3465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926"/>
                </a:lnSpc>
              </a:pPr>
              <a:r>
                <a:rPr lang="en-US" b="true" sz="14947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KYO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865787"/>
              <a:ext cx="10282990" cy="1985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04"/>
                </a:lnSpc>
              </a:pPr>
              <a:r>
                <a:rPr lang="en-US" b="true" sz="8931" spc="1563">
                  <a:solidFill>
                    <a:srgbClr val="8B5CF6"/>
                  </a:solidFill>
                  <a:latin typeface="Muli Bold"/>
                  <a:ea typeface="Muli Bold"/>
                  <a:cs typeface="Muli Bold"/>
                  <a:sym typeface="Muli Bold"/>
                </a:rPr>
                <a:t>VANTAGE</a:t>
              </a:r>
            </a:p>
          </p:txBody>
        </p:sp>
      </p:grpSp>
    </p:spTree>
  </p:cSld>
  <p:clrMapOvr>
    <a:masterClrMapping/>
  </p:clrMapOvr>
  <p:transition spd="fast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0827" y="514350"/>
            <a:ext cx="35159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 Solución</a:t>
            </a:r>
          </a:p>
        </p:txBody>
      </p:sp>
      <p:sp>
        <p:nvSpPr>
          <p:cNvPr name="AutoShape 3" id="3"/>
          <p:cNvSpPr/>
          <p:nvPr/>
        </p:nvSpPr>
        <p:spPr>
          <a:xfrm>
            <a:off x="2258439" y="832697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82678" y="3484802"/>
            <a:ext cx="1095375" cy="1018699"/>
          </a:xfrm>
          <a:custGeom>
            <a:avLst/>
            <a:gdLst/>
            <a:ahLst/>
            <a:cxnLst/>
            <a:rect r="r" b="b" t="t" l="l"/>
            <a:pathLst>
              <a:path h="1018699" w="1095375">
                <a:moveTo>
                  <a:pt x="0" y="0"/>
                </a:moveTo>
                <a:lnTo>
                  <a:pt x="1095375" y="0"/>
                </a:lnTo>
                <a:lnTo>
                  <a:pt x="1095375" y="1018699"/>
                </a:lnTo>
                <a:lnTo>
                  <a:pt x="0" y="1018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24050" y="3446464"/>
            <a:ext cx="1095375" cy="1095375"/>
          </a:xfrm>
          <a:custGeom>
            <a:avLst/>
            <a:gdLst/>
            <a:ahLst/>
            <a:cxnLst/>
            <a:rect r="r" b="b" t="t" l="l"/>
            <a:pathLst>
              <a:path h="1095375" w="1095375">
                <a:moveTo>
                  <a:pt x="0" y="0"/>
                </a:moveTo>
                <a:lnTo>
                  <a:pt x="1095375" y="0"/>
                </a:lnTo>
                <a:lnTo>
                  <a:pt x="1095375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2678" y="6564313"/>
            <a:ext cx="1095375" cy="1095375"/>
          </a:xfrm>
          <a:custGeom>
            <a:avLst/>
            <a:gdLst/>
            <a:ahLst/>
            <a:cxnLst/>
            <a:rect r="r" b="b" t="t" l="l"/>
            <a:pathLst>
              <a:path h="1095375" w="1095375">
                <a:moveTo>
                  <a:pt x="0" y="0"/>
                </a:moveTo>
                <a:lnTo>
                  <a:pt x="1095375" y="0"/>
                </a:lnTo>
                <a:lnTo>
                  <a:pt x="1095375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66900" y="6586221"/>
            <a:ext cx="1095375" cy="1051560"/>
          </a:xfrm>
          <a:custGeom>
            <a:avLst/>
            <a:gdLst/>
            <a:ahLst/>
            <a:cxnLst/>
            <a:rect r="r" b="b" t="t" l="l"/>
            <a:pathLst>
              <a:path h="1051560" w="1095375">
                <a:moveTo>
                  <a:pt x="0" y="0"/>
                </a:moveTo>
                <a:lnTo>
                  <a:pt x="1095375" y="0"/>
                </a:lnTo>
                <a:lnTo>
                  <a:pt x="1095375" y="1051560"/>
                </a:lnTo>
                <a:lnTo>
                  <a:pt x="0" y="10515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16734" y="1808957"/>
            <a:ext cx="12454533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‘’G</a:t>
            </a:r>
            <a:r>
              <a:rPr lang="en-US" b="true" sz="4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estión Financiera Unificada e Inteligente’’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77428" y="3479802"/>
            <a:ext cx="36573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Billetera &amp; Tarjetas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77428" y="6692901"/>
            <a:ext cx="422671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Presupuestos &amp; Metas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73576" y="3479802"/>
            <a:ext cx="398174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Agenda &amp; Dashboard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73576" y="6692901"/>
            <a:ext cx="528295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Modelos de IA Incorporados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77428" y="4392216"/>
            <a:ext cx="5534874" cy="130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</a:t>
            </a: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rol de dinero líquido disponible y seguimiento detallado de deudas, cuotas y fechas de pago.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77428" y="7512051"/>
            <a:ext cx="5380548" cy="130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Definición</a:t>
            </a: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límites de gasto por categoría y seguimiento de ahorro enfocado en objetivos.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73576" y="4392216"/>
            <a:ext cx="5282952" cy="130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Proyección</a:t>
            </a: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cobros/pagos futuros y cálculo instantáneo del dinero libre disponible real.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73576" y="7512051"/>
            <a:ext cx="6031746" cy="174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Evaluación automatizada del Niv</a:t>
            </a: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de Salud Financiera y Detección de Anomalías (tendencia a fin de mes en $0).</a:t>
            </a:r>
          </a:p>
        </p:txBody>
      </p:sp>
    </p:spTree>
  </p:cSld>
  <p:clrMapOvr>
    <a:masterClrMapping/>
  </p:clrMapOvr>
  <p:transition spd="fast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4724" y="2634148"/>
            <a:ext cx="16498553" cy="6783774"/>
          </a:xfrm>
          <a:custGeom>
            <a:avLst/>
            <a:gdLst/>
            <a:ahLst/>
            <a:cxnLst/>
            <a:rect r="r" b="b" t="t" l="l"/>
            <a:pathLst>
              <a:path h="6783774" w="16498553">
                <a:moveTo>
                  <a:pt x="0" y="0"/>
                </a:moveTo>
                <a:lnTo>
                  <a:pt x="16498552" y="0"/>
                </a:lnTo>
                <a:lnTo>
                  <a:pt x="16498552" y="6783775"/>
                </a:lnTo>
                <a:lnTo>
                  <a:pt x="0" y="6783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7" t="-1899" r="-232" b="-83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270150" y="476250"/>
            <a:ext cx="479741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 Requerimientos Funcionales (RF)</a:t>
            </a:r>
          </a:p>
        </p:txBody>
      </p:sp>
      <p:sp>
        <p:nvSpPr>
          <p:cNvPr name="AutoShape 4" id="4"/>
          <p:cNvSpPr/>
          <p:nvPr/>
        </p:nvSpPr>
        <p:spPr>
          <a:xfrm>
            <a:off x="-3414047" y="1126839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5367" y="602990"/>
            <a:ext cx="3586232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 Requerimientos No Funcionales (RNF)</a:t>
            </a:r>
          </a:p>
        </p:txBody>
      </p:sp>
      <p:sp>
        <p:nvSpPr>
          <p:cNvPr name="AutoShape 3" id="3"/>
          <p:cNvSpPr/>
          <p:nvPr/>
        </p:nvSpPr>
        <p:spPr>
          <a:xfrm>
            <a:off x="3952154" y="1133100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42535" y="3833957"/>
            <a:ext cx="17288927" cy="3786639"/>
          </a:xfrm>
          <a:custGeom>
            <a:avLst/>
            <a:gdLst/>
            <a:ahLst/>
            <a:cxnLst/>
            <a:rect r="r" b="b" t="t" l="l"/>
            <a:pathLst>
              <a:path h="3786639" w="17288927">
                <a:moveTo>
                  <a:pt x="0" y="0"/>
                </a:moveTo>
                <a:lnTo>
                  <a:pt x="17288927" y="0"/>
                </a:lnTo>
                <a:lnTo>
                  <a:pt x="17288927" y="3786639"/>
                </a:lnTo>
                <a:lnTo>
                  <a:pt x="0" y="3786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2" t="-5026" r="-1121" b="-6752"/>
            </a:stretch>
          </a:blipFill>
        </p:spPr>
      </p:sp>
    </p:spTree>
  </p:cSld>
  <p:clrMapOvr>
    <a:masterClrMapping/>
  </p:clrMapOvr>
  <p:transition spd="fast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4019166" y="702580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946893" y="1731396"/>
            <a:ext cx="1190625" cy="1190625"/>
          </a:xfrm>
          <a:custGeom>
            <a:avLst/>
            <a:gdLst/>
            <a:ahLst/>
            <a:cxnLst/>
            <a:rect r="r" b="b" t="t" l="l"/>
            <a:pathLst>
              <a:path h="1190625" w="1190625">
                <a:moveTo>
                  <a:pt x="0" y="0"/>
                </a:moveTo>
                <a:lnTo>
                  <a:pt x="1190625" y="0"/>
                </a:lnTo>
                <a:lnTo>
                  <a:pt x="1190625" y="1190625"/>
                </a:lnTo>
                <a:lnTo>
                  <a:pt x="0" y="1190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48688" y="1731396"/>
            <a:ext cx="1190625" cy="1190625"/>
          </a:xfrm>
          <a:custGeom>
            <a:avLst/>
            <a:gdLst/>
            <a:ahLst/>
            <a:cxnLst/>
            <a:rect r="r" b="b" t="t" l="l"/>
            <a:pathLst>
              <a:path h="1190625" w="1190625">
                <a:moveTo>
                  <a:pt x="0" y="0"/>
                </a:moveTo>
                <a:lnTo>
                  <a:pt x="1190625" y="0"/>
                </a:lnTo>
                <a:lnTo>
                  <a:pt x="1190625" y="1190625"/>
                </a:lnTo>
                <a:lnTo>
                  <a:pt x="0" y="1190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78932" y="1769053"/>
            <a:ext cx="1240234" cy="1190625"/>
          </a:xfrm>
          <a:custGeom>
            <a:avLst/>
            <a:gdLst/>
            <a:ahLst/>
            <a:cxnLst/>
            <a:rect r="r" b="b" t="t" l="l"/>
            <a:pathLst>
              <a:path h="1190625" w="1240234">
                <a:moveTo>
                  <a:pt x="0" y="0"/>
                </a:moveTo>
                <a:lnTo>
                  <a:pt x="1240234" y="0"/>
                </a:lnTo>
                <a:lnTo>
                  <a:pt x="1240234" y="1190625"/>
                </a:lnTo>
                <a:lnTo>
                  <a:pt x="0" y="11906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47289" y="5912293"/>
            <a:ext cx="1526442" cy="1190625"/>
          </a:xfrm>
          <a:custGeom>
            <a:avLst/>
            <a:gdLst/>
            <a:ahLst/>
            <a:cxnLst/>
            <a:rect r="r" b="b" t="t" l="l"/>
            <a:pathLst>
              <a:path h="1190625" w="1526442">
                <a:moveTo>
                  <a:pt x="0" y="0"/>
                </a:moveTo>
                <a:lnTo>
                  <a:pt x="1526442" y="0"/>
                </a:lnTo>
                <a:lnTo>
                  <a:pt x="1526442" y="1190625"/>
                </a:lnTo>
                <a:lnTo>
                  <a:pt x="0" y="11906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83740" y="5867977"/>
            <a:ext cx="1587500" cy="1190625"/>
          </a:xfrm>
          <a:custGeom>
            <a:avLst/>
            <a:gdLst/>
            <a:ahLst/>
            <a:cxnLst/>
            <a:rect r="r" b="b" t="t" l="l"/>
            <a:pathLst>
              <a:path h="1190625" w="1587500">
                <a:moveTo>
                  <a:pt x="0" y="0"/>
                </a:moveTo>
                <a:lnTo>
                  <a:pt x="1587500" y="0"/>
                </a:lnTo>
                <a:lnTo>
                  <a:pt x="1587500" y="1190625"/>
                </a:lnTo>
                <a:lnTo>
                  <a:pt x="0" y="1190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215832" y="407305"/>
            <a:ext cx="413097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 Épicas del proyecto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0955" y="2864871"/>
            <a:ext cx="47625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Autenticación y Gestión de Usuarios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4979" y="4207010"/>
            <a:ext cx="5238750" cy="130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Garantizar el acceso seguro y la gestión de sesiones diferenciada por entornos.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62750" y="2864871"/>
            <a:ext cx="47625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Core de Gestión Financiera Unificada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4625" y="4207010"/>
            <a:ext cx="5238750" cy="130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Refactorizar los módulos principales a una SPA fluida para eliminar la fricción del usuario.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23501" y="4207453"/>
            <a:ext cx="5238750" cy="130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Incorporar analítica avanzada para asesorar y alertar al usuario de forma automática.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14885" y="8388793"/>
            <a:ext cx="6191250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Advertir al usuario en el momento justo antes de sobrepasar sus límites.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81865" y="8344477"/>
            <a:ext cx="6191250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Elevar el rendimiento, la velocidad de consulta y la estabilidad del sistema.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61626" y="2864871"/>
            <a:ext cx="47625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Motor de Inteligencia Financiera (IA)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53010" y="7045768"/>
            <a:ext cx="57150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de Comunicaciones y Notificaciones Proactivas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19990" y="7001452"/>
            <a:ext cx="57150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Optimización de Infraestructura y DB</a:t>
            </a:r>
          </a:p>
        </p:txBody>
      </p:sp>
    </p:spTree>
  </p:cSld>
  <p:clrMapOvr>
    <a:masterClrMapping/>
  </p:clrMapOvr>
  <p:transition spd="fast">
    <p:cover dir="l"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38581" y="3238011"/>
            <a:ext cx="6355012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Necesito visualizar mi módulo de billetera con el des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glose de mis cuentas bancarias y efectivo, con la finalidad de conocer la distribución de mi dinero en un solo lugar.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Necesito visualizar un resumen general de mi balance financiero, con la finalidad de gestionar mis gastos del mes en curso y planificarme de mejor forma.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7158" y="1504461"/>
            <a:ext cx="5124042" cy="774795"/>
            <a:chOff x="0" y="0"/>
            <a:chExt cx="6832056" cy="103305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516530"/>
              <a:ext cx="6832056" cy="127000"/>
              <a:chOff x="0" y="0"/>
              <a:chExt cx="1349542" cy="2508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349542" cy="25086"/>
              </a:xfrm>
              <a:custGeom>
                <a:avLst/>
                <a:gdLst/>
                <a:ahLst/>
                <a:cxnLst/>
                <a:rect r="r" b="b" t="t" l="l"/>
                <a:pathLst>
                  <a:path h="25086" w="1349542">
                    <a:moveTo>
                      <a:pt x="12543" y="0"/>
                    </a:moveTo>
                    <a:lnTo>
                      <a:pt x="1336999" y="0"/>
                    </a:lnTo>
                    <a:cubicBezTo>
                      <a:pt x="1340325" y="0"/>
                      <a:pt x="1343516" y="1322"/>
                      <a:pt x="1345868" y="3674"/>
                    </a:cubicBezTo>
                    <a:cubicBezTo>
                      <a:pt x="1348220" y="6026"/>
                      <a:pt x="1349542" y="9217"/>
                      <a:pt x="1349542" y="12543"/>
                    </a:cubicBezTo>
                    <a:lnTo>
                      <a:pt x="1349542" y="12543"/>
                    </a:lnTo>
                    <a:cubicBezTo>
                      <a:pt x="1349542" y="19471"/>
                      <a:pt x="1343926" y="25086"/>
                      <a:pt x="1336999" y="25086"/>
                    </a:cubicBezTo>
                    <a:lnTo>
                      <a:pt x="12543" y="25086"/>
                    </a:lnTo>
                    <a:cubicBezTo>
                      <a:pt x="5616" y="25086"/>
                      <a:pt x="0" y="19471"/>
                      <a:pt x="0" y="12543"/>
                    </a:cubicBezTo>
                    <a:lnTo>
                      <a:pt x="0" y="12543"/>
                    </a:lnTo>
                    <a:cubicBezTo>
                      <a:pt x="0" y="5616"/>
                      <a:pt x="5616" y="0"/>
                      <a:pt x="12543" y="0"/>
                    </a:cubicBez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349542" cy="631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2860286" y="0"/>
              <a:ext cx="1111483" cy="1033059"/>
              <a:chOff x="0" y="0"/>
              <a:chExt cx="202431" cy="18814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2431" cy="188148"/>
              </a:xfrm>
              <a:custGeom>
                <a:avLst/>
                <a:gdLst/>
                <a:ahLst/>
                <a:cxnLst/>
                <a:rect r="r" b="b" t="t" l="l"/>
                <a:pathLst>
                  <a:path h="188148" w="202431">
                    <a:moveTo>
                      <a:pt x="101216" y="0"/>
                    </a:moveTo>
                    <a:cubicBezTo>
                      <a:pt x="45316" y="0"/>
                      <a:pt x="0" y="42118"/>
                      <a:pt x="0" y="94074"/>
                    </a:cubicBezTo>
                    <a:cubicBezTo>
                      <a:pt x="0" y="146030"/>
                      <a:pt x="45316" y="188148"/>
                      <a:pt x="101216" y="188148"/>
                    </a:cubicBezTo>
                    <a:cubicBezTo>
                      <a:pt x="157115" y="188148"/>
                      <a:pt x="202431" y="146030"/>
                      <a:pt x="202431" y="94074"/>
                    </a:cubicBezTo>
                    <a:cubicBezTo>
                      <a:pt x="202431" y="42118"/>
                      <a:pt x="157115" y="0"/>
                      <a:pt x="101216" y="0"/>
                    </a:cubicBez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8978" y="-20461"/>
                <a:ext cx="164475" cy="1909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  <a:r>
                  <a:rPr lang="en-US" b="true" sz="2199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1</a:t>
                </a: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561567" y="427749"/>
            <a:ext cx="355266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 Historias de Usuarios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38581" y="2477645"/>
            <a:ext cx="148307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Usu</a:t>
            </a: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85326" y="2593923"/>
            <a:ext cx="148307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Usu</a:t>
            </a: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40975" y="3354288"/>
            <a:ext cx="4762500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Necesito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registrar mis metas financieras, con la finalidad de evaluar si mis ingresos actuales me permitirán cumplirlas en el tiempo previsto.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7158" y="2477645"/>
            <a:ext cx="167074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Usu</a:t>
            </a: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7158" y="3182495"/>
            <a:ext cx="5124042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Necesito conta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con un menú de accesos directos en la pantalla principal, con la finalidad de acceder rápidamente a mis secciones más utilizadas sin pasos intermedios.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7158" y="8183850"/>
            <a:ext cx="26213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</a:t>
            </a: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arrollador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7158" y="8774400"/>
            <a:ext cx="17336317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Necesito probar refactorizaciones y nuevos modelos de I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en un entorno de Staging aislado (staging - app.kyovantage.cl), con la finalidad de no poner en riesgo la disponibilidad del sistema en producción.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338581" y="1530966"/>
            <a:ext cx="6355012" cy="843313"/>
            <a:chOff x="0" y="0"/>
            <a:chExt cx="8473350" cy="112441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481003"/>
              <a:ext cx="8473350" cy="162410"/>
              <a:chOff x="0" y="0"/>
              <a:chExt cx="1673748" cy="3208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673748" cy="32081"/>
              </a:xfrm>
              <a:custGeom>
                <a:avLst/>
                <a:gdLst/>
                <a:ahLst/>
                <a:cxnLst/>
                <a:rect r="r" b="b" t="t" l="l"/>
                <a:pathLst>
                  <a:path h="32081" w="1673748">
                    <a:moveTo>
                      <a:pt x="16041" y="0"/>
                    </a:moveTo>
                    <a:lnTo>
                      <a:pt x="1657708" y="0"/>
                    </a:lnTo>
                    <a:cubicBezTo>
                      <a:pt x="1666566" y="0"/>
                      <a:pt x="1673748" y="7182"/>
                      <a:pt x="1673748" y="16041"/>
                    </a:cubicBezTo>
                    <a:lnTo>
                      <a:pt x="1673748" y="16041"/>
                    </a:lnTo>
                    <a:cubicBezTo>
                      <a:pt x="1673748" y="20295"/>
                      <a:pt x="1672058" y="24375"/>
                      <a:pt x="1669050" y="27383"/>
                    </a:cubicBezTo>
                    <a:cubicBezTo>
                      <a:pt x="1666042" y="30391"/>
                      <a:pt x="1661962" y="32081"/>
                      <a:pt x="1657708" y="32081"/>
                    </a:cubicBezTo>
                    <a:lnTo>
                      <a:pt x="16041" y="32081"/>
                    </a:lnTo>
                    <a:cubicBezTo>
                      <a:pt x="11786" y="32081"/>
                      <a:pt x="7706" y="30391"/>
                      <a:pt x="4698" y="27383"/>
                    </a:cubicBezTo>
                    <a:cubicBezTo>
                      <a:pt x="1690" y="24375"/>
                      <a:pt x="0" y="20295"/>
                      <a:pt x="0" y="16041"/>
                    </a:cubicBezTo>
                    <a:lnTo>
                      <a:pt x="0" y="16041"/>
                    </a:lnTo>
                    <a:cubicBezTo>
                      <a:pt x="0" y="11786"/>
                      <a:pt x="1690" y="7706"/>
                      <a:pt x="4698" y="4698"/>
                    </a:cubicBezTo>
                    <a:cubicBezTo>
                      <a:pt x="7706" y="1690"/>
                      <a:pt x="11786" y="0"/>
                      <a:pt x="16041" y="0"/>
                    </a:cubicBezTo>
                    <a:close/>
                  </a:path>
                </a:pathLst>
              </a:custGeom>
              <a:solidFill>
                <a:srgbClr val="7C3AED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673748" cy="701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3650038" y="0"/>
              <a:ext cx="1173273" cy="1124417"/>
              <a:chOff x="0" y="0"/>
              <a:chExt cx="251062" cy="24060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51062" cy="240608"/>
              </a:xfrm>
              <a:custGeom>
                <a:avLst/>
                <a:gdLst/>
                <a:ahLst/>
                <a:cxnLst/>
                <a:rect r="r" b="b" t="t" l="l"/>
                <a:pathLst>
                  <a:path h="240608" w="251062">
                    <a:moveTo>
                      <a:pt x="125531" y="0"/>
                    </a:moveTo>
                    <a:cubicBezTo>
                      <a:pt x="56202" y="0"/>
                      <a:pt x="0" y="53862"/>
                      <a:pt x="0" y="120304"/>
                    </a:cubicBezTo>
                    <a:cubicBezTo>
                      <a:pt x="0" y="186746"/>
                      <a:pt x="56202" y="240608"/>
                      <a:pt x="125531" y="240608"/>
                    </a:cubicBezTo>
                    <a:cubicBezTo>
                      <a:pt x="194860" y="240608"/>
                      <a:pt x="251062" y="186746"/>
                      <a:pt x="251062" y="120304"/>
                    </a:cubicBezTo>
                    <a:cubicBezTo>
                      <a:pt x="251062" y="53862"/>
                      <a:pt x="194860" y="0"/>
                      <a:pt x="125531" y="0"/>
                    </a:cubicBez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23537" y="-15543"/>
                <a:ext cx="203988" cy="2335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079"/>
                  </a:lnSpc>
                  <a:spcBef>
                    <a:spcPct val="0"/>
                  </a:spcBef>
                </a:pPr>
                <a:r>
                  <a:rPr lang="en-US" b="true" sz="2199" strike="noStrike" u="non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2</a:t>
                </a: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3240975" y="1421670"/>
            <a:ext cx="4762500" cy="875000"/>
            <a:chOff x="0" y="0"/>
            <a:chExt cx="6350000" cy="116666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583333"/>
              <a:ext cx="6350000" cy="168343"/>
              <a:chOff x="0" y="0"/>
              <a:chExt cx="1254321" cy="3325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254321" cy="33253"/>
              </a:xfrm>
              <a:custGeom>
                <a:avLst/>
                <a:gdLst/>
                <a:ahLst/>
                <a:cxnLst/>
                <a:rect r="r" b="b" t="t" l="l"/>
                <a:pathLst>
                  <a:path h="33253" w="1254321">
                    <a:moveTo>
                      <a:pt x="16626" y="0"/>
                    </a:moveTo>
                    <a:lnTo>
                      <a:pt x="1237695" y="0"/>
                    </a:lnTo>
                    <a:cubicBezTo>
                      <a:pt x="1242104" y="0"/>
                      <a:pt x="1246333" y="1752"/>
                      <a:pt x="1249451" y="4870"/>
                    </a:cubicBezTo>
                    <a:cubicBezTo>
                      <a:pt x="1252569" y="7988"/>
                      <a:pt x="1254321" y="12217"/>
                      <a:pt x="1254321" y="16626"/>
                    </a:cubicBezTo>
                    <a:lnTo>
                      <a:pt x="1254321" y="16626"/>
                    </a:lnTo>
                    <a:cubicBezTo>
                      <a:pt x="1254321" y="25809"/>
                      <a:pt x="1246877" y="33253"/>
                      <a:pt x="1237695" y="33253"/>
                    </a:cubicBezTo>
                    <a:lnTo>
                      <a:pt x="16626" y="33253"/>
                    </a:lnTo>
                    <a:cubicBezTo>
                      <a:pt x="7444" y="33253"/>
                      <a:pt x="0" y="25809"/>
                      <a:pt x="0" y="16626"/>
                    </a:cubicBezTo>
                    <a:lnTo>
                      <a:pt x="0" y="16626"/>
                    </a:lnTo>
                    <a:cubicBezTo>
                      <a:pt x="0" y="7444"/>
                      <a:pt x="7444" y="0"/>
                      <a:pt x="16626" y="0"/>
                    </a:cubicBezTo>
                    <a:close/>
                  </a:path>
                </a:pathLst>
              </a:custGeom>
              <a:solidFill>
                <a:srgbClr val="7C3AED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254321" cy="713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2598281" y="0"/>
              <a:ext cx="1153437" cy="1166667"/>
              <a:chOff x="0" y="0"/>
              <a:chExt cx="246569" cy="24939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46569" cy="249397"/>
              </a:xfrm>
              <a:custGeom>
                <a:avLst/>
                <a:gdLst/>
                <a:ahLst/>
                <a:cxnLst/>
                <a:rect r="r" b="b" t="t" l="l"/>
                <a:pathLst>
                  <a:path h="249397" w="246569">
                    <a:moveTo>
                      <a:pt x="123285" y="0"/>
                    </a:moveTo>
                    <a:cubicBezTo>
                      <a:pt x="55196" y="0"/>
                      <a:pt x="0" y="55829"/>
                      <a:pt x="0" y="124699"/>
                    </a:cubicBezTo>
                    <a:cubicBezTo>
                      <a:pt x="0" y="193568"/>
                      <a:pt x="55196" y="249397"/>
                      <a:pt x="123285" y="249397"/>
                    </a:cubicBezTo>
                    <a:cubicBezTo>
                      <a:pt x="191373" y="249397"/>
                      <a:pt x="246569" y="193568"/>
                      <a:pt x="246569" y="124699"/>
                    </a:cubicBezTo>
                    <a:cubicBezTo>
                      <a:pt x="246569" y="55829"/>
                      <a:pt x="191373" y="0"/>
                      <a:pt x="123285" y="0"/>
                    </a:cubicBez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23116" y="-14719"/>
                <a:ext cx="200337" cy="2407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079"/>
                  </a:lnSpc>
                  <a:spcBef>
                    <a:spcPct val="0"/>
                  </a:spcBef>
                </a:pPr>
                <a:r>
                  <a:rPr lang="en-US" b="true" sz="2199" strike="noStrike" u="non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3</a:t>
                </a: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0" y="7372291"/>
            <a:ext cx="18288000" cy="868709"/>
            <a:chOff x="0" y="0"/>
            <a:chExt cx="24384000" cy="1158278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579139"/>
              <a:ext cx="24384000" cy="141901"/>
              <a:chOff x="0" y="0"/>
              <a:chExt cx="4816593" cy="2803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816592" cy="28030"/>
              </a:xfrm>
              <a:custGeom>
                <a:avLst/>
                <a:gdLst/>
                <a:ahLst/>
                <a:cxnLst/>
                <a:rect r="r" b="b" t="t" l="l"/>
                <a:pathLst>
                  <a:path h="28030" w="4816592">
                    <a:moveTo>
                      <a:pt x="14015" y="0"/>
                    </a:moveTo>
                    <a:lnTo>
                      <a:pt x="4802577" y="0"/>
                    </a:lnTo>
                    <a:cubicBezTo>
                      <a:pt x="4806295" y="0"/>
                      <a:pt x="4809859" y="1477"/>
                      <a:pt x="4812488" y="4105"/>
                    </a:cubicBezTo>
                    <a:cubicBezTo>
                      <a:pt x="4815116" y="6733"/>
                      <a:pt x="4816592" y="10298"/>
                      <a:pt x="4816592" y="14015"/>
                    </a:cubicBezTo>
                    <a:lnTo>
                      <a:pt x="4816592" y="14015"/>
                    </a:lnTo>
                    <a:cubicBezTo>
                      <a:pt x="4816592" y="21755"/>
                      <a:pt x="4810318" y="28030"/>
                      <a:pt x="4802577" y="28030"/>
                    </a:cubicBezTo>
                    <a:lnTo>
                      <a:pt x="14015" y="28030"/>
                    </a:lnTo>
                    <a:cubicBezTo>
                      <a:pt x="10298" y="28030"/>
                      <a:pt x="6733" y="26553"/>
                      <a:pt x="4105" y="23925"/>
                    </a:cubicBezTo>
                    <a:cubicBezTo>
                      <a:pt x="1477" y="21297"/>
                      <a:pt x="0" y="17732"/>
                      <a:pt x="0" y="14015"/>
                    </a:cubicBezTo>
                    <a:lnTo>
                      <a:pt x="0" y="14015"/>
                    </a:lnTo>
                    <a:cubicBezTo>
                      <a:pt x="0" y="10298"/>
                      <a:pt x="1477" y="6733"/>
                      <a:pt x="4105" y="4105"/>
                    </a:cubicBezTo>
                    <a:cubicBezTo>
                      <a:pt x="6733" y="1477"/>
                      <a:pt x="10298" y="0"/>
                      <a:pt x="14015" y="0"/>
                    </a:cubicBez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4816593" cy="661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11528547" y="0"/>
              <a:ext cx="1263530" cy="1158278"/>
              <a:chOff x="0" y="0"/>
              <a:chExt cx="229327" cy="210224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29327" cy="210224"/>
              </a:xfrm>
              <a:custGeom>
                <a:avLst/>
                <a:gdLst/>
                <a:ahLst/>
                <a:cxnLst/>
                <a:rect r="r" b="b" t="t" l="l"/>
                <a:pathLst>
                  <a:path h="210224" w="229327">
                    <a:moveTo>
                      <a:pt x="114664" y="0"/>
                    </a:moveTo>
                    <a:cubicBezTo>
                      <a:pt x="51337" y="0"/>
                      <a:pt x="0" y="47060"/>
                      <a:pt x="0" y="105112"/>
                    </a:cubicBezTo>
                    <a:cubicBezTo>
                      <a:pt x="0" y="163164"/>
                      <a:pt x="51337" y="210224"/>
                      <a:pt x="114664" y="210224"/>
                    </a:cubicBezTo>
                    <a:cubicBezTo>
                      <a:pt x="177990" y="210224"/>
                      <a:pt x="229327" y="163164"/>
                      <a:pt x="229327" y="105112"/>
                    </a:cubicBezTo>
                    <a:cubicBezTo>
                      <a:pt x="229327" y="47060"/>
                      <a:pt x="177990" y="0"/>
                      <a:pt x="114664" y="0"/>
                    </a:cubicBez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21499" y="-18391"/>
                <a:ext cx="186328" cy="2089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  <a:r>
                  <a:rPr lang="en-US" b="true" sz="2199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4</a:t>
                </a:r>
              </a:p>
            </p:txBody>
          </p:sp>
        </p:grpSp>
      </p:grpSp>
      <p:sp>
        <p:nvSpPr>
          <p:cNvPr name="AutoShape 39" id="39"/>
          <p:cNvSpPr/>
          <p:nvPr/>
        </p:nvSpPr>
        <p:spPr>
          <a:xfrm>
            <a:off x="4251997" y="732549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60020"/>
            <a:ext cx="18288000" cy="10126980"/>
          </a:xfrm>
          <a:custGeom>
            <a:avLst/>
            <a:gdLst/>
            <a:ahLst/>
            <a:cxnLst/>
            <a:rect r="r" b="b" t="t" l="l"/>
            <a:pathLst>
              <a:path h="10126980" w="18288000">
                <a:moveTo>
                  <a:pt x="0" y="0"/>
                </a:moveTo>
                <a:lnTo>
                  <a:pt x="18288000" y="0"/>
                </a:lnTo>
                <a:lnTo>
                  <a:pt x="18288000" y="10126980"/>
                </a:lnTo>
                <a:lnTo>
                  <a:pt x="0" y="10126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6951" y="390322"/>
            <a:ext cx="6437585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 Arquitectura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‘’Flujo del Sistema e Infraestructura 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Kyo</a:t>
            </a:r>
            <a:r>
              <a:rPr lang="en-US" sz="3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0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Vantage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’’</a:t>
            </a:r>
          </a:p>
        </p:txBody>
      </p:sp>
    </p:spTree>
  </p:cSld>
  <p:clrMapOvr>
    <a:masterClrMapping/>
  </p:clrMapOvr>
  <p:transition spd="fast">
    <p:cover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hlinkClick r:id="rId3" tooltip="https://dbdiagram.io/d/6acfdf8faebfe7a21fefff24"/>
          </p:cNvPr>
          <p:cNvSpPr/>
          <p:nvPr/>
        </p:nvSpPr>
        <p:spPr>
          <a:xfrm flipH="false" flipV="false" rot="0">
            <a:off x="5171424" y="0"/>
            <a:ext cx="9779079" cy="10287000"/>
          </a:xfrm>
          <a:custGeom>
            <a:avLst/>
            <a:gdLst/>
            <a:ahLst/>
            <a:cxnLst/>
            <a:rect r="r" b="b" t="t" l="l"/>
            <a:pathLst>
              <a:path h="10287000" w="9779079">
                <a:moveTo>
                  <a:pt x="0" y="0"/>
                </a:moveTo>
                <a:lnTo>
                  <a:pt x="9779079" y="0"/>
                </a:lnTo>
                <a:lnTo>
                  <a:pt x="977907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6951" y="390322"/>
            <a:ext cx="643758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 Modelo de datos</a:t>
            </a:r>
          </a:p>
        </p:txBody>
      </p:sp>
    </p:spTree>
  </p:cSld>
  <p:clrMapOvr>
    <a:masterClrMapping/>
  </p:clrMapOvr>
  <p:transition spd="fast">
    <p:cover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59230" y="2414426"/>
            <a:ext cx="5569540" cy="5458149"/>
          </a:xfrm>
          <a:custGeom>
            <a:avLst/>
            <a:gdLst/>
            <a:ahLst/>
            <a:cxnLst/>
            <a:rect r="r" b="b" t="t" l="l"/>
            <a:pathLst>
              <a:path h="5458149" w="5569540">
                <a:moveTo>
                  <a:pt x="0" y="0"/>
                </a:moveTo>
                <a:lnTo>
                  <a:pt x="5569540" y="0"/>
                </a:lnTo>
                <a:lnTo>
                  <a:pt x="5569540" y="5458148"/>
                </a:lnTo>
                <a:lnTo>
                  <a:pt x="0" y="5458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7028045" y="714867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536758" y="3156036"/>
            <a:ext cx="714375" cy="642938"/>
          </a:xfrm>
          <a:custGeom>
            <a:avLst/>
            <a:gdLst/>
            <a:ahLst/>
            <a:cxnLst/>
            <a:rect r="r" b="b" t="t" l="l"/>
            <a:pathLst>
              <a:path h="642938" w="714375">
                <a:moveTo>
                  <a:pt x="0" y="0"/>
                </a:moveTo>
                <a:lnTo>
                  <a:pt x="714375" y="0"/>
                </a:lnTo>
                <a:lnTo>
                  <a:pt x="714375" y="642938"/>
                </a:lnTo>
                <a:lnTo>
                  <a:pt x="0" y="6429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99906" y="3077941"/>
            <a:ext cx="714375" cy="710803"/>
          </a:xfrm>
          <a:custGeom>
            <a:avLst/>
            <a:gdLst/>
            <a:ahLst/>
            <a:cxnLst/>
            <a:rect r="r" b="b" t="t" l="l"/>
            <a:pathLst>
              <a:path h="710803" w="714375">
                <a:moveTo>
                  <a:pt x="0" y="0"/>
                </a:moveTo>
                <a:lnTo>
                  <a:pt x="714375" y="0"/>
                </a:lnTo>
                <a:lnTo>
                  <a:pt x="714375" y="710803"/>
                </a:lnTo>
                <a:lnTo>
                  <a:pt x="0" y="7108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44358" y="5425807"/>
            <a:ext cx="714375" cy="740285"/>
          </a:xfrm>
          <a:custGeom>
            <a:avLst/>
            <a:gdLst/>
            <a:ahLst/>
            <a:cxnLst/>
            <a:rect r="r" b="b" t="t" l="l"/>
            <a:pathLst>
              <a:path h="740285" w="714375">
                <a:moveTo>
                  <a:pt x="0" y="0"/>
                </a:moveTo>
                <a:lnTo>
                  <a:pt x="714375" y="0"/>
                </a:lnTo>
                <a:lnTo>
                  <a:pt x="714375" y="740285"/>
                </a:lnTo>
                <a:lnTo>
                  <a:pt x="0" y="7402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55196" y="6709524"/>
            <a:ext cx="714375" cy="748037"/>
          </a:xfrm>
          <a:custGeom>
            <a:avLst/>
            <a:gdLst/>
            <a:ahLst/>
            <a:cxnLst/>
            <a:rect r="r" b="b" t="t" l="l"/>
            <a:pathLst>
              <a:path h="748037" w="714375">
                <a:moveTo>
                  <a:pt x="0" y="0"/>
                </a:moveTo>
                <a:lnTo>
                  <a:pt x="714375" y="0"/>
                </a:lnTo>
                <a:lnTo>
                  <a:pt x="714375" y="748037"/>
                </a:lnTo>
                <a:lnTo>
                  <a:pt x="0" y="748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54918" y="5290212"/>
            <a:ext cx="714375" cy="736469"/>
          </a:xfrm>
          <a:custGeom>
            <a:avLst/>
            <a:gdLst/>
            <a:ahLst/>
            <a:cxnLst/>
            <a:rect r="r" b="b" t="t" l="l"/>
            <a:pathLst>
              <a:path h="736469" w="714375">
                <a:moveTo>
                  <a:pt x="0" y="0"/>
                </a:moveTo>
                <a:lnTo>
                  <a:pt x="714375" y="0"/>
                </a:lnTo>
                <a:lnTo>
                  <a:pt x="714375" y="736469"/>
                </a:lnTo>
                <a:lnTo>
                  <a:pt x="0" y="736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440035" y="419592"/>
            <a:ext cx="664351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 Metodología de desarrollo Scrum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492681"/>
            <a:ext cx="318112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 Backlog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164194"/>
            <a:ext cx="4762500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Historias de usuario enfocadas en la gestión financiera, modelos de IA y optimización SPA/PWA.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96800" y="1919125"/>
            <a:ext cx="47625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b="true" sz="2999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Planning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54870" y="2572242"/>
            <a:ext cx="500443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Definir objetivos de refactorización UX/UI, modelos de IA e infraestructura por sprint.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96800" y="4362450"/>
            <a:ext cx="47625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b="true" sz="2999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Daily Scrum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08092" y="6773544"/>
            <a:ext cx="47625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b="true" sz="2999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Review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675214"/>
            <a:ext cx="400655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Retrospective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52745" y="5129705"/>
            <a:ext cx="400655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Sincronizar avances entre frontend SPA, API en FastAPI y base de datos.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40035" y="7507952"/>
            <a:ext cx="5930557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Demostrar prototipos funcionales e incrementos del sistema en Staging.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6515779"/>
            <a:ext cx="476250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Evaluación e implementación de mejoras continuas en el flujo de desarrollo.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8977977"/>
            <a:ext cx="16230600" cy="76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‘’</a:t>
            </a: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Nuestra aproximación ágil nos permite adaptarnos rápidamente a las necesidades de los usuarios y entregar valor financiero de forma incremental’’.</a:t>
            </a:r>
          </a:p>
        </p:txBody>
      </p:sp>
    </p:spTree>
  </p:cSld>
  <p:clrMapOvr>
    <a:masterClrMapping/>
  </p:clrMapOvr>
  <p:transition spd="fast">
    <p:cover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81200" y="2882968"/>
            <a:ext cx="2857500" cy="2857500"/>
            <a:chOff x="0" y="0"/>
            <a:chExt cx="442702" cy="442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2702" cy="442702"/>
            </a:xfrm>
            <a:custGeom>
              <a:avLst/>
              <a:gdLst/>
              <a:ahLst/>
              <a:cxnLst/>
              <a:rect r="r" b="b" t="t" l="l"/>
              <a:pathLst>
                <a:path h="442702" w="442702">
                  <a:moveTo>
                    <a:pt x="62315" y="0"/>
                  </a:moveTo>
                  <a:lnTo>
                    <a:pt x="380387" y="0"/>
                  </a:lnTo>
                  <a:cubicBezTo>
                    <a:pt x="414802" y="0"/>
                    <a:pt x="442702" y="27899"/>
                    <a:pt x="442702" y="62315"/>
                  </a:cubicBezTo>
                  <a:lnTo>
                    <a:pt x="442702" y="380387"/>
                  </a:lnTo>
                  <a:cubicBezTo>
                    <a:pt x="442702" y="414802"/>
                    <a:pt x="414802" y="442702"/>
                    <a:pt x="380387" y="442702"/>
                  </a:cubicBezTo>
                  <a:lnTo>
                    <a:pt x="62315" y="442702"/>
                  </a:lnTo>
                  <a:cubicBezTo>
                    <a:pt x="27899" y="442702"/>
                    <a:pt x="0" y="414802"/>
                    <a:pt x="0" y="380387"/>
                  </a:cubicBezTo>
                  <a:lnTo>
                    <a:pt x="0" y="62315"/>
                  </a:lnTo>
                  <a:cubicBezTo>
                    <a:pt x="0" y="27899"/>
                    <a:pt x="27899" y="0"/>
                    <a:pt x="6231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-5024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49300" y="2875650"/>
            <a:ext cx="2857500" cy="2857500"/>
            <a:chOff x="0" y="0"/>
            <a:chExt cx="442702" cy="4427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2702" cy="442702"/>
            </a:xfrm>
            <a:custGeom>
              <a:avLst/>
              <a:gdLst/>
              <a:ahLst/>
              <a:cxnLst/>
              <a:rect r="r" b="b" t="t" l="l"/>
              <a:pathLst>
                <a:path h="442702" w="442702">
                  <a:moveTo>
                    <a:pt x="62315" y="0"/>
                  </a:moveTo>
                  <a:lnTo>
                    <a:pt x="380387" y="0"/>
                  </a:lnTo>
                  <a:cubicBezTo>
                    <a:pt x="414802" y="0"/>
                    <a:pt x="442702" y="27899"/>
                    <a:pt x="442702" y="62315"/>
                  </a:cubicBezTo>
                  <a:lnTo>
                    <a:pt x="442702" y="380387"/>
                  </a:lnTo>
                  <a:cubicBezTo>
                    <a:pt x="442702" y="414802"/>
                    <a:pt x="414802" y="442702"/>
                    <a:pt x="380387" y="442702"/>
                  </a:cubicBezTo>
                  <a:lnTo>
                    <a:pt x="62315" y="442702"/>
                  </a:lnTo>
                  <a:cubicBezTo>
                    <a:pt x="27899" y="442702"/>
                    <a:pt x="0" y="414802"/>
                    <a:pt x="0" y="380387"/>
                  </a:cubicBezTo>
                  <a:lnTo>
                    <a:pt x="0" y="62315"/>
                  </a:lnTo>
                  <a:cubicBezTo>
                    <a:pt x="0" y="27899"/>
                    <a:pt x="27899" y="0"/>
                    <a:pt x="62315" y="0"/>
                  </a:cubicBezTo>
                  <a:close/>
                </a:path>
              </a:pathLst>
            </a:custGeom>
            <a:blipFill>
              <a:blip r:embed="rId3"/>
              <a:stretch>
                <a:fillRect l="-2324" t="0" r="-2324" b="0"/>
              </a:stretch>
            </a:blipFill>
          </p:spPr>
        </p:sp>
      </p:grpSp>
      <p:sp>
        <p:nvSpPr>
          <p:cNvPr name="AutoShape 6" id="6"/>
          <p:cNvSpPr/>
          <p:nvPr/>
        </p:nvSpPr>
        <p:spPr>
          <a:xfrm>
            <a:off x="2101390" y="680138"/>
            <a:ext cx="17877211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816458" y="2875650"/>
            <a:ext cx="2864818" cy="2864818"/>
          </a:xfrm>
          <a:custGeom>
            <a:avLst/>
            <a:gdLst/>
            <a:ahLst/>
            <a:cxnLst/>
            <a:rect r="r" b="b" t="t" l="l"/>
            <a:pathLst>
              <a:path h="2864818" w="2864818">
                <a:moveTo>
                  <a:pt x="0" y="0"/>
                </a:moveTo>
                <a:lnTo>
                  <a:pt x="2864817" y="0"/>
                </a:lnTo>
                <a:lnTo>
                  <a:pt x="2864817" y="2864818"/>
                </a:lnTo>
                <a:lnTo>
                  <a:pt x="0" y="2864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3333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3816" y="384863"/>
            <a:ext cx="201107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 Equipo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1612" y="5883309"/>
            <a:ext cx="404812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 Owner &amp; Dev. Team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19937" y="6150009"/>
            <a:ext cx="404812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Dev. Team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3988" y="5879667"/>
            <a:ext cx="404812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Scrum Master &amp; </a:t>
            </a:r>
          </a:p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Dev. Team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96800" y="7073934"/>
            <a:ext cx="4762500" cy="262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Facilitación del marco Scrum, </a:t>
            </a: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Diseño del plan de pruebas, ejecución de pruebas de calidad (QA) y gestión de la documentación integral del proyecto.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71275" y="7073901"/>
            <a:ext cx="4762500" cy="130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Investigación, desarrollo, entrenamiento e integración de los modelos de 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073901"/>
            <a:ext cx="4762500" cy="262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Defini</a:t>
            </a: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ción y priorización del Product Backlog representando las necesidades del usuario final (adultos jóvenes) y arquitectura general del sistema.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08806" y="1297675"/>
            <a:ext cx="1108743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‘’La Fuerza Detrás de Kyo </a:t>
            </a:r>
            <a:r>
              <a:rPr lang="en-US" sz="50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Vantage</a:t>
            </a:r>
            <a:r>
              <a:rPr lang="en-US" sz="5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’’</a:t>
            </a:r>
          </a:p>
        </p:txBody>
      </p:sp>
    </p:spTree>
  </p:cSld>
  <p:clrMapOvr>
    <a:masterClrMapping/>
  </p:clrMapOvr>
  <p:transition spd="fast">
    <p:cover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867406" y="740160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83393" y="4250363"/>
            <a:ext cx="12423529" cy="3771573"/>
          </a:xfrm>
          <a:custGeom>
            <a:avLst/>
            <a:gdLst/>
            <a:ahLst/>
            <a:cxnLst/>
            <a:rect r="r" b="b" t="t" l="l"/>
            <a:pathLst>
              <a:path h="3771573" w="12423529">
                <a:moveTo>
                  <a:pt x="0" y="0"/>
                </a:moveTo>
                <a:lnTo>
                  <a:pt x="12423529" y="0"/>
                </a:lnTo>
                <a:lnTo>
                  <a:pt x="12423529" y="3771573"/>
                </a:lnTo>
                <a:lnTo>
                  <a:pt x="0" y="3771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96627" y="3014000"/>
            <a:ext cx="5212045" cy="6244300"/>
          </a:xfrm>
          <a:custGeom>
            <a:avLst/>
            <a:gdLst/>
            <a:ahLst/>
            <a:cxnLst/>
            <a:rect r="r" b="b" t="t" l="l"/>
            <a:pathLst>
              <a:path h="6244300" w="5212045">
                <a:moveTo>
                  <a:pt x="0" y="0"/>
                </a:moveTo>
                <a:lnTo>
                  <a:pt x="5212045" y="0"/>
                </a:lnTo>
                <a:lnTo>
                  <a:pt x="5212045" y="6244300"/>
                </a:lnTo>
                <a:lnTo>
                  <a:pt x="0" y="6244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23154" y="414980"/>
            <a:ext cx="596484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 Evid</a:t>
            </a:r>
            <a:r>
              <a:rPr lang="en-US" b="true" sz="3000" strike="noStrike" u="non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encias reales por Sprint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02836" y="1176980"/>
            <a:ext cx="1368232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0</a:t>
            </a:r>
            <a:r>
              <a:rPr lang="en-US" sz="3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‘’Cimientos Técnicos &amp; Reestructuración BD (S1 – S2 / S3 – S4)’’</a:t>
            </a:r>
          </a:p>
        </p:txBody>
      </p:sp>
    </p:spTree>
  </p:cSld>
  <p:clrMapOvr>
    <a:masterClrMapping/>
  </p:clrMapOvr>
  <p:transition spd="fast">
    <p:cover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867406" y="740160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89487" y="3153273"/>
            <a:ext cx="8466474" cy="5640166"/>
          </a:xfrm>
          <a:custGeom>
            <a:avLst/>
            <a:gdLst/>
            <a:ahLst/>
            <a:cxnLst/>
            <a:rect r="r" b="b" t="t" l="l"/>
            <a:pathLst>
              <a:path h="5640166" w="8466474">
                <a:moveTo>
                  <a:pt x="0" y="0"/>
                </a:moveTo>
                <a:lnTo>
                  <a:pt x="8466474" y="0"/>
                </a:lnTo>
                <a:lnTo>
                  <a:pt x="8466474" y="5640166"/>
                </a:lnTo>
                <a:lnTo>
                  <a:pt x="0" y="56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97871" y="4044541"/>
            <a:ext cx="2362425" cy="3857630"/>
          </a:xfrm>
          <a:custGeom>
            <a:avLst/>
            <a:gdLst/>
            <a:ahLst/>
            <a:cxnLst/>
            <a:rect r="r" b="b" t="t" l="l"/>
            <a:pathLst>
              <a:path h="3857630" w="2362425">
                <a:moveTo>
                  <a:pt x="0" y="0"/>
                </a:moveTo>
                <a:lnTo>
                  <a:pt x="2362425" y="0"/>
                </a:lnTo>
                <a:lnTo>
                  <a:pt x="2362425" y="3857630"/>
                </a:lnTo>
                <a:lnTo>
                  <a:pt x="0" y="3857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8344" t="-36866" r="-35502" b="-5392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30751" y="4014637"/>
            <a:ext cx="2392329" cy="3887535"/>
          </a:xfrm>
          <a:custGeom>
            <a:avLst/>
            <a:gdLst/>
            <a:ahLst/>
            <a:cxnLst/>
            <a:rect r="r" b="b" t="t" l="l"/>
            <a:pathLst>
              <a:path h="3887535" w="2392329">
                <a:moveTo>
                  <a:pt x="0" y="0"/>
                </a:moveTo>
                <a:lnTo>
                  <a:pt x="2392329" y="0"/>
                </a:lnTo>
                <a:lnTo>
                  <a:pt x="2392329" y="3887534"/>
                </a:lnTo>
                <a:lnTo>
                  <a:pt x="0" y="3887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5615" t="-36583" r="-341308" b="-5273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323154" y="414980"/>
            <a:ext cx="596484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 Evid</a:t>
            </a:r>
            <a:r>
              <a:rPr lang="en-US" b="true" sz="3000" strike="noStrike" u="non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encias reales por Sprint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02836" y="1176980"/>
            <a:ext cx="1368232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0</a:t>
            </a:r>
            <a:r>
              <a:rPr lang="en-US" sz="3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‘’Cimientos Técnicos &amp; Reestructuración BD (S1 – S2 / S3 – S4)’’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94042" y="3505778"/>
            <a:ext cx="206574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Inicio del Sprint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46210" y="3505778"/>
            <a:ext cx="206574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 del Sprint</a:t>
            </a:r>
          </a:p>
        </p:txBody>
      </p:sp>
    </p:spTree>
  </p:cSld>
  <p:clrMapOvr>
    <a:masterClrMapping/>
  </p:clrMapOvr>
  <p:transition spd="fast">
    <p:cover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867406" y="740160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2323154" y="414980"/>
            <a:ext cx="596484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 Evid</a:t>
            </a:r>
            <a:r>
              <a:rPr lang="en-US" b="true" sz="3000" strike="noStrike" u="non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encias reales por Sprint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02836" y="1176980"/>
            <a:ext cx="1368232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0</a:t>
            </a:r>
            <a:r>
              <a:rPr lang="en-US" sz="3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‘’Cimientos Técnicos &amp; Reestructuración BD (S1 – S2 / S3 – S4)’’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341836" y="3145780"/>
            <a:ext cx="5604327" cy="6283138"/>
          </a:xfrm>
          <a:custGeom>
            <a:avLst/>
            <a:gdLst/>
            <a:ahLst/>
            <a:cxnLst/>
            <a:rect r="r" b="b" t="t" l="l"/>
            <a:pathLst>
              <a:path h="6283138" w="5604327">
                <a:moveTo>
                  <a:pt x="0" y="0"/>
                </a:moveTo>
                <a:lnTo>
                  <a:pt x="5604328" y="0"/>
                </a:lnTo>
                <a:lnTo>
                  <a:pt x="5604328" y="6283138"/>
                </a:lnTo>
                <a:lnTo>
                  <a:pt x="0" y="6283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867406" y="740160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737273" y="3183914"/>
            <a:ext cx="5313372" cy="6221788"/>
          </a:xfrm>
          <a:custGeom>
            <a:avLst/>
            <a:gdLst/>
            <a:ahLst/>
            <a:cxnLst/>
            <a:rect r="r" b="b" t="t" l="l"/>
            <a:pathLst>
              <a:path h="6221788" w="5313372">
                <a:moveTo>
                  <a:pt x="0" y="0"/>
                </a:moveTo>
                <a:lnTo>
                  <a:pt x="5313373" y="0"/>
                </a:lnTo>
                <a:lnTo>
                  <a:pt x="5313373" y="6221788"/>
                </a:lnTo>
                <a:lnTo>
                  <a:pt x="0" y="6221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995" y="3409432"/>
            <a:ext cx="12179159" cy="5770754"/>
          </a:xfrm>
          <a:custGeom>
            <a:avLst/>
            <a:gdLst/>
            <a:ahLst/>
            <a:cxnLst/>
            <a:rect r="r" b="b" t="t" l="l"/>
            <a:pathLst>
              <a:path h="5770754" w="12179159">
                <a:moveTo>
                  <a:pt x="0" y="0"/>
                </a:moveTo>
                <a:lnTo>
                  <a:pt x="12179159" y="0"/>
                </a:lnTo>
                <a:lnTo>
                  <a:pt x="12179159" y="5770753"/>
                </a:lnTo>
                <a:lnTo>
                  <a:pt x="0" y="5770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23154" y="414980"/>
            <a:ext cx="596484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 Evid</a:t>
            </a:r>
            <a:r>
              <a:rPr lang="en-US" b="true" sz="3000" strike="noStrike" u="non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encias reales por Sprint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64644" y="1176980"/>
            <a:ext cx="1355871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1 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‘’</a:t>
            </a:r>
            <a:r>
              <a:rPr lang="en-US" b="true" sz="3000" strike="noStrike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Unificación de Módulos &amp; Navegación SPA (S5 – S7)’’</a:t>
            </a:r>
          </a:p>
        </p:txBody>
      </p:sp>
    </p:spTree>
  </p:cSld>
  <p:clrMapOvr>
    <a:masterClrMapping/>
  </p:clrMapOvr>
  <p:transition spd="fast">
    <p:cover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867406" y="740160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07318" y="3804278"/>
            <a:ext cx="8466474" cy="5640166"/>
          </a:xfrm>
          <a:custGeom>
            <a:avLst/>
            <a:gdLst/>
            <a:ahLst/>
            <a:cxnLst/>
            <a:rect r="r" b="b" t="t" l="l"/>
            <a:pathLst>
              <a:path h="5640166" w="8466474">
                <a:moveTo>
                  <a:pt x="0" y="0"/>
                </a:moveTo>
                <a:lnTo>
                  <a:pt x="8466473" y="0"/>
                </a:lnTo>
                <a:lnTo>
                  <a:pt x="8466473" y="5640166"/>
                </a:lnTo>
                <a:lnTo>
                  <a:pt x="0" y="56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01750" y="3618134"/>
            <a:ext cx="2242808" cy="6012453"/>
          </a:xfrm>
          <a:custGeom>
            <a:avLst/>
            <a:gdLst/>
            <a:ahLst/>
            <a:cxnLst/>
            <a:rect r="r" b="b" t="t" l="l"/>
            <a:pathLst>
              <a:path h="6012453" w="2242808">
                <a:moveTo>
                  <a:pt x="0" y="0"/>
                </a:moveTo>
                <a:lnTo>
                  <a:pt x="2242809" y="0"/>
                </a:lnTo>
                <a:lnTo>
                  <a:pt x="2242809" y="6012454"/>
                </a:lnTo>
                <a:lnTo>
                  <a:pt x="0" y="6012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3989" t="-22410" r="-36939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4475" y="3618134"/>
            <a:ext cx="2257760" cy="5876158"/>
          </a:xfrm>
          <a:custGeom>
            <a:avLst/>
            <a:gdLst/>
            <a:ahLst/>
            <a:cxnLst/>
            <a:rect r="r" b="b" t="t" l="l"/>
            <a:pathLst>
              <a:path h="5876158" w="2257760">
                <a:moveTo>
                  <a:pt x="0" y="0"/>
                </a:moveTo>
                <a:lnTo>
                  <a:pt x="2257761" y="0"/>
                </a:lnTo>
                <a:lnTo>
                  <a:pt x="2257761" y="5876159"/>
                </a:lnTo>
                <a:lnTo>
                  <a:pt x="0" y="58761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6413" t="-23693" r="-43108" b="-155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323154" y="414980"/>
            <a:ext cx="596484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 Evid</a:t>
            </a:r>
            <a:r>
              <a:rPr lang="en-US" b="true" sz="3000" strike="noStrike" u="non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encias reales por Sprint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64644" y="1176980"/>
            <a:ext cx="1355871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1 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‘’</a:t>
            </a:r>
            <a:r>
              <a:rPr lang="en-US" b="true" sz="3000" strike="noStrike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Unificación de Módulos &amp; Navegación SPA (S5 – S7)’’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90280" y="3054128"/>
            <a:ext cx="206574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Inicio del Sprint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90481" y="3054128"/>
            <a:ext cx="206574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 del Sprint</a:t>
            </a:r>
          </a:p>
        </p:txBody>
      </p:sp>
    </p:spTree>
  </p:cSld>
  <p:clrMapOvr>
    <a:masterClrMapping/>
  </p:clrMapOvr>
  <p:transition spd="fast">
    <p:cover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867406" y="740160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588739" y="3076521"/>
            <a:ext cx="5110521" cy="5928205"/>
          </a:xfrm>
          <a:custGeom>
            <a:avLst/>
            <a:gdLst/>
            <a:ahLst/>
            <a:cxnLst/>
            <a:rect r="r" b="b" t="t" l="l"/>
            <a:pathLst>
              <a:path h="5928205" w="5110521">
                <a:moveTo>
                  <a:pt x="0" y="0"/>
                </a:moveTo>
                <a:lnTo>
                  <a:pt x="5110522" y="0"/>
                </a:lnTo>
                <a:lnTo>
                  <a:pt x="5110522" y="5928205"/>
                </a:lnTo>
                <a:lnTo>
                  <a:pt x="0" y="59282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323154" y="414980"/>
            <a:ext cx="596484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 Evid</a:t>
            </a:r>
            <a:r>
              <a:rPr lang="en-US" b="true" sz="3000" strike="noStrike" u="non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encias reales por Sprint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64644" y="1176980"/>
            <a:ext cx="1355871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1 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‘’</a:t>
            </a:r>
            <a:r>
              <a:rPr lang="en-US" b="true" sz="3000" strike="noStrike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Unificación de Módulos &amp; Navegación SPA (S5 – S7)’’</a:t>
            </a:r>
          </a:p>
        </p:txBody>
      </p:sp>
    </p:spTree>
  </p:cSld>
  <p:clrMapOvr>
    <a:masterClrMapping/>
  </p:clrMapOvr>
  <p:transition spd="fast">
    <p:cover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867406" y="740160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230692" y="2898883"/>
            <a:ext cx="4314623" cy="6223673"/>
          </a:xfrm>
          <a:custGeom>
            <a:avLst/>
            <a:gdLst/>
            <a:ahLst/>
            <a:cxnLst/>
            <a:rect r="r" b="b" t="t" l="l"/>
            <a:pathLst>
              <a:path h="6223673" w="4314623">
                <a:moveTo>
                  <a:pt x="0" y="0"/>
                </a:moveTo>
                <a:lnTo>
                  <a:pt x="4314623" y="0"/>
                </a:lnTo>
                <a:lnTo>
                  <a:pt x="4314623" y="6223673"/>
                </a:lnTo>
                <a:lnTo>
                  <a:pt x="0" y="62236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4417" y="2898883"/>
            <a:ext cx="9976808" cy="6305016"/>
          </a:xfrm>
          <a:custGeom>
            <a:avLst/>
            <a:gdLst/>
            <a:ahLst/>
            <a:cxnLst/>
            <a:rect r="r" b="b" t="t" l="l"/>
            <a:pathLst>
              <a:path h="6305016" w="9976808">
                <a:moveTo>
                  <a:pt x="0" y="0"/>
                </a:moveTo>
                <a:lnTo>
                  <a:pt x="9976809" y="0"/>
                </a:lnTo>
                <a:lnTo>
                  <a:pt x="9976809" y="6305016"/>
                </a:lnTo>
                <a:lnTo>
                  <a:pt x="0" y="6305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23154" y="414980"/>
            <a:ext cx="596484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 Evid</a:t>
            </a:r>
            <a:r>
              <a:rPr lang="en-US" b="true" sz="3000" strike="noStrike" u="non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encias reales por Sprint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43622" y="1176980"/>
            <a:ext cx="1140075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2</a:t>
            </a:r>
            <a:r>
              <a:rPr lang="en-US" sz="3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‘’Agenda Financiera, Dashboard &amp; Web Push (S8 – S10)’’</a:t>
            </a:r>
          </a:p>
        </p:txBody>
      </p:sp>
    </p:spTree>
  </p:cSld>
  <p:clrMapOvr>
    <a:masterClrMapping/>
  </p:clrMapOvr>
  <p:transition spd="fast">
    <p:cover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867406" y="740160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4170" y="3386711"/>
            <a:ext cx="11499989" cy="4919070"/>
          </a:xfrm>
          <a:custGeom>
            <a:avLst/>
            <a:gdLst/>
            <a:ahLst/>
            <a:cxnLst/>
            <a:rect r="r" b="b" t="t" l="l"/>
            <a:pathLst>
              <a:path h="4919070" w="11499989">
                <a:moveTo>
                  <a:pt x="0" y="0"/>
                </a:moveTo>
                <a:lnTo>
                  <a:pt x="11499988" y="0"/>
                </a:lnTo>
                <a:lnTo>
                  <a:pt x="11499988" y="4919071"/>
                </a:lnTo>
                <a:lnTo>
                  <a:pt x="0" y="4919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94144" y="3558589"/>
            <a:ext cx="2227856" cy="5967597"/>
          </a:xfrm>
          <a:custGeom>
            <a:avLst/>
            <a:gdLst/>
            <a:ahLst/>
            <a:cxnLst/>
            <a:rect r="r" b="b" t="t" l="l"/>
            <a:pathLst>
              <a:path h="5967597" w="2227856">
                <a:moveTo>
                  <a:pt x="0" y="0"/>
                </a:moveTo>
                <a:lnTo>
                  <a:pt x="2227857" y="0"/>
                </a:lnTo>
                <a:lnTo>
                  <a:pt x="2227857" y="5967597"/>
                </a:lnTo>
                <a:lnTo>
                  <a:pt x="0" y="5967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6768" t="-23330" r="-370533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97222" y="3603446"/>
            <a:ext cx="2227856" cy="5922741"/>
          </a:xfrm>
          <a:custGeom>
            <a:avLst/>
            <a:gdLst/>
            <a:ahLst/>
            <a:cxnLst/>
            <a:rect r="r" b="b" t="t" l="l"/>
            <a:pathLst>
              <a:path h="5922741" w="2227856">
                <a:moveTo>
                  <a:pt x="0" y="0"/>
                </a:moveTo>
                <a:lnTo>
                  <a:pt x="2227856" y="0"/>
                </a:lnTo>
                <a:lnTo>
                  <a:pt x="2227856" y="5922740"/>
                </a:lnTo>
                <a:lnTo>
                  <a:pt x="0" y="5922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42942" t="-24264" r="-4435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323154" y="414980"/>
            <a:ext cx="596484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 Evid</a:t>
            </a:r>
            <a:r>
              <a:rPr lang="en-US" b="true" sz="3000" strike="noStrike" u="non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encias reales por Sprint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43622" y="1176980"/>
            <a:ext cx="1140075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2</a:t>
            </a:r>
            <a:r>
              <a:rPr lang="en-US" sz="3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‘’Agenda Financiera, Dashboard &amp; Web Push (S8 – S10)’’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75198" y="2859752"/>
            <a:ext cx="206574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Inicio del Sprint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78276" y="2859752"/>
            <a:ext cx="206574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 del Sprint</a:t>
            </a:r>
          </a:p>
        </p:txBody>
      </p:sp>
    </p:spTree>
  </p:cSld>
  <p:clrMapOvr>
    <a:masterClrMapping/>
  </p:clrMapOvr>
  <p:transition spd="fast">
    <p:cover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5867406" y="740160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49502" y="2837392"/>
            <a:ext cx="4988997" cy="6197134"/>
          </a:xfrm>
          <a:custGeom>
            <a:avLst/>
            <a:gdLst/>
            <a:ahLst/>
            <a:cxnLst/>
            <a:rect r="r" b="b" t="t" l="l"/>
            <a:pathLst>
              <a:path h="6197134" w="4988997">
                <a:moveTo>
                  <a:pt x="0" y="0"/>
                </a:moveTo>
                <a:lnTo>
                  <a:pt x="4988996" y="0"/>
                </a:lnTo>
                <a:lnTo>
                  <a:pt x="4988996" y="6197134"/>
                </a:lnTo>
                <a:lnTo>
                  <a:pt x="0" y="61971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323154" y="414980"/>
            <a:ext cx="596484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 Evid</a:t>
            </a:r>
            <a:r>
              <a:rPr lang="en-US" b="true" sz="3000" strike="noStrike" u="non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encias reales por Sprint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43622" y="1176980"/>
            <a:ext cx="1140075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813D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2</a:t>
            </a:r>
            <a:r>
              <a:rPr lang="en-US" sz="3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‘’Agenda Financiera, Dashboard &amp; Web Push (S8 – S10)’’</a:t>
            </a:r>
          </a:p>
        </p:txBody>
      </p:sp>
    </p:spTree>
  </p:cSld>
  <p:clrMapOvr>
    <a:masterClrMapping/>
  </p:clrMapOvr>
  <p:transition spd="fast">
    <p:cover dir="l"/>
  </p:transition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38581" y="3238011"/>
            <a:ext cx="6355012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Necesito visualizar mi módulo de billetera con el des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glose de mis cuentas bancarias y efectivo, con la finalidad de conocer la distribución de mi dinero en un solo lugar.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Necesito visualizar un resumen general de mi balance financiero, con la finalidad de gestionar mis gastos del mes en curso y planificarme de mejor forma.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7158" y="1504461"/>
            <a:ext cx="5124042" cy="774795"/>
            <a:chOff x="0" y="0"/>
            <a:chExt cx="6832056" cy="103305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516530"/>
              <a:ext cx="6832056" cy="127000"/>
              <a:chOff x="0" y="0"/>
              <a:chExt cx="1349542" cy="2508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349542" cy="25086"/>
              </a:xfrm>
              <a:custGeom>
                <a:avLst/>
                <a:gdLst/>
                <a:ahLst/>
                <a:cxnLst/>
                <a:rect r="r" b="b" t="t" l="l"/>
                <a:pathLst>
                  <a:path h="25086" w="1349542">
                    <a:moveTo>
                      <a:pt x="12543" y="0"/>
                    </a:moveTo>
                    <a:lnTo>
                      <a:pt x="1336999" y="0"/>
                    </a:lnTo>
                    <a:cubicBezTo>
                      <a:pt x="1340325" y="0"/>
                      <a:pt x="1343516" y="1322"/>
                      <a:pt x="1345868" y="3674"/>
                    </a:cubicBezTo>
                    <a:cubicBezTo>
                      <a:pt x="1348220" y="6026"/>
                      <a:pt x="1349542" y="9217"/>
                      <a:pt x="1349542" y="12543"/>
                    </a:cubicBezTo>
                    <a:lnTo>
                      <a:pt x="1349542" y="12543"/>
                    </a:lnTo>
                    <a:cubicBezTo>
                      <a:pt x="1349542" y="19471"/>
                      <a:pt x="1343926" y="25086"/>
                      <a:pt x="1336999" y="25086"/>
                    </a:cubicBezTo>
                    <a:lnTo>
                      <a:pt x="12543" y="25086"/>
                    </a:lnTo>
                    <a:cubicBezTo>
                      <a:pt x="5616" y="25086"/>
                      <a:pt x="0" y="19471"/>
                      <a:pt x="0" y="12543"/>
                    </a:cubicBezTo>
                    <a:lnTo>
                      <a:pt x="0" y="12543"/>
                    </a:lnTo>
                    <a:cubicBezTo>
                      <a:pt x="0" y="5616"/>
                      <a:pt x="5616" y="0"/>
                      <a:pt x="12543" y="0"/>
                    </a:cubicBezTo>
                    <a:close/>
                  </a:path>
                </a:pathLst>
              </a:custGeom>
              <a:solidFill>
                <a:srgbClr val="5CC891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349542" cy="631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2860286" y="0"/>
              <a:ext cx="1111483" cy="1033059"/>
              <a:chOff x="0" y="0"/>
              <a:chExt cx="202431" cy="18814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2431" cy="188148"/>
              </a:xfrm>
              <a:custGeom>
                <a:avLst/>
                <a:gdLst/>
                <a:ahLst/>
                <a:cxnLst/>
                <a:rect r="r" b="b" t="t" l="l"/>
                <a:pathLst>
                  <a:path h="188148" w="202431">
                    <a:moveTo>
                      <a:pt x="101216" y="0"/>
                    </a:moveTo>
                    <a:cubicBezTo>
                      <a:pt x="45316" y="0"/>
                      <a:pt x="0" y="42118"/>
                      <a:pt x="0" y="94074"/>
                    </a:cubicBezTo>
                    <a:cubicBezTo>
                      <a:pt x="0" y="146030"/>
                      <a:pt x="45316" y="188148"/>
                      <a:pt x="101216" y="188148"/>
                    </a:cubicBezTo>
                    <a:cubicBezTo>
                      <a:pt x="157115" y="188148"/>
                      <a:pt x="202431" y="146030"/>
                      <a:pt x="202431" y="94074"/>
                    </a:cubicBezTo>
                    <a:cubicBezTo>
                      <a:pt x="202431" y="42118"/>
                      <a:pt x="157115" y="0"/>
                      <a:pt x="101216" y="0"/>
                    </a:cubicBezTo>
                    <a:close/>
                  </a:path>
                </a:pathLst>
              </a:custGeom>
              <a:solidFill>
                <a:srgbClr val="5CC89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8978" y="-20461"/>
                <a:ext cx="164475" cy="1909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  <a:r>
                  <a:rPr lang="en-US" b="true" sz="2199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1</a:t>
                </a: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561567" y="427749"/>
            <a:ext cx="355266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16 Demostración en vivo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38581" y="2477645"/>
            <a:ext cx="148307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Usu</a:t>
            </a: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85326" y="2593923"/>
            <a:ext cx="148307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Usu</a:t>
            </a: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40975" y="3354288"/>
            <a:ext cx="4762500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Necesito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registrar mis metas financieras, con la finalidad de evaluar si mis ingresos actuales me permitirán cumplirlas en el tiempo previsto.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7158" y="2477645"/>
            <a:ext cx="167074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Usu</a:t>
            </a: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7158" y="3182495"/>
            <a:ext cx="5124042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Necesito conta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con un menú de accesos directos en la pantalla principal, con la finalidad de acceder rápidamente a mis secciones más utilizadas sin pasos intermedios.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7158" y="8183850"/>
            <a:ext cx="26213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</a:t>
            </a: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arrollador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7158" y="8774400"/>
            <a:ext cx="17336317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Necesito probar refactorizaciones y nuevos modelos de I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en un entorno de Staging aislado (staging - app.kyovantage.cl), con la finalidad de no poner en riesgo la disponibilidad del sistema en producción.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338581" y="1530966"/>
            <a:ext cx="6355012" cy="843313"/>
            <a:chOff x="0" y="0"/>
            <a:chExt cx="8473350" cy="112441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481003"/>
              <a:ext cx="8473350" cy="162410"/>
              <a:chOff x="0" y="0"/>
              <a:chExt cx="1673748" cy="3208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673748" cy="32081"/>
              </a:xfrm>
              <a:custGeom>
                <a:avLst/>
                <a:gdLst/>
                <a:ahLst/>
                <a:cxnLst/>
                <a:rect r="r" b="b" t="t" l="l"/>
                <a:pathLst>
                  <a:path h="32081" w="1673748">
                    <a:moveTo>
                      <a:pt x="16041" y="0"/>
                    </a:moveTo>
                    <a:lnTo>
                      <a:pt x="1657708" y="0"/>
                    </a:lnTo>
                    <a:cubicBezTo>
                      <a:pt x="1666566" y="0"/>
                      <a:pt x="1673748" y="7182"/>
                      <a:pt x="1673748" y="16041"/>
                    </a:cubicBezTo>
                    <a:lnTo>
                      <a:pt x="1673748" y="16041"/>
                    </a:lnTo>
                    <a:cubicBezTo>
                      <a:pt x="1673748" y="20295"/>
                      <a:pt x="1672058" y="24375"/>
                      <a:pt x="1669050" y="27383"/>
                    </a:cubicBezTo>
                    <a:cubicBezTo>
                      <a:pt x="1666042" y="30391"/>
                      <a:pt x="1661962" y="32081"/>
                      <a:pt x="1657708" y="32081"/>
                    </a:cubicBezTo>
                    <a:lnTo>
                      <a:pt x="16041" y="32081"/>
                    </a:lnTo>
                    <a:cubicBezTo>
                      <a:pt x="11786" y="32081"/>
                      <a:pt x="7706" y="30391"/>
                      <a:pt x="4698" y="27383"/>
                    </a:cubicBezTo>
                    <a:cubicBezTo>
                      <a:pt x="1690" y="24375"/>
                      <a:pt x="0" y="20295"/>
                      <a:pt x="0" y="16041"/>
                    </a:cubicBezTo>
                    <a:lnTo>
                      <a:pt x="0" y="16041"/>
                    </a:lnTo>
                    <a:cubicBezTo>
                      <a:pt x="0" y="11786"/>
                      <a:pt x="1690" y="7706"/>
                      <a:pt x="4698" y="4698"/>
                    </a:cubicBezTo>
                    <a:cubicBezTo>
                      <a:pt x="7706" y="1690"/>
                      <a:pt x="11786" y="0"/>
                      <a:pt x="16041" y="0"/>
                    </a:cubicBezTo>
                    <a:close/>
                  </a:path>
                </a:pathLst>
              </a:custGeom>
              <a:solidFill>
                <a:srgbClr val="5CC89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673748" cy="701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3650038" y="0"/>
              <a:ext cx="1173273" cy="1124417"/>
              <a:chOff x="0" y="0"/>
              <a:chExt cx="251062" cy="24060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51062" cy="240608"/>
              </a:xfrm>
              <a:custGeom>
                <a:avLst/>
                <a:gdLst/>
                <a:ahLst/>
                <a:cxnLst/>
                <a:rect r="r" b="b" t="t" l="l"/>
                <a:pathLst>
                  <a:path h="240608" w="251062">
                    <a:moveTo>
                      <a:pt x="125531" y="0"/>
                    </a:moveTo>
                    <a:cubicBezTo>
                      <a:pt x="56202" y="0"/>
                      <a:pt x="0" y="53862"/>
                      <a:pt x="0" y="120304"/>
                    </a:cubicBezTo>
                    <a:cubicBezTo>
                      <a:pt x="0" y="186746"/>
                      <a:pt x="56202" y="240608"/>
                      <a:pt x="125531" y="240608"/>
                    </a:cubicBezTo>
                    <a:cubicBezTo>
                      <a:pt x="194860" y="240608"/>
                      <a:pt x="251062" y="186746"/>
                      <a:pt x="251062" y="120304"/>
                    </a:cubicBezTo>
                    <a:cubicBezTo>
                      <a:pt x="251062" y="53862"/>
                      <a:pt x="194860" y="0"/>
                      <a:pt x="125531" y="0"/>
                    </a:cubicBezTo>
                    <a:close/>
                  </a:path>
                </a:pathLst>
              </a:custGeom>
              <a:solidFill>
                <a:srgbClr val="5CC891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23537" y="-15543"/>
                <a:ext cx="203988" cy="2335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079"/>
                  </a:lnSpc>
                  <a:spcBef>
                    <a:spcPct val="0"/>
                  </a:spcBef>
                </a:pPr>
                <a:r>
                  <a:rPr lang="en-US" b="true" sz="2199" strike="noStrike" u="non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2</a:t>
                </a: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3240975" y="1421670"/>
            <a:ext cx="4762500" cy="875000"/>
            <a:chOff x="0" y="0"/>
            <a:chExt cx="6350000" cy="116666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583333"/>
              <a:ext cx="6350000" cy="168343"/>
              <a:chOff x="0" y="0"/>
              <a:chExt cx="1254321" cy="3325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254321" cy="33253"/>
              </a:xfrm>
              <a:custGeom>
                <a:avLst/>
                <a:gdLst/>
                <a:ahLst/>
                <a:cxnLst/>
                <a:rect r="r" b="b" t="t" l="l"/>
                <a:pathLst>
                  <a:path h="33253" w="1254321">
                    <a:moveTo>
                      <a:pt x="16626" y="0"/>
                    </a:moveTo>
                    <a:lnTo>
                      <a:pt x="1237695" y="0"/>
                    </a:lnTo>
                    <a:cubicBezTo>
                      <a:pt x="1242104" y="0"/>
                      <a:pt x="1246333" y="1752"/>
                      <a:pt x="1249451" y="4870"/>
                    </a:cubicBezTo>
                    <a:cubicBezTo>
                      <a:pt x="1252569" y="7988"/>
                      <a:pt x="1254321" y="12217"/>
                      <a:pt x="1254321" y="16626"/>
                    </a:cubicBezTo>
                    <a:lnTo>
                      <a:pt x="1254321" y="16626"/>
                    </a:lnTo>
                    <a:cubicBezTo>
                      <a:pt x="1254321" y="25809"/>
                      <a:pt x="1246877" y="33253"/>
                      <a:pt x="1237695" y="33253"/>
                    </a:cubicBezTo>
                    <a:lnTo>
                      <a:pt x="16626" y="33253"/>
                    </a:lnTo>
                    <a:cubicBezTo>
                      <a:pt x="7444" y="33253"/>
                      <a:pt x="0" y="25809"/>
                      <a:pt x="0" y="16626"/>
                    </a:cubicBezTo>
                    <a:lnTo>
                      <a:pt x="0" y="16626"/>
                    </a:lnTo>
                    <a:cubicBezTo>
                      <a:pt x="0" y="7444"/>
                      <a:pt x="7444" y="0"/>
                      <a:pt x="16626" y="0"/>
                    </a:cubicBezTo>
                    <a:close/>
                  </a:path>
                </a:pathLst>
              </a:custGeom>
              <a:solidFill>
                <a:srgbClr val="5CC89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254321" cy="713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2598281" y="0"/>
              <a:ext cx="1153437" cy="1166667"/>
              <a:chOff x="0" y="0"/>
              <a:chExt cx="246569" cy="24939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46569" cy="249397"/>
              </a:xfrm>
              <a:custGeom>
                <a:avLst/>
                <a:gdLst/>
                <a:ahLst/>
                <a:cxnLst/>
                <a:rect r="r" b="b" t="t" l="l"/>
                <a:pathLst>
                  <a:path h="249397" w="246569">
                    <a:moveTo>
                      <a:pt x="123285" y="0"/>
                    </a:moveTo>
                    <a:cubicBezTo>
                      <a:pt x="55196" y="0"/>
                      <a:pt x="0" y="55829"/>
                      <a:pt x="0" y="124699"/>
                    </a:cubicBezTo>
                    <a:cubicBezTo>
                      <a:pt x="0" y="193568"/>
                      <a:pt x="55196" y="249397"/>
                      <a:pt x="123285" y="249397"/>
                    </a:cubicBezTo>
                    <a:cubicBezTo>
                      <a:pt x="191373" y="249397"/>
                      <a:pt x="246569" y="193568"/>
                      <a:pt x="246569" y="124699"/>
                    </a:cubicBezTo>
                    <a:cubicBezTo>
                      <a:pt x="246569" y="55829"/>
                      <a:pt x="191373" y="0"/>
                      <a:pt x="123285" y="0"/>
                    </a:cubicBezTo>
                    <a:close/>
                  </a:path>
                </a:pathLst>
              </a:custGeom>
              <a:solidFill>
                <a:srgbClr val="5CC891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23116" y="-14719"/>
                <a:ext cx="200337" cy="2407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079"/>
                  </a:lnSpc>
                  <a:spcBef>
                    <a:spcPct val="0"/>
                  </a:spcBef>
                </a:pPr>
                <a:r>
                  <a:rPr lang="en-US" b="true" sz="2199" strike="noStrike" u="non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3</a:t>
                </a: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0" y="7372291"/>
            <a:ext cx="18288000" cy="868709"/>
            <a:chOff x="0" y="0"/>
            <a:chExt cx="24384000" cy="1158278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579139"/>
              <a:ext cx="24384000" cy="141901"/>
              <a:chOff x="0" y="0"/>
              <a:chExt cx="4816593" cy="2803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816592" cy="28030"/>
              </a:xfrm>
              <a:custGeom>
                <a:avLst/>
                <a:gdLst/>
                <a:ahLst/>
                <a:cxnLst/>
                <a:rect r="r" b="b" t="t" l="l"/>
                <a:pathLst>
                  <a:path h="28030" w="4816592">
                    <a:moveTo>
                      <a:pt x="14015" y="0"/>
                    </a:moveTo>
                    <a:lnTo>
                      <a:pt x="4802577" y="0"/>
                    </a:lnTo>
                    <a:cubicBezTo>
                      <a:pt x="4806295" y="0"/>
                      <a:pt x="4809859" y="1477"/>
                      <a:pt x="4812488" y="4105"/>
                    </a:cubicBezTo>
                    <a:cubicBezTo>
                      <a:pt x="4815116" y="6733"/>
                      <a:pt x="4816592" y="10298"/>
                      <a:pt x="4816592" y="14015"/>
                    </a:cubicBezTo>
                    <a:lnTo>
                      <a:pt x="4816592" y="14015"/>
                    </a:lnTo>
                    <a:cubicBezTo>
                      <a:pt x="4816592" y="21755"/>
                      <a:pt x="4810318" y="28030"/>
                      <a:pt x="4802577" y="28030"/>
                    </a:cubicBezTo>
                    <a:lnTo>
                      <a:pt x="14015" y="28030"/>
                    </a:lnTo>
                    <a:cubicBezTo>
                      <a:pt x="10298" y="28030"/>
                      <a:pt x="6733" y="26553"/>
                      <a:pt x="4105" y="23925"/>
                    </a:cubicBezTo>
                    <a:cubicBezTo>
                      <a:pt x="1477" y="21297"/>
                      <a:pt x="0" y="17732"/>
                      <a:pt x="0" y="14015"/>
                    </a:cubicBezTo>
                    <a:lnTo>
                      <a:pt x="0" y="14015"/>
                    </a:lnTo>
                    <a:cubicBezTo>
                      <a:pt x="0" y="10298"/>
                      <a:pt x="1477" y="6733"/>
                      <a:pt x="4105" y="4105"/>
                    </a:cubicBezTo>
                    <a:cubicBezTo>
                      <a:pt x="6733" y="1477"/>
                      <a:pt x="10298" y="0"/>
                      <a:pt x="14015" y="0"/>
                    </a:cubicBezTo>
                    <a:close/>
                  </a:path>
                </a:pathLst>
              </a:custGeom>
              <a:solidFill>
                <a:srgbClr val="5CC891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4816593" cy="661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11528547" y="0"/>
              <a:ext cx="1263530" cy="1158278"/>
              <a:chOff x="0" y="0"/>
              <a:chExt cx="229327" cy="210224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29327" cy="210224"/>
              </a:xfrm>
              <a:custGeom>
                <a:avLst/>
                <a:gdLst/>
                <a:ahLst/>
                <a:cxnLst/>
                <a:rect r="r" b="b" t="t" l="l"/>
                <a:pathLst>
                  <a:path h="210224" w="229327">
                    <a:moveTo>
                      <a:pt x="114664" y="0"/>
                    </a:moveTo>
                    <a:cubicBezTo>
                      <a:pt x="51337" y="0"/>
                      <a:pt x="0" y="47060"/>
                      <a:pt x="0" y="105112"/>
                    </a:cubicBezTo>
                    <a:cubicBezTo>
                      <a:pt x="0" y="163164"/>
                      <a:pt x="51337" y="210224"/>
                      <a:pt x="114664" y="210224"/>
                    </a:cubicBezTo>
                    <a:cubicBezTo>
                      <a:pt x="177990" y="210224"/>
                      <a:pt x="229327" y="163164"/>
                      <a:pt x="229327" y="105112"/>
                    </a:cubicBezTo>
                    <a:cubicBezTo>
                      <a:pt x="229327" y="47060"/>
                      <a:pt x="177990" y="0"/>
                      <a:pt x="114664" y="0"/>
                    </a:cubicBezTo>
                    <a:close/>
                  </a:path>
                </a:pathLst>
              </a:custGeom>
              <a:solidFill>
                <a:srgbClr val="5CC891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21499" y="-18391"/>
                <a:ext cx="186328" cy="2089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  <a:r>
                  <a:rPr lang="en-US" b="true" sz="2199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4</a:t>
                </a:r>
              </a:p>
            </p:txBody>
          </p:sp>
        </p:grpSp>
      </p:grpSp>
      <p:sp>
        <p:nvSpPr>
          <p:cNvPr name="AutoShape 39" id="39"/>
          <p:cNvSpPr/>
          <p:nvPr/>
        </p:nvSpPr>
        <p:spPr>
          <a:xfrm>
            <a:off x="4251997" y="732549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cover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608117" y="809625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1537319"/>
            <a:ext cx="18288000" cy="8034921"/>
          </a:xfrm>
          <a:custGeom>
            <a:avLst/>
            <a:gdLst/>
            <a:ahLst/>
            <a:cxnLst/>
            <a:rect r="r" b="b" t="t" l="l"/>
            <a:pathLst>
              <a:path h="8034921" w="18288000">
                <a:moveTo>
                  <a:pt x="0" y="0"/>
                </a:moveTo>
                <a:lnTo>
                  <a:pt x="18288000" y="0"/>
                </a:lnTo>
                <a:lnTo>
                  <a:pt x="18288000" y="8034921"/>
                </a:lnTo>
                <a:lnTo>
                  <a:pt x="0" y="8034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3000" y="514350"/>
            <a:ext cx="535891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17 </a:t>
            </a:r>
            <a:r>
              <a:rPr lang="en-US" b="true" sz="3000" strike="noStrike" u="non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Cronograma: Carta Gantt</a:t>
            </a:r>
          </a:p>
        </p:txBody>
      </p:sp>
    </p:spTree>
  </p:cSld>
  <p:clrMapOvr>
    <a:masterClrMapping/>
  </p:clrMapOvr>
  <p:transition spd="fast">
    <p:cover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642150" y="809625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626594" y="2021852"/>
            <a:ext cx="1728523" cy="483986"/>
          </a:xfrm>
          <a:custGeom>
            <a:avLst/>
            <a:gdLst/>
            <a:ahLst/>
            <a:cxnLst/>
            <a:rect r="r" b="b" t="t" l="l"/>
            <a:pathLst>
              <a:path h="483986" w="1728523">
                <a:moveTo>
                  <a:pt x="0" y="0"/>
                </a:moveTo>
                <a:lnTo>
                  <a:pt x="1728523" y="0"/>
                </a:lnTo>
                <a:lnTo>
                  <a:pt x="1728523" y="483986"/>
                </a:lnTo>
                <a:lnTo>
                  <a:pt x="0" y="48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561233" y="514350"/>
            <a:ext cx="65760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18 </a:t>
            </a:r>
            <a:r>
              <a:rPr lang="en-US" b="true" sz="3000" strike="noStrike" u="non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Conclusiones y próximos p</a:t>
            </a:r>
            <a:r>
              <a:rPr lang="en-US" b="true" sz="3000" strike="noStrike" u="non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6173" y="3345827"/>
            <a:ext cx="7225593" cy="480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Cero Fricción: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Demuestra que unificar billetera, tarjetas y agenda en una SP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reduce drásticamente el abandono del registro diario.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Certeza Financiera: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Proporciona al usuario la visibilidad de su "dinero libre real", evitando sobreendeudamientos sorpresa.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Robustez Técnica: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nueva infraestructura con subdominios separados, índices en BD e IA sienta una base sólida y escalable.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19846" y="1964702"/>
            <a:ext cx="32195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Evolucion Futura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6173" y="1964702"/>
            <a:ext cx="465849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Impacto de Kyo</a:t>
            </a:r>
            <a:r>
              <a:rPr lang="en-US" b="true" sz="3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000" b="tru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Vantage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19846" y="3345827"/>
            <a:ext cx="6471981" cy="568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Empaquetado TW</a:t>
            </a:r>
            <a:r>
              <a:rPr lang="en-US" sz="2499" b="tru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A: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Publicación nativa en Google Play Store.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Open Banking:</a:t>
            </a: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Sincronización automática con cuentas bancarias mediante lectura segura.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Kyo </a:t>
            </a:r>
            <a:r>
              <a:rPr lang="en-US" sz="2499" b="tru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Vantage Business: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Apertura de módulo para gestión de flujo de caja en pequeñas empresas y Pymes.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Internacionalización: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Adaptación multimoneda para expansión en la región.</a:t>
            </a:r>
          </a:p>
        </p:txBody>
      </p:sp>
    </p:spTree>
  </p:cSld>
  <p:clrMapOvr>
    <a:masterClrMapping/>
  </p:clrMapOvr>
  <p:transition spd="fast">
    <p:cover dir="l"/>
  </p:transition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7015" y="2439534"/>
            <a:ext cx="4762500" cy="6360956"/>
            <a:chOff x="0" y="0"/>
            <a:chExt cx="1254321" cy="1675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21" cy="1675314"/>
            </a:xfrm>
            <a:custGeom>
              <a:avLst/>
              <a:gdLst/>
              <a:ahLst/>
              <a:cxnLst/>
              <a:rect r="r" b="b" t="t" l="l"/>
              <a:pathLst>
                <a:path h="1675314" w="1254321">
                  <a:moveTo>
                    <a:pt x="40640" y="0"/>
                  </a:moveTo>
                  <a:lnTo>
                    <a:pt x="1213681" y="0"/>
                  </a:lnTo>
                  <a:cubicBezTo>
                    <a:pt x="1224459" y="0"/>
                    <a:pt x="1234796" y="4282"/>
                    <a:pt x="1242418" y="11903"/>
                  </a:cubicBezTo>
                  <a:cubicBezTo>
                    <a:pt x="1250039" y="19525"/>
                    <a:pt x="1254321" y="29862"/>
                    <a:pt x="1254321" y="40640"/>
                  </a:cubicBezTo>
                  <a:lnTo>
                    <a:pt x="1254321" y="1634674"/>
                  </a:lnTo>
                  <a:cubicBezTo>
                    <a:pt x="1254321" y="1657118"/>
                    <a:pt x="1236126" y="1675314"/>
                    <a:pt x="1213681" y="1675314"/>
                  </a:cubicBezTo>
                  <a:lnTo>
                    <a:pt x="40640" y="1675314"/>
                  </a:lnTo>
                  <a:cubicBezTo>
                    <a:pt x="18195" y="1675314"/>
                    <a:pt x="0" y="1657118"/>
                    <a:pt x="0" y="1634674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54321" cy="1722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“</a:t>
              </a:r>
              <a:r>
                <a:rPr lang="en-US" sz="2499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Kyo Vantage nos permitió fortalecer nuestras habilidades de integración y desarrollo, comprendiendo la importancia del trabajo en equipo, las pruebas constantes y la implementación de soluciones tecnológicas confiables”.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62750" y="2439534"/>
            <a:ext cx="4762500" cy="6360956"/>
            <a:chOff x="0" y="0"/>
            <a:chExt cx="1254321" cy="16753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21" cy="1675314"/>
            </a:xfrm>
            <a:custGeom>
              <a:avLst/>
              <a:gdLst/>
              <a:ahLst/>
              <a:cxnLst/>
              <a:rect r="r" b="b" t="t" l="l"/>
              <a:pathLst>
                <a:path h="1675314" w="1254321">
                  <a:moveTo>
                    <a:pt x="40640" y="0"/>
                  </a:moveTo>
                  <a:lnTo>
                    <a:pt x="1213681" y="0"/>
                  </a:lnTo>
                  <a:cubicBezTo>
                    <a:pt x="1224459" y="0"/>
                    <a:pt x="1234796" y="4282"/>
                    <a:pt x="1242418" y="11903"/>
                  </a:cubicBezTo>
                  <a:cubicBezTo>
                    <a:pt x="1250039" y="19525"/>
                    <a:pt x="1254321" y="29862"/>
                    <a:pt x="1254321" y="40640"/>
                  </a:cubicBezTo>
                  <a:lnTo>
                    <a:pt x="1254321" y="1634674"/>
                  </a:lnTo>
                  <a:cubicBezTo>
                    <a:pt x="1254321" y="1657118"/>
                    <a:pt x="1236126" y="1675314"/>
                    <a:pt x="1213681" y="1675314"/>
                  </a:cubicBezTo>
                  <a:lnTo>
                    <a:pt x="40640" y="1675314"/>
                  </a:lnTo>
                  <a:cubicBezTo>
                    <a:pt x="18195" y="1675314"/>
                    <a:pt x="0" y="1657118"/>
                    <a:pt x="0" y="1634674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54321" cy="1722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“Du</a:t>
              </a:r>
              <a:r>
                <a:rPr lang="en-US" sz="2499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rante el desarrollo de Kyo Vantage aprendí la importancia de Scrum, la documentación y las pruebas de calidad para organizar el trabajo, resolver impedimentos y asegurar el cumplimiento de los objetivos de cada Sprint”.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818485" y="2439534"/>
            <a:ext cx="4762500" cy="6360956"/>
            <a:chOff x="0" y="0"/>
            <a:chExt cx="1254321" cy="16753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321" cy="1675314"/>
            </a:xfrm>
            <a:custGeom>
              <a:avLst/>
              <a:gdLst/>
              <a:ahLst/>
              <a:cxnLst/>
              <a:rect r="r" b="b" t="t" l="l"/>
              <a:pathLst>
                <a:path h="1675314" w="1254321">
                  <a:moveTo>
                    <a:pt x="40640" y="0"/>
                  </a:moveTo>
                  <a:lnTo>
                    <a:pt x="1213681" y="0"/>
                  </a:lnTo>
                  <a:cubicBezTo>
                    <a:pt x="1224459" y="0"/>
                    <a:pt x="1234796" y="4282"/>
                    <a:pt x="1242418" y="11903"/>
                  </a:cubicBezTo>
                  <a:cubicBezTo>
                    <a:pt x="1250039" y="19525"/>
                    <a:pt x="1254321" y="29862"/>
                    <a:pt x="1254321" y="40640"/>
                  </a:cubicBezTo>
                  <a:lnTo>
                    <a:pt x="1254321" y="1634674"/>
                  </a:lnTo>
                  <a:cubicBezTo>
                    <a:pt x="1254321" y="1657118"/>
                    <a:pt x="1236126" y="1675314"/>
                    <a:pt x="1213681" y="1675314"/>
                  </a:cubicBezTo>
                  <a:lnTo>
                    <a:pt x="40640" y="1675314"/>
                  </a:lnTo>
                  <a:cubicBezTo>
                    <a:pt x="18195" y="1675314"/>
                    <a:pt x="0" y="1657118"/>
                    <a:pt x="0" y="1634674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54321" cy="1722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“</a:t>
              </a:r>
              <a:r>
                <a:rPr lang="en-US" sz="2499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Kyo Vantage nos enseñó la importancia de una arquitectura sólida, la integración de funcionalidades y la adaptación a nuevos requerimientos para desarrollar una plataforma financiera eficiente y escalable”.</a:t>
              </a:r>
            </a:p>
            <a:p>
              <a:pPr algn="just" marL="0" indent="0" lvl="0">
                <a:lnSpc>
                  <a:spcPts val="3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6109" y="514350"/>
            <a:ext cx="454697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19 </a:t>
            </a:r>
            <a:r>
              <a:rPr lang="en-US" b="true" sz="3000" strike="noStrike" u="non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Reflexión del Equipo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83265" y="2572410"/>
            <a:ext cx="38100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Angel Gomez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39000" y="2572410"/>
            <a:ext cx="38100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Bruno Seguel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94735" y="2572410"/>
            <a:ext cx="38100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Nicolas Vargas</a:t>
            </a:r>
          </a:p>
        </p:txBody>
      </p:sp>
      <p:sp>
        <p:nvSpPr>
          <p:cNvPr name="AutoShape 15" id="15"/>
          <p:cNvSpPr/>
          <p:nvPr/>
        </p:nvSpPr>
        <p:spPr>
          <a:xfrm>
            <a:off x="4743085" y="790575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cover dir="l"/>
  </p:transition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32910" y="3860799"/>
            <a:ext cx="8422180" cy="2432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MUCHAS GRACIAS POR</a:t>
            </a:r>
            <a:r>
              <a:rPr lang="en-US" b="true" sz="6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6999">
                <a:solidFill>
                  <a:srgbClr val="7C3A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 ATENCIÓN</a:t>
            </a:r>
          </a:p>
        </p:txBody>
      </p:sp>
      <p:sp>
        <p:nvSpPr>
          <p:cNvPr name="AutoShape 3" id="3"/>
          <p:cNvSpPr/>
          <p:nvPr/>
        </p:nvSpPr>
        <p:spPr>
          <a:xfrm>
            <a:off x="-3505549" y="1102122"/>
            <a:ext cx="18098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88983" y="8881904"/>
            <a:ext cx="18600231" cy="669926"/>
            <a:chOff x="0" y="0"/>
            <a:chExt cx="24800308" cy="893234"/>
          </a:xfrm>
        </p:grpSpPr>
        <p:sp>
          <p:nvSpPr>
            <p:cNvPr name="AutoShape 5" id="5"/>
            <p:cNvSpPr/>
            <p:nvPr/>
          </p:nvSpPr>
          <p:spPr>
            <a:xfrm>
              <a:off x="19" y="843028"/>
              <a:ext cx="24800270" cy="37506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3653861" y="-47625"/>
              <a:ext cx="8811617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Integrantes: Ángel Gómez, Bruno Seguel, Nicolas Vargas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3492062" y="-47625"/>
              <a:ext cx="5120878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Docente: Mauricio C. Figueroa C.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9641640" y="-47625"/>
              <a:ext cx="2408436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Capstone 003D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894177" y="354157"/>
            <a:ext cx="3170523" cy="1495930"/>
            <a:chOff x="0" y="0"/>
            <a:chExt cx="4227363" cy="199457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670574" y="-180975"/>
              <a:ext cx="2886215" cy="14295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02"/>
                </a:lnSpc>
              </a:pPr>
              <a:r>
                <a:rPr lang="en-US" b="true" sz="6144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KYO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72416"/>
              <a:ext cx="4227363" cy="822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40"/>
                </a:lnSpc>
              </a:pPr>
              <a:r>
                <a:rPr lang="en-US" b="true" sz="3671" spc="642">
                  <a:solidFill>
                    <a:srgbClr val="8B5CF6"/>
                  </a:solidFill>
                  <a:latin typeface="Muli Bold"/>
                  <a:ea typeface="Muli Bold"/>
                  <a:cs typeface="Muli Bold"/>
                  <a:sym typeface="Muli Bold"/>
                </a:rPr>
                <a:t>VANTAGE</a:t>
              </a:r>
            </a:p>
          </p:txBody>
        </p:sp>
      </p:grpSp>
    </p:spTree>
  </p:cSld>
  <p:clrMapOvr>
    <a:masterClrMapping/>
  </p:clrMapOvr>
  <p:transition spd="fast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DAHSxGAaldU</dc:identifier>
  <dcterms:modified xsi:type="dcterms:W3CDTF">2011-08-01T06:04:30Z</dcterms:modified>
  <cp:revision>1</cp:revision>
  <dc:title>Presentación Kyo Vantage</dc:title>
</cp:coreProperties>
</file>